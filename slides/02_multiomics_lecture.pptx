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0d080a095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0d080a095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0d080a095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90d080a095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0d080a095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0d080a095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0d080a095_1_3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390d080a095_1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a18ea7343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fa18ea734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0d080a095_1_4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90d080a095_1_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0d080a095_1_6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90d080a095_1_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0d080a095_1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0d080a095_1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0d080a095_1_7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90d080a095_1_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0d080a095_1_9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90d080a095_1_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0d080a095_1_10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90d080a095_1_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90d080a095_1_14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90d080a095_1_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90d080a095_1_14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90d080a095_1_1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90d080a095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90d080a095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a18ea7343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fa18ea734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90d080a095_1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90d080a095_1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90d080a095_1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90d080a095_1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90d080a095_1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90d080a095_1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90d080a095_1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90d080a095_1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90d080a095_1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90d080a095_1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90d080a095_1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90d080a095_1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90d080a095_1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90d080a095_1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0d85f33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90d85f33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4">
    <p:spTree>
      <p:nvGrpSpPr>
        <p:cNvPr id="50" name="Shape 50"/>
        <p:cNvGrpSpPr/>
        <p:nvPr/>
      </p:nvGrpSpPr>
      <p:grpSpPr>
        <a:xfrm>
          <a:off x="0" y="0"/>
          <a:ext cx="0" cy="0"/>
          <a:chOff x="0" y="0"/>
          <a:chExt cx="0" cy="0"/>
        </a:xfrm>
      </p:grpSpPr>
      <p:sp>
        <p:nvSpPr>
          <p:cNvPr id="51" name="Google Shape;51;p13"/>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000000"/>
              </a:buClr>
              <a:buSzPts val="3200"/>
              <a:buFont typeface="Helvetica Neue"/>
              <a:buNone/>
              <a:defRPr>
                <a:solidFill>
                  <a:srgbClr val="000000"/>
                </a:solidFill>
              </a:defRPr>
            </a:lvl1pPr>
            <a:lvl2pPr lvl="1" algn="l">
              <a:lnSpc>
                <a:spcPct val="80000"/>
              </a:lnSpc>
              <a:spcBef>
                <a:spcPts val="0"/>
              </a:spcBef>
              <a:spcAft>
                <a:spcPts val="0"/>
              </a:spcAft>
              <a:buClr>
                <a:srgbClr val="5E5E5E"/>
              </a:buClr>
              <a:buSzPts val="700"/>
              <a:buNone/>
              <a:defRPr/>
            </a:lvl2pPr>
            <a:lvl3pPr lvl="2" algn="l">
              <a:lnSpc>
                <a:spcPct val="80000"/>
              </a:lnSpc>
              <a:spcBef>
                <a:spcPts val="0"/>
              </a:spcBef>
              <a:spcAft>
                <a:spcPts val="0"/>
              </a:spcAft>
              <a:buClr>
                <a:srgbClr val="5E5E5E"/>
              </a:buClr>
              <a:buSzPts val="700"/>
              <a:buNone/>
              <a:defRPr/>
            </a:lvl3pPr>
            <a:lvl4pPr lvl="3" algn="l">
              <a:lnSpc>
                <a:spcPct val="80000"/>
              </a:lnSpc>
              <a:spcBef>
                <a:spcPts val="0"/>
              </a:spcBef>
              <a:spcAft>
                <a:spcPts val="0"/>
              </a:spcAft>
              <a:buClr>
                <a:srgbClr val="5E5E5E"/>
              </a:buClr>
              <a:buSzPts val="700"/>
              <a:buNone/>
              <a:defRPr/>
            </a:lvl4pPr>
            <a:lvl5pPr lvl="4" algn="l">
              <a:lnSpc>
                <a:spcPct val="80000"/>
              </a:lnSpc>
              <a:spcBef>
                <a:spcPts val="0"/>
              </a:spcBef>
              <a:spcAft>
                <a:spcPts val="0"/>
              </a:spcAft>
              <a:buClr>
                <a:srgbClr val="5E5E5E"/>
              </a:buClr>
              <a:buSzPts val="700"/>
              <a:buNone/>
              <a:defRPr/>
            </a:lvl5pPr>
            <a:lvl6pPr lvl="5" algn="l">
              <a:lnSpc>
                <a:spcPct val="80000"/>
              </a:lnSpc>
              <a:spcBef>
                <a:spcPts val="0"/>
              </a:spcBef>
              <a:spcAft>
                <a:spcPts val="0"/>
              </a:spcAft>
              <a:buClr>
                <a:srgbClr val="5E5E5E"/>
              </a:buClr>
              <a:buSzPts val="700"/>
              <a:buNone/>
              <a:defRPr/>
            </a:lvl6pPr>
            <a:lvl7pPr lvl="6" algn="l">
              <a:lnSpc>
                <a:spcPct val="80000"/>
              </a:lnSpc>
              <a:spcBef>
                <a:spcPts val="0"/>
              </a:spcBef>
              <a:spcAft>
                <a:spcPts val="0"/>
              </a:spcAft>
              <a:buClr>
                <a:srgbClr val="5E5E5E"/>
              </a:buClr>
              <a:buSzPts val="700"/>
              <a:buNone/>
              <a:defRPr/>
            </a:lvl7pPr>
            <a:lvl8pPr lvl="7" algn="l">
              <a:lnSpc>
                <a:spcPct val="80000"/>
              </a:lnSpc>
              <a:spcBef>
                <a:spcPts val="0"/>
              </a:spcBef>
              <a:spcAft>
                <a:spcPts val="0"/>
              </a:spcAft>
              <a:buClr>
                <a:srgbClr val="5E5E5E"/>
              </a:buClr>
              <a:buSzPts val="700"/>
              <a:buNone/>
              <a:defRPr/>
            </a:lvl8pPr>
            <a:lvl9pPr lvl="8" algn="l">
              <a:lnSpc>
                <a:spcPct val="80000"/>
              </a:lnSpc>
              <a:spcBef>
                <a:spcPts val="0"/>
              </a:spcBef>
              <a:spcAft>
                <a:spcPts val="0"/>
              </a:spcAft>
              <a:buClr>
                <a:srgbClr val="5E5E5E"/>
              </a:buClr>
              <a:buSzPts val="700"/>
              <a:buNone/>
              <a:defRPr/>
            </a:lvl9pPr>
          </a:lstStyle>
          <a:p/>
        </p:txBody>
      </p:sp>
      <p:sp>
        <p:nvSpPr>
          <p:cNvPr id="52" name="Google Shape;52;p13"/>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929292"/>
              </a:buClr>
              <a:buSzPts val="2100"/>
              <a:buFont typeface="Helvetica Neue"/>
              <a:buNone/>
              <a:defRPr b="1" sz="2100">
                <a:solidFill>
                  <a:srgbClr val="929292"/>
                </a:solidFill>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53" name="Google Shape;53;p13"/>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algn="l">
              <a:lnSpc>
                <a:spcPct val="90000"/>
              </a:lnSpc>
              <a:spcBef>
                <a:spcPts val="1700"/>
              </a:spcBef>
              <a:spcAft>
                <a:spcPts val="0"/>
              </a:spcAft>
              <a:buClr>
                <a:srgbClr val="000000"/>
              </a:buClr>
              <a:buSzPts val="800"/>
              <a:buChar char="●"/>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54" name="Google Shape;54;p13"/>
          <p:cNvSpPr txBox="1"/>
          <p:nvPr>
            <p:ph idx="12" type="sldNum"/>
          </p:nvPr>
        </p:nvSpPr>
        <p:spPr>
          <a:xfrm>
            <a:off x="4500562" y="4905375"/>
            <a:ext cx="138300" cy="146100"/>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lvl1pPr>
            <a:lvl2pPr indent="0" lvl="1" marL="0" algn="ctr">
              <a:lnSpc>
                <a:spcPct val="100000"/>
              </a:lnSpc>
              <a:spcBef>
                <a:spcPts val="0"/>
              </a:spcBef>
              <a:spcAft>
                <a:spcPts val="0"/>
              </a:spcAft>
              <a:buClr>
                <a:srgbClr val="000000"/>
              </a:buClr>
              <a:buSzPts val="700"/>
              <a:buFont typeface="Helvetica Neue"/>
              <a:buNone/>
              <a:defRPr sz="700"/>
            </a:lvl2pPr>
            <a:lvl3pPr indent="0" lvl="2" marL="0" algn="ctr">
              <a:lnSpc>
                <a:spcPct val="100000"/>
              </a:lnSpc>
              <a:spcBef>
                <a:spcPts val="0"/>
              </a:spcBef>
              <a:spcAft>
                <a:spcPts val="0"/>
              </a:spcAft>
              <a:buClr>
                <a:srgbClr val="000000"/>
              </a:buClr>
              <a:buSzPts val="700"/>
              <a:buFont typeface="Helvetica Neue"/>
              <a:buNone/>
              <a:defRPr sz="700"/>
            </a:lvl3pPr>
            <a:lvl4pPr indent="0" lvl="3" marL="0" algn="ctr">
              <a:lnSpc>
                <a:spcPct val="100000"/>
              </a:lnSpc>
              <a:spcBef>
                <a:spcPts val="0"/>
              </a:spcBef>
              <a:spcAft>
                <a:spcPts val="0"/>
              </a:spcAft>
              <a:buClr>
                <a:srgbClr val="000000"/>
              </a:buClr>
              <a:buSzPts val="700"/>
              <a:buFont typeface="Helvetica Neue"/>
              <a:buNone/>
              <a:defRPr sz="700"/>
            </a:lvl4pPr>
            <a:lvl5pPr indent="0" lvl="4" marL="0" algn="ctr">
              <a:lnSpc>
                <a:spcPct val="100000"/>
              </a:lnSpc>
              <a:spcBef>
                <a:spcPts val="0"/>
              </a:spcBef>
              <a:spcAft>
                <a:spcPts val="0"/>
              </a:spcAft>
              <a:buClr>
                <a:srgbClr val="000000"/>
              </a:buClr>
              <a:buSzPts val="700"/>
              <a:buFont typeface="Helvetica Neue"/>
              <a:buNone/>
              <a:defRPr sz="700"/>
            </a:lvl5pPr>
            <a:lvl6pPr indent="0" lvl="5" marL="0" algn="ctr">
              <a:lnSpc>
                <a:spcPct val="100000"/>
              </a:lnSpc>
              <a:spcBef>
                <a:spcPts val="0"/>
              </a:spcBef>
              <a:spcAft>
                <a:spcPts val="0"/>
              </a:spcAft>
              <a:buClr>
                <a:srgbClr val="000000"/>
              </a:buClr>
              <a:buSzPts val="700"/>
              <a:buFont typeface="Helvetica Neue"/>
              <a:buNone/>
              <a:defRPr sz="700"/>
            </a:lvl6pPr>
            <a:lvl7pPr indent="0" lvl="6" marL="0" algn="ctr">
              <a:lnSpc>
                <a:spcPct val="100000"/>
              </a:lnSpc>
              <a:spcBef>
                <a:spcPts val="0"/>
              </a:spcBef>
              <a:spcAft>
                <a:spcPts val="0"/>
              </a:spcAft>
              <a:buClr>
                <a:srgbClr val="000000"/>
              </a:buClr>
              <a:buSzPts val="700"/>
              <a:buFont typeface="Helvetica Neue"/>
              <a:buNone/>
              <a:defRPr sz="700"/>
            </a:lvl7pPr>
            <a:lvl8pPr indent="0" lvl="7" marL="0" algn="ctr">
              <a:lnSpc>
                <a:spcPct val="100000"/>
              </a:lnSpc>
              <a:spcBef>
                <a:spcPts val="0"/>
              </a:spcBef>
              <a:spcAft>
                <a:spcPts val="0"/>
              </a:spcAft>
              <a:buClr>
                <a:srgbClr val="000000"/>
              </a:buClr>
              <a:buSzPts val="700"/>
              <a:buFont typeface="Helvetica Neue"/>
              <a:buNone/>
              <a:defRPr sz="700"/>
            </a:lvl8pPr>
            <a:lvl9pPr indent="0" lvl="8" marL="0" algn="ctr">
              <a:lnSpc>
                <a:spcPct val="100000"/>
              </a:lnSpc>
              <a:spcBef>
                <a:spcPts val="0"/>
              </a:spcBef>
              <a:spcAft>
                <a:spcPts val="0"/>
              </a:spcAft>
              <a:buClr>
                <a:srgbClr val="000000"/>
              </a:buClr>
              <a:buSzPts val="700"/>
              <a:buFont typeface="Helvetica Neue"/>
              <a:buNone/>
              <a:defRPr sz="700"/>
            </a:lvl9pPr>
          </a:lstStyle>
          <a:p>
            <a:pPr indent="0" lvl="0" marL="0" rtl="0" algn="ctr">
              <a:spcBef>
                <a:spcPts val="0"/>
              </a:spcBef>
              <a:spcAft>
                <a:spcPts val="0"/>
              </a:spcAft>
              <a:buNone/>
            </a:pPr>
            <a:fld id="{00000000-1234-1234-1234-123412341234}" type="slidenum">
              <a:rPr lang="es"/>
              <a:t>‹#›</a:t>
            </a:fld>
            <a:endParaRPr sz="100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1.jpg"/><Relationship Id="rId5"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8.png"/><Relationship Id="rId4" Type="http://schemas.openxmlformats.org/officeDocument/2006/relationships/image" Target="../media/image10.png"/><Relationship Id="rId5"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9.png"/><Relationship Id="rId4" Type="http://schemas.openxmlformats.org/officeDocument/2006/relationships/image" Target="../media/image20.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6.png"/><Relationship Id="rId5" Type="http://schemas.openxmlformats.org/officeDocument/2006/relationships/image" Target="../media/image29.png"/><Relationship Id="rId6"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nature.com/articles/nmeth.2810" TargetMode="Externa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embopress.org/doi/full/10.15252/msb.20178124" TargetMode="External"/><Relationship Id="rId4" Type="http://schemas.openxmlformats.org/officeDocument/2006/relationships/image" Target="../media/image17.png"/><Relationship Id="rId5"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bmcbioinformatics.biomedcentral.com/articles/10.1186/1471-2105-9-559" TargetMode="Externa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pubmed.ncbi.nlm.nih.gov/30657866/" TargetMode="External"/><Relationship Id="rId4" Type="http://schemas.openxmlformats.org/officeDocument/2006/relationships/hyperlink" Target="https://journals.plos.org/plosone/article?id=10.1371/journal.pone.0035236" TargetMode="External"/><Relationship Id="rId5" Type="http://schemas.openxmlformats.org/officeDocument/2006/relationships/hyperlink" Target="https://www.nature.com/articles/s41587-022-01520-x"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s"/>
              <a:t>Multi-omics</a:t>
            </a:r>
            <a:endParaRPr b="1"/>
          </a:p>
        </p:txBody>
      </p:sp>
      <p:sp>
        <p:nvSpPr>
          <p:cNvPr id="60" name="Google Shape;60;p14"/>
          <p:cNvSpPr txBox="1"/>
          <p:nvPr/>
        </p:nvSpPr>
        <p:spPr>
          <a:xfrm>
            <a:off x="450503" y="4447448"/>
            <a:ext cx="8239200" cy="238800"/>
          </a:xfrm>
          <a:prstGeom prst="rect">
            <a:avLst/>
          </a:prstGeom>
          <a:noFill/>
          <a:ln>
            <a:noFill/>
          </a:ln>
        </p:spPr>
        <p:txBody>
          <a:bodyPr anchorCtr="0" anchor="t" bIns="17150" lIns="17150" spcFirstLastPara="1" rIns="17150" wrap="square" tIns="17150">
            <a:normAutofit lnSpcReduction="10000"/>
          </a:bodyPr>
          <a:lstStyle/>
          <a:p>
            <a:pPr indent="0" lvl="0" marL="0" rtl="0" algn="l">
              <a:spcBef>
                <a:spcPts val="0"/>
              </a:spcBef>
              <a:spcAft>
                <a:spcPts val="0"/>
              </a:spcAft>
              <a:buNone/>
            </a:pPr>
            <a:r>
              <a:rPr b="1" lang="es">
                <a:solidFill>
                  <a:srgbClr val="595959"/>
                </a:solidFill>
              </a:rPr>
              <a:t>Alberto Santos &amp; Yesid Cuesta-Astroz</a:t>
            </a:r>
            <a:endParaRPr b="1">
              <a:solidFill>
                <a:srgbClr val="595959"/>
              </a:solidFill>
            </a:endParaRPr>
          </a:p>
        </p:txBody>
      </p:sp>
      <p:pic>
        <p:nvPicPr>
          <p:cNvPr descr="pasted-movie.png" id="61" name="Google Shape;61;p14"/>
          <p:cNvPicPr preferRelativeResize="0"/>
          <p:nvPr/>
        </p:nvPicPr>
        <p:blipFill rotWithShape="1">
          <a:blip r:embed="rId3">
            <a:alphaModFix/>
          </a:blip>
          <a:srcRect b="0" l="0" r="0" t="0"/>
          <a:stretch/>
        </p:blipFill>
        <p:spPr>
          <a:xfrm>
            <a:off x="4869700" y="3604050"/>
            <a:ext cx="1085975" cy="1344050"/>
          </a:xfrm>
          <a:prstGeom prst="rect">
            <a:avLst/>
          </a:prstGeom>
          <a:noFill/>
          <a:ln>
            <a:noFill/>
          </a:ln>
        </p:spPr>
      </p:pic>
      <p:pic>
        <p:nvPicPr>
          <p:cNvPr id="62" name="Google Shape;62;p14"/>
          <p:cNvPicPr preferRelativeResize="0"/>
          <p:nvPr/>
        </p:nvPicPr>
        <p:blipFill>
          <a:blip r:embed="rId4">
            <a:alphaModFix/>
          </a:blip>
          <a:stretch>
            <a:fillRect/>
          </a:stretch>
        </p:blipFill>
        <p:spPr>
          <a:xfrm>
            <a:off x="5967840" y="4691876"/>
            <a:ext cx="3078375" cy="433142"/>
          </a:xfrm>
          <a:prstGeom prst="rect">
            <a:avLst/>
          </a:prstGeom>
          <a:noFill/>
          <a:ln>
            <a:noFill/>
          </a:ln>
        </p:spPr>
      </p:pic>
      <p:pic>
        <p:nvPicPr>
          <p:cNvPr id="63" name="Google Shape;63;p14"/>
          <p:cNvPicPr preferRelativeResize="0"/>
          <p:nvPr/>
        </p:nvPicPr>
        <p:blipFill rotWithShape="1">
          <a:blip r:embed="rId5">
            <a:alphaModFix/>
          </a:blip>
          <a:srcRect b="0" l="0" r="66067" t="0"/>
          <a:stretch/>
        </p:blipFill>
        <p:spPr>
          <a:xfrm>
            <a:off x="6065625" y="3660650"/>
            <a:ext cx="635026" cy="9683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Multi-omics</a:t>
            </a:r>
            <a:endParaRPr b="1"/>
          </a:p>
        </p:txBody>
      </p:sp>
      <p:sp>
        <p:nvSpPr>
          <p:cNvPr id="69" name="Google Shape;69;p15"/>
          <p:cNvSpPr txBox="1"/>
          <p:nvPr>
            <p:ph idx="1" type="body"/>
          </p:nvPr>
        </p:nvSpPr>
        <p:spPr>
          <a:xfrm>
            <a:off x="311700" y="1152475"/>
            <a:ext cx="47952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t>Multi-omics integration refers to the </a:t>
            </a:r>
            <a:r>
              <a:rPr b="1" lang="es"/>
              <a:t>computational methods</a:t>
            </a:r>
            <a:r>
              <a:rPr lang="es"/>
              <a:t> used to </a:t>
            </a:r>
            <a:r>
              <a:rPr b="1" lang="es"/>
              <a:t>combine and analyze</a:t>
            </a:r>
            <a:r>
              <a:rPr lang="es"/>
              <a:t> data from </a:t>
            </a:r>
            <a:r>
              <a:rPr b="1" lang="es"/>
              <a:t>two or more different 'omic' layers</a:t>
            </a:r>
            <a:r>
              <a:rPr lang="es"/>
              <a:t> (e.g., genomics, transcriptomics, proteomics, metabolomics).</a:t>
            </a:r>
            <a:endParaRPr/>
          </a:p>
          <a:p>
            <a:pPr indent="0" lvl="0" marL="0" rtl="0" algn="l">
              <a:spcBef>
                <a:spcPts val="1200"/>
              </a:spcBef>
              <a:spcAft>
                <a:spcPts val="0"/>
              </a:spcAft>
              <a:buNone/>
            </a:pPr>
            <a:r>
              <a:rPr lang="es"/>
              <a:t>The goal is to gain a </a:t>
            </a:r>
            <a:r>
              <a:rPr b="1" lang="es"/>
              <a:t>comprehensive</a:t>
            </a:r>
            <a:r>
              <a:rPr lang="es"/>
              <a:t>, </a:t>
            </a:r>
            <a:r>
              <a:rPr b="1" lang="es"/>
              <a:t>systems-level understanding</a:t>
            </a:r>
            <a:r>
              <a:rPr lang="es"/>
              <a:t> of a biological process or disease.</a:t>
            </a:r>
            <a:endParaRPr/>
          </a:p>
          <a:p>
            <a:pPr indent="0" lvl="0" marL="0" rtl="0" algn="l">
              <a:spcBef>
                <a:spcPts val="1200"/>
              </a:spcBef>
              <a:spcAft>
                <a:spcPts val="1200"/>
              </a:spcAft>
              <a:buNone/>
            </a:pPr>
            <a:r>
              <a:rPr lang="es"/>
              <a:t>It helps uncover the </a:t>
            </a:r>
            <a:r>
              <a:rPr b="1" lang="es"/>
              <a:t>complex interactions</a:t>
            </a:r>
            <a:r>
              <a:rPr lang="es"/>
              <a:t> and </a:t>
            </a:r>
            <a:r>
              <a:rPr b="1" lang="es"/>
              <a:t>information flow</a:t>
            </a:r>
            <a:r>
              <a:rPr lang="es"/>
              <a:t> from </a:t>
            </a:r>
            <a:r>
              <a:rPr b="1" lang="es"/>
              <a:t>one layer to the phenotype</a:t>
            </a:r>
            <a:r>
              <a:rPr lang="es"/>
              <a:t>.</a:t>
            </a:r>
            <a:endParaRPr/>
          </a:p>
        </p:txBody>
      </p:sp>
      <p:pic>
        <p:nvPicPr>
          <p:cNvPr id="70" name="Google Shape;70;p15"/>
          <p:cNvPicPr preferRelativeResize="0"/>
          <p:nvPr/>
        </p:nvPicPr>
        <p:blipFill>
          <a:blip r:embed="rId3">
            <a:alphaModFix/>
          </a:blip>
          <a:stretch>
            <a:fillRect/>
          </a:stretch>
        </p:blipFill>
        <p:spPr>
          <a:xfrm>
            <a:off x="5107025" y="1650675"/>
            <a:ext cx="3884575" cy="27275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Why is Multi-Omics Integration Key?</a:t>
            </a:r>
            <a:endParaRPr b="1"/>
          </a:p>
        </p:txBody>
      </p:sp>
      <p:sp>
        <p:nvSpPr>
          <p:cNvPr id="76" name="Google Shape;76;p16"/>
          <p:cNvSpPr txBox="1"/>
          <p:nvPr/>
        </p:nvSpPr>
        <p:spPr>
          <a:xfrm>
            <a:off x="412538" y="1985225"/>
            <a:ext cx="2520300" cy="2430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s" sz="1800">
                <a:solidFill>
                  <a:schemeClr val="accent1"/>
                </a:solidFill>
                <a:latin typeface="Merriweather"/>
                <a:ea typeface="Merriweather"/>
                <a:cs typeface="Merriweather"/>
                <a:sym typeface="Merriweather"/>
              </a:rPr>
              <a:t>Discover Mechanisms</a:t>
            </a:r>
            <a:endParaRPr b="1" sz="1800">
              <a:solidFill>
                <a:schemeClr val="accent1"/>
              </a:solidFill>
              <a:latin typeface="Merriweather"/>
              <a:ea typeface="Merriweather"/>
              <a:cs typeface="Merriweather"/>
              <a:sym typeface="Merriweather"/>
            </a:endParaRPr>
          </a:p>
          <a:p>
            <a:pPr indent="0" lvl="0" marL="0" rtl="0" algn="ctr">
              <a:lnSpc>
                <a:spcPct val="150000"/>
              </a:lnSpc>
              <a:spcBef>
                <a:spcPts val="1400"/>
              </a:spcBef>
              <a:spcAft>
                <a:spcPts val="0"/>
              </a:spcAft>
              <a:buClr>
                <a:schemeClr val="dk1"/>
              </a:buClr>
              <a:buSzPts val="1100"/>
              <a:buFont typeface="Arial"/>
              <a:buNone/>
            </a:pPr>
            <a:r>
              <a:rPr lang="es" sz="1350">
                <a:solidFill>
                  <a:srgbClr val="1E293B"/>
                </a:solidFill>
              </a:rPr>
              <a:t>Uncover </a:t>
            </a:r>
            <a:r>
              <a:rPr b="1" lang="es" sz="1350">
                <a:solidFill>
                  <a:srgbClr val="1E293B"/>
                </a:solidFill>
              </a:rPr>
              <a:t>complex</a:t>
            </a:r>
            <a:r>
              <a:rPr lang="es" sz="1350">
                <a:solidFill>
                  <a:srgbClr val="1E293B"/>
                </a:solidFill>
              </a:rPr>
              <a:t> </a:t>
            </a:r>
            <a:r>
              <a:rPr b="1" lang="es" sz="1350">
                <a:solidFill>
                  <a:srgbClr val="1E293B"/>
                </a:solidFill>
              </a:rPr>
              <a:t>molecular pathways</a:t>
            </a:r>
            <a:r>
              <a:rPr lang="es" sz="1350">
                <a:solidFill>
                  <a:srgbClr val="1E293B"/>
                </a:solidFill>
              </a:rPr>
              <a:t> and </a:t>
            </a:r>
            <a:r>
              <a:rPr b="1" lang="es" sz="1350">
                <a:solidFill>
                  <a:srgbClr val="1E293B"/>
                </a:solidFill>
              </a:rPr>
              <a:t>regulatory networks</a:t>
            </a:r>
            <a:r>
              <a:rPr lang="es" sz="1350">
                <a:solidFill>
                  <a:srgbClr val="1E293B"/>
                </a:solidFill>
              </a:rPr>
              <a:t> that are hidden to single-omic analysis.</a:t>
            </a:r>
            <a:endParaRPr sz="1350">
              <a:solidFill>
                <a:srgbClr val="1E293B"/>
              </a:solidFill>
            </a:endParaRPr>
          </a:p>
          <a:p>
            <a:pPr indent="0" lvl="0" marL="0" rtl="0" algn="l">
              <a:spcBef>
                <a:spcPts val="1400"/>
              </a:spcBef>
              <a:spcAft>
                <a:spcPts val="0"/>
              </a:spcAft>
              <a:buNone/>
            </a:pPr>
            <a:r>
              <a:t/>
            </a:r>
            <a:endParaRPr sz="1800">
              <a:solidFill>
                <a:schemeClr val="dk2"/>
              </a:solidFill>
            </a:endParaRPr>
          </a:p>
        </p:txBody>
      </p:sp>
      <p:sp>
        <p:nvSpPr>
          <p:cNvPr id="77" name="Google Shape;77;p16"/>
          <p:cNvSpPr txBox="1"/>
          <p:nvPr/>
        </p:nvSpPr>
        <p:spPr>
          <a:xfrm>
            <a:off x="3278388" y="1985225"/>
            <a:ext cx="2520300" cy="2430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s" sz="1800">
                <a:solidFill>
                  <a:schemeClr val="accent1"/>
                </a:solidFill>
                <a:latin typeface="Merriweather"/>
                <a:ea typeface="Merriweather"/>
                <a:cs typeface="Merriweather"/>
                <a:sym typeface="Merriweather"/>
              </a:rPr>
              <a:t>Refine Phenotypic Subtypes</a:t>
            </a:r>
            <a:endParaRPr b="1" sz="1800">
              <a:solidFill>
                <a:schemeClr val="accent1"/>
              </a:solidFill>
              <a:latin typeface="Merriweather"/>
              <a:ea typeface="Merriweather"/>
              <a:cs typeface="Merriweather"/>
              <a:sym typeface="Merriweather"/>
            </a:endParaRPr>
          </a:p>
          <a:p>
            <a:pPr indent="0" lvl="0" marL="0" rtl="0" algn="ctr">
              <a:lnSpc>
                <a:spcPct val="150000"/>
              </a:lnSpc>
              <a:spcBef>
                <a:spcPts val="1400"/>
              </a:spcBef>
              <a:spcAft>
                <a:spcPts val="0"/>
              </a:spcAft>
              <a:buClr>
                <a:schemeClr val="dk1"/>
              </a:buClr>
              <a:buSzPts val="1100"/>
              <a:buFont typeface="Arial"/>
              <a:buNone/>
            </a:pPr>
            <a:r>
              <a:rPr lang="es" sz="1350">
                <a:solidFill>
                  <a:srgbClr val="1E293B"/>
                </a:solidFill>
              </a:rPr>
              <a:t>Identify </a:t>
            </a:r>
            <a:r>
              <a:rPr b="1" lang="es" sz="1350">
                <a:solidFill>
                  <a:srgbClr val="1E293B"/>
                </a:solidFill>
              </a:rPr>
              <a:t>new, more precise subgroups</a:t>
            </a:r>
            <a:r>
              <a:rPr lang="es" sz="1350">
                <a:solidFill>
                  <a:srgbClr val="1E293B"/>
                </a:solidFill>
              </a:rPr>
              <a:t> based on their complete molecular profile, leading to more accurate analyses.</a:t>
            </a:r>
            <a:endParaRPr sz="1350">
              <a:solidFill>
                <a:srgbClr val="1E293B"/>
              </a:solidFill>
            </a:endParaRPr>
          </a:p>
          <a:p>
            <a:pPr indent="0" lvl="0" marL="0" rtl="0" algn="l">
              <a:spcBef>
                <a:spcPts val="1400"/>
              </a:spcBef>
              <a:spcAft>
                <a:spcPts val="0"/>
              </a:spcAft>
              <a:buNone/>
            </a:pPr>
            <a:r>
              <a:t/>
            </a:r>
            <a:endParaRPr sz="1800">
              <a:solidFill>
                <a:schemeClr val="dk2"/>
              </a:solidFill>
            </a:endParaRPr>
          </a:p>
        </p:txBody>
      </p:sp>
      <p:sp>
        <p:nvSpPr>
          <p:cNvPr id="78" name="Google Shape;78;p16"/>
          <p:cNvSpPr txBox="1"/>
          <p:nvPr/>
        </p:nvSpPr>
        <p:spPr>
          <a:xfrm>
            <a:off x="6211163" y="1985225"/>
            <a:ext cx="2520300" cy="2430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s" sz="1800">
                <a:solidFill>
                  <a:schemeClr val="accent1"/>
                </a:solidFill>
                <a:latin typeface="Merriweather"/>
                <a:ea typeface="Merriweather"/>
                <a:cs typeface="Merriweather"/>
                <a:sym typeface="Merriweather"/>
              </a:rPr>
              <a:t>Find Better Biomarkers</a:t>
            </a:r>
            <a:endParaRPr b="1" sz="1800">
              <a:solidFill>
                <a:schemeClr val="accent1"/>
              </a:solidFill>
              <a:latin typeface="Merriweather"/>
              <a:ea typeface="Merriweather"/>
              <a:cs typeface="Merriweather"/>
              <a:sym typeface="Merriweather"/>
            </a:endParaRPr>
          </a:p>
          <a:p>
            <a:pPr indent="0" lvl="0" marL="0" rtl="0" algn="ctr">
              <a:lnSpc>
                <a:spcPct val="150000"/>
              </a:lnSpc>
              <a:spcBef>
                <a:spcPts val="1400"/>
              </a:spcBef>
              <a:spcAft>
                <a:spcPts val="1400"/>
              </a:spcAft>
              <a:buNone/>
            </a:pPr>
            <a:r>
              <a:rPr lang="es" sz="1350">
                <a:solidFill>
                  <a:srgbClr val="1E293B"/>
                </a:solidFill>
              </a:rPr>
              <a:t>Discover robust biomarkers for disease diagnosis, prognosis, and prediction of treatment response.</a:t>
            </a:r>
            <a:endParaRPr sz="1800">
              <a:solidFill>
                <a:schemeClr val="dk2"/>
              </a:solidFill>
            </a:endParaRPr>
          </a:p>
        </p:txBody>
      </p:sp>
      <p:pic>
        <p:nvPicPr>
          <p:cNvPr descr="Rotating gears line icon, technology concept, Cogwheel gear mechanism sign on white background, two gear wheels icon in outline style for mobile concept and web design. Vector graphics. (Provided by Getty Images)" id="79" name="Google Shape;79;p16"/>
          <p:cNvPicPr preferRelativeResize="0"/>
          <p:nvPr/>
        </p:nvPicPr>
        <p:blipFill>
          <a:blip r:embed="rId3">
            <a:alphaModFix/>
          </a:blip>
          <a:stretch>
            <a:fillRect/>
          </a:stretch>
        </p:blipFill>
        <p:spPr>
          <a:xfrm>
            <a:off x="1300765" y="1234469"/>
            <a:ext cx="743849" cy="743849"/>
          </a:xfrm>
          <a:prstGeom prst="rect">
            <a:avLst/>
          </a:prstGeom>
          <a:noFill/>
          <a:ln>
            <a:noFill/>
          </a:ln>
        </p:spPr>
      </p:pic>
      <p:pic>
        <p:nvPicPr>
          <p:cNvPr descr="Pencil choice icon vector. Isolated contour symbol illustration (Provided by Getty Images)" id="80" name="Google Shape;80;p16"/>
          <p:cNvPicPr preferRelativeResize="0"/>
          <p:nvPr/>
        </p:nvPicPr>
        <p:blipFill>
          <a:blip r:embed="rId4">
            <a:alphaModFix/>
          </a:blip>
          <a:stretch>
            <a:fillRect/>
          </a:stretch>
        </p:blipFill>
        <p:spPr>
          <a:xfrm>
            <a:off x="4166613" y="1234475"/>
            <a:ext cx="743849" cy="743849"/>
          </a:xfrm>
          <a:prstGeom prst="rect">
            <a:avLst/>
          </a:prstGeom>
          <a:noFill/>
          <a:ln>
            <a:noFill/>
          </a:ln>
        </p:spPr>
      </p:pic>
      <p:pic>
        <p:nvPicPr>
          <p:cNvPr descr="Continuous one line drawing light bulb symbol idea and creativity isolated on white background minimalism design. (Provided by Getty Images)" id="81" name="Google Shape;81;p16"/>
          <p:cNvPicPr preferRelativeResize="0"/>
          <p:nvPr/>
        </p:nvPicPr>
        <p:blipFill>
          <a:blip r:embed="rId5">
            <a:alphaModFix/>
          </a:blip>
          <a:stretch>
            <a:fillRect/>
          </a:stretch>
        </p:blipFill>
        <p:spPr>
          <a:xfrm>
            <a:off x="7099388" y="1234476"/>
            <a:ext cx="743849" cy="7438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Key Challenges</a:t>
            </a:r>
            <a:endParaRPr b="1"/>
          </a:p>
        </p:txBody>
      </p:sp>
      <p:sp>
        <p:nvSpPr>
          <p:cNvPr id="87" name="Google Shape;8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s"/>
              <a:t>High Dimensionality</a:t>
            </a:r>
            <a:r>
              <a:rPr lang="es"/>
              <a:t> The "curse of dimensionality" (p &gt;&gt; n), where the number of features (genes, proteins) vastly exceeds the number of samples.</a:t>
            </a:r>
            <a:endParaRPr/>
          </a:p>
          <a:p>
            <a:pPr indent="0" lvl="0" marL="0" rtl="0" algn="l">
              <a:spcBef>
                <a:spcPts val="1200"/>
              </a:spcBef>
              <a:spcAft>
                <a:spcPts val="0"/>
              </a:spcAft>
              <a:buNone/>
            </a:pPr>
            <a:r>
              <a:rPr b="1" lang="es"/>
              <a:t>Data Heterogeneity</a:t>
            </a:r>
            <a:r>
              <a:rPr lang="es"/>
              <a:t> Integrating data of different types, scales, and statistical distributions (e.g., counts, binary, continuous).</a:t>
            </a:r>
            <a:endParaRPr/>
          </a:p>
          <a:p>
            <a:pPr indent="0" lvl="0" marL="0" rtl="0" algn="l">
              <a:spcBef>
                <a:spcPts val="1200"/>
              </a:spcBef>
              <a:spcAft>
                <a:spcPts val="0"/>
              </a:spcAft>
              <a:buNone/>
            </a:pPr>
            <a:r>
              <a:rPr b="1" lang="es"/>
              <a:t>Noise &amp; Batch Effects</a:t>
            </a:r>
            <a:r>
              <a:rPr lang="es"/>
              <a:t> Each omic layer introduces its own technical noise and batch effects that must be corrected.</a:t>
            </a:r>
            <a:endParaRPr/>
          </a:p>
          <a:p>
            <a:pPr indent="0" lvl="0" marL="0" rtl="0" algn="l">
              <a:spcBef>
                <a:spcPts val="1200"/>
              </a:spcBef>
              <a:spcAft>
                <a:spcPts val="0"/>
              </a:spcAft>
              <a:buNone/>
            </a:pPr>
            <a:r>
              <a:rPr b="1" lang="es"/>
              <a:t>Missing Data</a:t>
            </a:r>
            <a:r>
              <a:rPr lang="es"/>
              <a:t> Datasets are often incomplete, with different omics measured on only partially overlapping sets of samples.</a:t>
            </a:r>
            <a:endParaRPr/>
          </a:p>
          <a:p>
            <a:pPr indent="0" lvl="0" marL="0" rtl="0" algn="l">
              <a:spcBef>
                <a:spcPts val="1200"/>
              </a:spcBef>
              <a:spcAft>
                <a:spcPts val="1200"/>
              </a:spcAft>
              <a:buNone/>
            </a:pPr>
            <a:r>
              <a:rPr b="1" lang="es"/>
              <a:t>Interpretability</a:t>
            </a:r>
            <a:r>
              <a:rPr lang="es"/>
              <a:t> Building models that are not just predictive but also biologically interpretable.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000000"/>
              </a:buClr>
              <a:buSzPts val="3200"/>
              <a:buFont typeface="Helvetica Neue"/>
              <a:buNone/>
            </a:pPr>
            <a:r>
              <a:rPr b="1" lang="es">
                <a:solidFill>
                  <a:srgbClr val="000000"/>
                </a:solidFill>
              </a:rPr>
              <a:t>Data Integration</a:t>
            </a:r>
            <a:endParaRPr b="1"/>
          </a:p>
        </p:txBody>
      </p:sp>
      <p:grpSp>
        <p:nvGrpSpPr>
          <p:cNvPr id="93" name="Google Shape;93;p18"/>
          <p:cNvGrpSpPr/>
          <p:nvPr/>
        </p:nvGrpSpPr>
        <p:grpSpPr>
          <a:xfrm>
            <a:off x="887925" y="404825"/>
            <a:ext cx="7368150" cy="4805700"/>
            <a:chOff x="1726425" y="285475"/>
            <a:chExt cx="7368150" cy="4805700"/>
          </a:xfrm>
        </p:grpSpPr>
        <p:sp>
          <p:nvSpPr>
            <p:cNvPr id="94" name="Google Shape;94;p18"/>
            <p:cNvSpPr/>
            <p:nvPr/>
          </p:nvSpPr>
          <p:spPr>
            <a:xfrm>
              <a:off x="2814281" y="1556225"/>
              <a:ext cx="1334700" cy="900600"/>
            </a:xfrm>
            <a:prstGeom prst="rect">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p:nvPr/>
          </p:nvSpPr>
          <p:spPr>
            <a:xfrm>
              <a:off x="4333456" y="1556225"/>
              <a:ext cx="1334700" cy="900600"/>
            </a:xfrm>
            <a:prstGeom prst="rect">
              <a:avLst/>
            </a:prstGeom>
            <a:solidFill>
              <a:srgbClr val="0B53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8"/>
            <p:cNvSpPr/>
            <p:nvPr/>
          </p:nvSpPr>
          <p:spPr>
            <a:xfrm>
              <a:off x="5972006" y="1556225"/>
              <a:ext cx="1334700" cy="900600"/>
            </a:xfrm>
            <a:prstGeom prst="rect">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8"/>
            <p:cNvSpPr/>
            <p:nvPr/>
          </p:nvSpPr>
          <p:spPr>
            <a:xfrm>
              <a:off x="2814281" y="2769325"/>
              <a:ext cx="1334700" cy="900600"/>
            </a:xfrm>
            <a:prstGeom prst="rect">
              <a:avLst/>
            </a:prstGeom>
            <a:solidFill>
              <a:srgbClr val="351C7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8"/>
            <p:cNvSpPr/>
            <p:nvPr/>
          </p:nvSpPr>
          <p:spPr>
            <a:xfrm>
              <a:off x="4333456" y="2769325"/>
              <a:ext cx="1334700" cy="9006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8"/>
            <p:cNvSpPr/>
            <p:nvPr/>
          </p:nvSpPr>
          <p:spPr>
            <a:xfrm>
              <a:off x="5972006" y="2769325"/>
              <a:ext cx="1334700" cy="9006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8"/>
            <p:cNvSpPr/>
            <p:nvPr/>
          </p:nvSpPr>
          <p:spPr>
            <a:xfrm>
              <a:off x="2814281" y="4080075"/>
              <a:ext cx="1334700" cy="900600"/>
            </a:xfrm>
            <a:prstGeom prst="rect">
              <a:avLst/>
            </a:prstGeom>
            <a:solidFill>
              <a:srgbClr val="741B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8"/>
            <p:cNvSpPr/>
            <p:nvPr/>
          </p:nvSpPr>
          <p:spPr>
            <a:xfrm>
              <a:off x="4333456" y="4080075"/>
              <a:ext cx="1334700" cy="900600"/>
            </a:xfrm>
            <a:prstGeom prst="rect">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8"/>
            <p:cNvSpPr/>
            <p:nvPr/>
          </p:nvSpPr>
          <p:spPr>
            <a:xfrm>
              <a:off x="5972006" y="4080075"/>
              <a:ext cx="1334700" cy="900600"/>
            </a:xfrm>
            <a:prstGeom prst="rect">
              <a:avLst/>
            </a:prstGeom>
            <a:solidFill>
              <a:srgbClr val="D5A6B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8"/>
            <p:cNvSpPr txBox="1"/>
            <p:nvPr/>
          </p:nvSpPr>
          <p:spPr>
            <a:xfrm>
              <a:off x="2990625" y="1094513"/>
              <a:ext cx="1020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700">
                  <a:solidFill>
                    <a:schemeClr val="dk2"/>
                  </a:solidFill>
                </a:rPr>
                <a:t>Study 1</a:t>
              </a:r>
              <a:endParaRPr b="1" sz="1700">
                <a:solidFill>
                  <a:schemeClr val="dk2"/>
                </a:solidFill>
              </a:endParaRPr>
            </a:p>
          </p:txBody>
        </p:sp>
        <p:sp>
          <p:nvSpPr>
            <p:cNvPr id="104" name="Google Shape;104;p18"/>
            <p:cNvSpPr txBox="1"/>
            <p:nvPr/>
          </p:nvSpPr>
          <p:spPr>
            <a:xfrm>
              <a:off x="6148338" y="1094513"/>
              <a:ext cx="1020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700">
                  <a:solidFill>
                    <a:schemeClr val="dk2"/>
                  </a:solidFill>
                </a:rPr>
                <a:t>Study n</a:t>
              </a:r>
              <a:endParaRPr b="1" sz="1700">
                <a:solidFill>
                  <a:schemeClr val="dk2"/>
                </a:solidFill>
              </a:endParaRPr>
            </a:p>
          </p:txBody>
        </p:sp>
        <p:sp>
          <p:nvSpPr>
            <p:cNvPr id="105" name="Google Shape;105;p18"/>
            <p:cNvSpPr txBox="1"/>
            <p:nvPr/>
          </p:nvSpPr>
          <p:spPr>
            <a:xfrm>
              <a:off x="4471813" y="1094513"/>
              <a:ext cx="1020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700">
                  <a:solidFill>
                    <a:schemeClr val="dk2"/>
                  </a:solidFill>
                </a:rPr>
                <a:t>Study 2</a:t>
              </a:r>
              <a:endParaRPr b="1" sz="1700">
                <a:solidFill>
                  <a:schemeClr val="dk2"/>
                </a:solidFill>
              </a:endParaRPr>
            </a:p>
          </p:txBody>
        </p:sp>
        <p:sp>
          <p:nvSpPr>
            <p:cNvPr id="106" name="Google Shape;106;p18"/>
            <p:cNvSpPr txBox="1"/>
            <p:nvPr/>
          </p:nvSpPr>
          <p:spPr>
            <a:xfrm>
              <a:off x="1726425" y="1775675"/>
              <a:ext cx="1069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700">
                  <a:solidFill>
                    <a:schemeClr val="dk2"/>
                  </a:solidFill>
                </a:rPr>
                <a:t>Omics</a:t>
              </a:r>
              <a:r>
                <a:rPr b="1" lang="es" sz="1700">
                  <a:solidFill>
                    <a:schemeClr val="dk2"/>
                  </a:solidFill>
                </a:rPr>
                <a:t> 1</a:t>
              </a:r>
              <a:endParaRPr b="1" sz="1700">
                <a:solidFill>
                  <a:schemeClr val="dk2"/>
                </a:solidFill>
              </a:endParaRPr>
            </a:p>
          </p:txBody>
        </p:sp>
        <p:sp>
          <p:nvSpPr>
            <p:cNvPr id="107" name="Google Shape;107;p18"/>
            <p:cNvSpPr txBox="1"/>
            <p:nvPr/>
          </p:nvSpPr>
          <p:spPr>
            <a:xfrm>
              <a:off x="1726425" y="2956225"/>
              <a:ext cx="1069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700">
                  <a:solidFill>
                    <a:schemeClr val="dk2"/>
                  </a:solidFill>
                </a:rPr>
                <a:t>Omics 2</a:t>
              </a:r>
              <a:endParaRPr b="1" sz="1700">
                <a:solidFill>
                  <a:schemeClr val="dk2"/>
                </a:solidFill>
              </a:endParaRPr>
            </a:p>
          </p:txBody>
        </p:sp>
        <p:sp>
          <p:nvSpPr>
            <p:cNvPr id="108" name="Google Shape;108;p18"/>
            <p:cNvSpPr txBox="1"/>
            <p:nvPr/>
          </p:nvSpPr>
          <p:spPr>
            <a:xfrm>
              <a:off x="1726475" y="4299525"/>
              <a:ext cx="1069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700">
                  <a:solidFill>
                    <a:schemeClr val="dk2"/>
                  </a:solidFill>
                </a:rPr>
                <a:t>Omics n</a:t>
              </a:r>
              <a:endParaRPr b="1" sz="1700">
                <a:solidFill>
                  <a:schemeClr val="dk2"/>
                </a:solidFill>
              </a:endParaRPr>
            </a:p>
          </p:txBody>
        </p:sp>
        <p:sp>
          <p:nvSpPr>
            <p:cNvPr id="109" name="Google Shape;109;p18"/>
            <p:cNvSpPr/>
            <p:nvPr/>
          </p:nvSpPr>
          <p:spPr>
            <a:xfrm>
              <a:off x="5795725" y="1957625"/>
              <a:ext cx="86700" cy="9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8"/>
            <p:cNvSpPr/>
            <p:nvPr/>
          </p:nvSpPr>
          <p:spPr>
            <a:xfrm>
              <a:off x="5757750" y="3170725"/>
              <a:ext cx="86700" cy="9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8"/>
            <p:cNvSpPr/>
            <p:nvPr/>
          </p:nvSpPr>
          <p:spPr>
            <a:xfrm>
              <a:off x="5795725" y="4481475"/>
              <a:ext cx="86700" cy="9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8"/>
            <p:cNvSpPr/>
            <p:nvPr/>
          </p:nvSpPr>
          <p:spPr>
            <a:xfrm>
              <a:off x="3419300" y="3826100"/>
              <a:ext cx="86700" cy="9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8"/>
            <p:cNvSpPr/>
            <p:nvPr/>
          </p:nvSpPr>
          <p:spPr>
            <a:xfrm>
              <a:off x="4938475" y="3858650"/>
              <a:ext cx="86700" cy="9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8"/>
            <p:cNvSpPr/>
            <p:nvPr/>
          </p:nvSpPr>
          <p:spPr>
            <a:xfrm>
              <a:off x="6615000" y="3826100"/>
              <a:ext cx="86700" cy="9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8"/>
            <p:cNvSpPr txBox="1"/>
            <p:nvPr/>
          </p:nvSpPr>
          <p:spPr>
            <a:xfrm>
              <a:off x="6044025" y="285475"/>
              <a:ext cx="1694100" cy="65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rPr>
                <a:t>Horizontal Integration</a:t>
              </a:r>
              <a:endParaRPr b="1" sz="1800">
                <a:solidFill>
                  <a:schemeClr val="dk2"/>
                </a:solidFill>
              </a:endParaRPr>
            </a:p>
          </p:txBody>
        </p:sp>
        <p:cxnSp>
          <p:nvCxnSpPr>
            <p:cNvPr id="116" name="Google Shape;116;p18"/>
            <p:cNvCxnSpPr/>
            <p:nvPr/>
          </p:nvCxnSpPr>
          <p:spPr>
            <a:xfrm flipH="1" rot="10800000">
              <a:off x="2800700" y="1066350"/>
              <a:ext cx="4720500" cy="43200"/>
            </a:xfrm>
            <a:prstGeom prst="straightConnector1">
              <a:avLst/>
            </a:prstGeom>
            <a:noFill/>
            <a:ln cap="flat" cmpd="sng" w="38100">
              <a:solidFill>
                <a:srgbClr val="434343"/>
              </a:solidFill>
              <a:prstDash val="solid"/>
              <a:round/>
              <a:headEnd len="med" w="med" type="none"/>
              <a:tailEnd len="med" w="med" type="triangle"/>
            </a:ln>
          </p:spPr>
        </p:cxnSp>
        <p:cxnSp>
          <p:nvCxnSpPr>
            <p:cNvPr id="117" name="Google Shape;117;p18"/>
            <p:cNvCxnSpPr/>
            <p:nvPr/>
          </p:nvCxnSpPr>
          <p:spPr>
            <a:xfrm>
              <a:off x="7529175" y="1348075"/>
              <a:ext cx="32100" cy="3743100"/>
            </a:xfrm>
            <a:prstGeom prst="straightConnector1">
              <a:avLst/>
            </a:prstGeom>
            <a:noFill/>
            <a:ln cap="flat" cmpd="sng" w="38100">
              <a:solidFill>
                <a:srgbClr val="434343"/>
              </a:solidFill>
              <a:prstDash val="solid"/>
              <a:round/>
              <a:headEnd len="med" w="med" type="none"/>
              <a:tailEnd len="med" w="med" type="triangle"/>
            </a:ln>
          </p:spPr>
        </p:cxnSp>
        <p:sp>
          <p:nvSpPr>
            <p:cNvPr id="118" name="Google Shape;118;p18"/>
            <p:cNvSpPr txBox="1"/>
            <p:nvPr/>
          </p:nvSpPr>
          <p:spPr>
            <a:xfrm>
              <a:off x="7605375" y="4185050"/>
              <a:ext cx="1489200" cy="65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rPr>
                <a:t>Vertical</a:t>
              </a:r>
              <a:r>
                <a:rPr b="1" lang="es" sz="1800">
                  <a:solidFill>
                    <a:schemeClr val="dk2"/>
                  </a:solidFill>
                </a:rPr>
                <a:t> Integration</a:t>
              </a:r>
              <a:endParaRPr b="1" sz="1800">
                <a:solidFill>
                  <a:schemeClr val="dk2"/>
                </a:solidFil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000000"/>
              </a:buClr>
              <a:buSzPts val="3200"/>
              <a:buFont typeface="Helvetica Neue"/>
              <a:buNone/>
            </a:pPr>
            <a:r>
              <a:rPr b="1" lang="es">
                <a:solidFill>
                  <a:srgbClr val="000000"/>
                </a:solidFill>
              </a:rPr>
              <a:t>Horizontal Data Integration</a:t>
            </a:r>
            <a:endParaRPr b="1"/>
          </a:p>
        </p:txBody>
      </p:sp>
      <p:grpSp>
        <p:nvGrpSpPr>
          <p:cNvPr id="124" name="Google Shape;124;p19"/>
          <p:cNvGrpSpPr/>
          <p:nvPr/>
        </p:nvGrpSpPr>
        <p:grpSpPr>
          <a:xfrm>
            <a:off x="2395151" y="3271261"/>
            <a:ext cx="5867382" cy="1842235"/>
            <a:chOff x="0" y="0"/>
            <a:chExt cx="15646352" cy="4912625"/>
          </a:xfrm>
        </p:grpSpPr>
        <p:pic>
          <p:nvPicPr>
            <p:cNvPr descr="unknown.png" id="125" name="Google Shape;125;p19"/>
            <p:cNvPicPr preferRelativeResize="0"/>
            <p:nvPr/>
          </p:nvPicPr>
          <p:blipFill rotWithShape="1">
            <a:blip r:embed="rId3">
              <a:alphaModFix/>
            </a:blip>
            <a:srcRect b="25818" l="50275" r="29777" t="14072"/>
            <a:stretch/>
          </p:blipFill>
          <p:spPr>
            <a:xfrm>
              <a:off x="0" y="0"/>
              <a:ext cx="7004981" cy="4860514"/>
            </a:xfrm>
            <a:prstGeom prst="rect">
              <a:avLst/>
            </a:prstGeom>
            <a:noFill/>
            <a:ln>
              <a:noFill/>
            </a:ln>
          </p:spPr>
        </p:pic>
        <p:pic>
          <p:nvPicPr>
            <p:cNvPr descr="Screenshot 2025-08-15 at 05.44.02.png" id="126" name="Google Shape;126;p19"/>
            <p:cNvPicPr preferRelativeResize="0"/>
            <p:nvPr/>
          </p:nvPicPr>
          <p:blipFill rotWithShape="1">
            <a:blip r:embed="rId4">
              <a:alphaModFix/>
            </a:blip>
            <a:srcRect b="748" l="0" r="0" t="2118"/>
            <a:stretch/>
          </p:blipFill>
          <p:spPr>
            <a:xfrm>
              <a:off x="7365952" y="52137"/>
              <a:ext cx="8280400" cy="4860488"/>
            </a:xfrm>
            <a:prstGeom prst="rect">
              <a:avLst/>
            </a:prstGeom>
            <a:noFill/>
            <a:ln>
              <a:noFill/>
            </a:ln>
          </p:spPr>
        </p:pic>
      </p:grpSp>
      <p:pic>
        <p:nvPicPr>
          <p:cNvPr descr="unknown.png" id="127" name="Google Shape;127;p19"/>
          <p:cNvPicPr preferRelativeResize="0"/>
          <p:nvPr/>
        </p:nvPicPr>
        <p:blipFill rotWithShape="1">
          <a:blip r:embed="rId3">
            <a:alphaModFix/>
          </a:blip>
          <a:srcRect b="0" l="2895" r="49329" t="33889"/>
          <a:stretch/>
        </p:blipFill>
        <p:spPr>
          <a:xfrm>
            <a:off x="2275782" y="1168887"/>
            <a:ext cx="6106088" cy="1945453"/>
          </a:xfrm>
          <a:prstGeom prst="rect">
            <a:avLst/>
          </a:prstGeom>
          <a:noFill/>
          <a:ln>
            <a:noFill/>
          </a:ln>
        </p:spPr>
      </p:pic>
      <p:pic>
        <p:nvPicPr>
          <p:cNvPr descr="unknown.jpeg" id="128" name="Google Shape;128;p19"/>
          <p:cNvPicPr preferRelativeResize="0"/>
          <p:nvPr/>
        </p:nvPicPr>
        <p:blipFill rotWithShape="1">
          <a:blip r:embed="rId5">
            <a:alphaModFix/>
          </a:blip>
          <a:srcRect b="0" l="0" r="0" t="0"/>
          <a:stretch/>
        </p:blipFill>
        <p:spPr>
          <a:xfrm>
            <a:off x="762097" y="2596873"/>
            <a:ext cx="1924050" cy="1614488"/>
          </a:xfrm>
          <a:prstGeom prst="rect">
            <a:avLst/>
          </a:prstGeom>
          <a:noFill/>
          <a:ln>
            <a:noFill/>
          </a:ln>
        </p:spPr>
      </p:pic>
      <p:sp>
        <p:nvSpPr>
          <p:cNvPr id="129" name="Google Shape;129;p19"/>
          <p:cNvSpPr txBox="1"/>
          <p:nvPr/>
        </p:nvSpPr>
        <p:spPr>
          <a:xfrm>
            <a:off x="762097" y="2544485"/>
            <a:ext cx="57000" cy="115500"/>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Clr>
                <a:srgbClr val="000000"/>
              </a:buClr>
              <a:buSzPts val="500"/>
              <a:buFont typeface="Times"/>
              <a:buNone/>
            </a:pPr>
            <a:r>
              <a:rPr b="0" i="0" lang="es" sz="500" u="none" cap="none" strike="noStrike">
                <a:solidFill>
                  <a:srgbClr val="000000"/>
                </a:solidFill>
                <a:latin typeface="Times"/>
                <a:ea typeface="Times"/>
                <a:cs typeface="Times"/>
                <a:sym typeface="Times"/>
              </a:rPr>
              <a:t> </a:t>
            </a:r>
            <a:endParaRPr sz="500"/>
          </a:p>
        </p:txBody>
      </p:sp>
      <p:sp>
        <p:nvSpPr>
          <p:cNvPr id="130" name="Google Shape;130;p19"/>
          <p:cNvSpPr txBox="1"/>
          <p:nvPr/>
        </p:nvSpPr>
        <p:spPr>
          <a:xfrm>
            <a:off x="452438" y="889861"/>
            <a:ext cx="8239200" cy="350700"/>
          </a:xfrm>
          <a:prstGeom prst="rect">
            <a:avLst/>
          </a:prstGeom>
          <a:noFill/>
          <a:ln>
            <a:noFill/>
          </a:ln>
        </p:spPr>
        <p:txBody>
          <a:bodyPr anchorCtr="0" anchor="t" bIns="17150" lIns="17150" spcFirstLastPara="1" rIns="17150" wrap="square" tIns="17150">
            <a:normAutofit lnSpcReduction="10000"/>
          </a:bodyPr>
          <a:lstStyle/>
          <a:p>
            <a:pPr indent="0" lvl="0" marL="0" marR="0" rtl="0" algn="l">
              <a:lnSpc>
                <a:spcPct val="100000"/>
              </a:lnSpc>
              <a:spcBef>
                <a:spcPts val="0"/>
              </a:spcBef>
              <a:spcAft>
                <a:spcPts val="0"/>
              </a:spcAft>
              <a:buClr>
                <a:srgbClr val="929292"/>
              </a:buClr>
              <a:buSzPts val="2100"/>
              <a:buFont typeface="Helvetica Neue"/>
              <a:buNone/>
            </a:pPr>
            <a:r>
              <a:rPr b="1" i="0" lang="es" sz="2100" u="none" cap="none" strike="noStrike">
                <a:solidFill>
                  <a:srgbClr val="929292"/>
                </a:solidFill>
                <a:latin typeface="Helvetica Neue"/>
                <a:ea typeface="Helvetica Neue"/>
                <a:cs typeface="Helvetica Neue"/>
                <a:sym typeface="Helvetica Neue"/>
              </a:rPr>
              <a:t>Publicly Available Data</a:t>
            </a:r>
            <a:endParaRPr sz="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descr="Group" id="135" name="Google Shape;135;p20"/>
          <p:cNvPicPr preferRelativeResize="0"/>
          <p:nvPr/>
        </p:nvPicPr>
        <p:blipFill rotWithShape="1">
          <a:blip r:embed="rId3">
            <a:alphaModFix/>
          </a:blip>
          <a:srcRect b="68327" l="68541" r="0" t="17048"/>
          <a:stretch/>
        </p:blipFill>
        <p:spPr>
          <a:xfrm>
            <a:off x="7197824" y="62851"/>
            <a:ext cx="1763106" cy="573718"/>
          </a:xfrm>
          <a:prstGeom prst="rect">
            <a:avLst/>
          </a:prstGeom>
          <a:noFill/>
          <a:ln>
            <a:noFill/>
          </a:ln>
        </p:spPr>
      </p:pic>
      <p:sp>
        <p:nvSpPr>
          <p:cNvPr id="136" name="Google Shape;136;p20"/>
          <p:cNvSpPr/>
          <p:nvPr/>
        </p:nvSpPr>
        <p:spPr>
          <a:xfrm>
            <a:off x="7431672" y="235301"/>
            <a:ext cx="63000" cy="4761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pic>
        <p:nvPicPr>
          <p:cNvPr descr="Screenshot 2025-08-15 at 07.23.23.png" id="137" name="Google Shape;137;p20"/>
          <p:cNvPicPr preferRelativeResize="0"/>
          <p:nvPr/>
        </p:nvPicPr>
        <p:blipFill rotWithShape="1">
          <a:blip r:embed="rId4">
            <a:alphaModFix/>
          </a:blip>
          <a:srcRect b="0" l="0" r="0" t="0"/>
          <a:stretch/>
        </p:blipFill>
        <p:spPr>
          <a:xfrm>
            <a:off x="4232312" y="1442129"/>
            <a:ext cx="1423692" cy="1233866"/>
          </a:xfrm>
          <a:prstGeom prst="rect">
            <a:avLst/>
          </a:prstGeom>
          <a:noFill/>
          <a:ln>
            <a:noFill/>
          </a:ln>
        </p:spPr>
      </p:pic>
      <p:pic>
        <p:nvPicPr>
          <p:cNvPr descr="Screenshot 2025-08-15 at 07.23.38.png" id="138" name="Google Shape;138;p20"/>
          <p:cNvPicPr preferRelativeResize="0"/>
          <p:nvPr/>
        </p:nvPicPr>
        <p:blipFill rotWithShape="1">
          <a:blip r:embed="rId5">
            <a:alphaModFix/>
          </a:blip>
          <a:srcRect b="0" l="0" r="0" t="0"/>
          <a:stretch/>
        </p:blipFill>
        <p:spPr>
          <a:xfrm>
            <a:off x="4271648" y="2845683"/>
            <a:ext cx="1498688" cy="1203407"/>
          </a:xfrm>
          <a:prstGeom prst="rect">
            <a:avLst/>
          </a:prstGeom>
          <a:noFill/>
          <a:ln>
            <a:noFill/>
          </a:ln>
        </p:spPr>
      </p:pic>
      <p:sp>
        <p:nvSpPr>
          <p:cNvPr id="139" name="Google Shape;139;p20"/>
          <p:cNvSpPr txBox="1"/>
          <p:nvPr/>
        </p:nvSpPr>
        <p:spPr>
          <a:xfrm>
            <a:off x="3373665" y="1933100"/>
            <a:ext cx="717000" cy="2325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929292"/>
              </a:buClr>
              <a:buSzPts val="1400"/>
              <a:buFont typeface="Helvetica Neue"/>
              <a:buNone/>
            </a:pPr>
            <a:r>
              <a:rPr b="1" i="0" lang="es" sz="1400" u="none" cap="none" strike="noStrike">
                <a:solidFill>
                  <a:srgbClr val="929292"/>
                </a:solidFill>
                <a:latin typeface="Helvetica Neue"/>
                <a:ea typeface="Helvetica Neue"/>
                <a:cs typeface="Helvetica Neue"/>
                <a:sym typeface="Helvetica Neue"/>
              </a:rPr>
              <a:t>study 1 </a:t>
            </a:r>
            <a:endParaRPr sz="500"/>
          </a:p>
        </p:txBody>
      </p:sp>
      <p:sp>
        <p:nvSpPr>
          <p:cNvPr id="140" name="Google Shape;140;p20"/>
          <p:cNvSpPr txBox="1"/>
          <p:nvPr/>
        </p:nvSpPr>
        <p:spPr>
          <a:xfrm>
            <a:off x="3373665" y="3321424"/>
            <a:ext cx="723600" cy="2325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929292"/>
              </a:buClr>
              <a:buSzPts val="1400"/>
              <a:buFont typeface="Helvetica Neue"/>
              <a:buNone/>
            </a:pPr>
            <a:r>
              <a:rPr b="1" i="0" lang="es" sz="1400" u="none" cap="none" strike="noStrike">
                <a:solidFill>
                  <a:srgbClr val="929292"/>
                </a:solidFill>
                <a:latin typeface="Helvetica Neue"/>
                <a:ea typeface="Helvetica Neue"/>
                <a:cs typeface="Helvetica Neue"/>
                <a:sym typeface="Helvetica Neue"/>
              </a:rPr>
              <a:t>study n </a:t>
            </a:r>
            <a:endParaRPr sz="500"/>
          </a:p>
        </p:txBody>
      </p:sp>
      <p:sp>
        <p:nvSpPr>
          <p:cNvPr id="141" name="Google Shape;141;p20"/>
          <p:cNvSpPr/>
          <p:nvPr/>
        </p:nvSpPr>
        <p:spPr>
          <a:xfrm>
            <a:off x="4389017" y="2663818"/>
            <a:ext cx="166200" cy="166200"/>
          </a:xfrm>
          <a:prstGeom prst="ellipse">
            <a:avLst/>
          </a:prstGeom>
          <a:solidFill>
            <a:srgbClr val="5E5E5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142" name="Google Shape;142;p20"/>
          <p:cNvSpPr/>
          <p:nvPr/>
        </p:nvSpPr>
        <p:spPr>
          <a:xfrm>
            <a:off x="4861019" y="2663818"/>
            <a:ext cx="166200" cy="166200"/>
          </a:xfrm>
          <a:prstGeom prst="ellipse">
            <a:avLst/>
          </a:prstGeom>
          <a:solidFill>
            <a:srgbClr val="5E5E5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143" name="Google Shape;143;p20"/>
          <p:cNvSpPr/>
          <p:nvPr/>
        </p:nvSpPr>
        <p:spPr>
          <a:xfrm>
            <a:off x="5333021" y="2663818"/>
            <a:ext cx="166200" cy="166200"/>
          </a:xfrm>
          <a:prstGeom prst="ellipse">
            <a:avLst/>
          </a:prstGeom>
          <a:solidFill>
            <a:srgbClr val="5E5E5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144" name="Google Shape;144;p20"/>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marR="0" rtl="0" algn="l">
              <a:lnSpc>
                <a:spcPct val="80000"/>
              </a:lnSpc>
              <a:spcBef>
                <a:spcPts val="0"/>
              </a:spcBef>
              <a:spcAft>
                <a:spcPts val="0"/>
              </a:spcAft>
              <a:buClr>
                <a:srgbClr val="5E5E5E"/>
              </a:buClr>
              <a:buSzPts val="3200"/>
              <a:buFont typeface="Helvetica Neue"/>
              <a:buNone/>
            </a:pPr>
            <a:r>
              <a:rPr b="1" lang="es" sz="2500">
                <a:solidFill>
                  <a:schemeClr val="dk1"/>
                </a:solidFill>
              </a:rPr>
              <a:t>Horizontal Data Integration</a:t>
            </a:r>
            <a:endParaRPr b="1" sz="2500">
              <a:solidFill>
                <a:schemeClr val="dk1"/>
              </a:solidFill>
            </a:endParaRPr>
          </a:p>
        </p:txBody>
      </p:sp>
      <p:cxnSp>
        <p:nvCxnSpPr>
          <p:cNvPr id="145" name="Google Shape;145;p20"/>
          <p:cNvCxnSpPr/>
          <p:nvPr/>
        </p:nvCxnSpPr>
        <p:spPr>
          <a:xfrm>
            <a:off x="7451670" y="281221"/>
            <a:ext cx="0" cy="784500"/>
          </a:xfrm>
          <a:prstGeom prst="straightConnector1">
            <a:avLst/>
          </a:prstGeom>
          <a:noFill/>
          <a:ln cap="flat" cmpd="sng" w="19050">
            <a:solidFill>
              <a:srgbClr val="EB220C"/>
            </a:solidFill>
            <a:prstDash val="solid"/>
            <a:miter lim="400000"/>
            <a:headEnd len="sm" w="sm"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descr="Screenshot 2025-08-15 at 07.23.23.png" id="150" name="Google Shape;150;p21"/>
          <p:cNvPicPr preferRelativeResize="0"/>
          <p:nvPr/>
        </p:nvPicPr>
        <p:blipFill rotWithShape="1">
          <a:blip r:embed="rId3">
            <a:alphaModFix/>
          </a:blip>
          <a:srcRect b="0" l="0" r="0" t="0"/>
          <a:stretch/>
        </p:blipFill>
        <p:spPr>
          <a:xfrm>
            <a:off x="2232045" y="1655157"/>
            <a:ext cx="1423692" cy="1233866"/>
          </a:xfrm>
          <a:prstGeom prst="rect">
            <a:avLst/>
          </a:prstGeom>
          <a:noFill/>
          <a:ln>
            <a:noFill/>
          </a:ln>
        </p:spPr>
      </p:pic>
      <p:pic>
        <p:nvPicPr>
          <p:cNvPr descr="Screenshot 2025-08-15 at 07.25.50.png" id="151" name="Google Shape;151;p21"/>
          <p:cNvPicPr preferRelativeResize="0"/>
          <p:nvPr/>
        </p:nvPicPr>
        <p:blipFill rotWithShape="1">
          <a:blip r:embed="rId4">
            <a:alphaModFix/>
          </a:blip>
          <a:srcRect b="0" l="0" r="0" t="0"/>
          <a:stretch/>
        </p:blipFill>
        <p:spPr>
          <a:xfrm>
            <a:off x="3807714" y="1587446"/>
            <a:ext cx="3962887" cy="2884101"/>
          </a:xfrm>
          <a:prstGeom prst="rect">
            <a:avLst/>
          </a:prstGeom>
          <a:noFill/>
          <a:ln>
            <a:noFill/>
          </a:ln>
        </p:spPr>
      </p:pic>
      <p:pic>
        <p:nvPicPr>
          <p:cNvPr descr="Group" id="152" name="Google Shape;152;p21"/>
          <p:cNvPicPr preferRelativeResize="0"/>
          <p:nvPr/>
        </p:nvPicPr>
        <p:blipFill rotWithShape="1">
          <a:blip r:embed="rId5">
            <a:alphaModFix/>
          </a:blip>
          <a:srcRect b="22722" l="68541" r="0" t="50731"/>
          <a:stretch/>
        </p:blipFill>
        <p:spPr>
          <a:xfrm>
            <a:off x="7379490" y="74904"/>
            <a:ext cx="1763106" cy="1041478"/>
          </a:xfrm>
          <a:prstGeom prst="rect">
            <a:avLst/>
          </a:prstGeom>
          <a:noFill/>
          <a:ln>
            <a:noFill/>
          </a:ln>
        </p:spPr>
      </p:pic>
      <p:pic>
        <p:nvPicPr>
          <p:cNvPr descr="Screenshot 2025-08-15 at 07.23.38.png" id="153" name="Google Shape;153;p21"/>
          <p:cNvPicPr preferRelativeResize="0"/>
          <p:nvPr/>
        </p:nvPicPr>
        <p:blipFill rotWithShape="1">
          <a:blip r:embed="rId6">
            <a:alphaModFix/>
          </a:blip>
          <a:srcRect b="0" l="0" r="0" t="0"/>
          <a:stretch/>
        </p:blipFill>
        <p:spPr>
          <a:xfrm>
            <a:off x="2271381" y="3058711"/>
            <a:ext cx="1498688" cy="1203407"/>
          </a:xfrm>
          <a:prstGeom prst="rect">
            <a:avLst/>
          </a:prstGeom>
          <a:noFill/>
          <a:ln>
            <a:noFill/>
          </a:ln>
        </p:spPr>
      </p:pic>
      <p:sp>
        <p:nvSpPr>
          <p:cNvPr id="154" name="Google Shape;154;p21"/>
          <p:cNvSpPr txBox="1"/>
          <p:nvPr/>
        </p:nvSpPr>
        <p:spPr>
          <a:xfrm>
            <a:off x="1373398" y="2146128"/>
            <a:ext cx="717000" cy="2325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929292"/>
              </a:buClr>
              <a:buSzPts val="1400"/>
              <a:buFont typeface="Helvetica Neue"/>
              <a:buNone/>
            </a:pPr>
            <a:r>
              <a:rPr b="1" i="0" lang="es" sz="1400" u="none" cap="none" strike="noStrike">
                <a:solidFill>
                  <a:srgbClr val="929292"/>
                </a:solidFill>
                <a:latin typeface="Helvetica Neue"/>
                <a:ea typeface="Helvetica Neue"/>
                <a:cs typeface="Helvetica Neue"/>
                <a:sym typeface="Helvetica Neue"/>
              </a:rPr>
              <a:t>study 1 </a:t>
            </a:r>
            <a:endParaRPr sz="500"/>
          </a:p>
        </p:txBody>
      </p:sp>
      <p:sp>
        <p:nvSpPr>
          <p:cNvPr id="155" name="Google Shape;155;p21"/>
          <p:cNvSpPr txBox="1"/>
          <p:nvPr/>
        </p:nvSpPr>
        <p:spPr>
          <a:xfrm>
            <a:off x="1373398" y="3534452"/>
            <a:ext cx="723600" cy="2325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929292"/>
              </a:buClr>
              <a:buSzPts val="1400"/>
              <a:buFont typeface="Helvetica Neue"/>
              <a:buNone/>
            </a:pPr>
            <a:r>
              <a:rPr b="1" i="0" lang="es" sz="1400" u="none" cap="none" strike="noStrike">
                <a:solidFill>
                  <a:srgbClr val="929292"/>
                </a:solidFill>
                <a:latin typeface="Helvetica Neue"/>
                <a:ea typeface="Helvetica Neue"/>
                <a:cs typeface="Helvetica Neue"/>
                <a:sym typeface="Helvetica Neue"/>
              </a:rPr>
              <a:t>study n </a:t>
            </a:r>
            <a:endParaRPr sz="500"/>
          </a:p>
        </p:txBody>
      </p:sp>
      <p:sp>
        <p:nvSpPr>
          <p:cNvPr id="156" name="Google Shape;156;p21"/>
          <p:cNvSpPr/>
          <p:nvPr/>
        </p:nvSpPr>
        <p:spPr>
          <a:xfrm>
            <a:off x="2388750" y="2876846"/>
            <a:ext cx="166200" cy="1662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157" name="Google Shape;157;p21"/>
          <p:cNvSpPr/>
          <p:nvPr/>
        </p:nvSpPr>
        <p:spPr>
          <a:xfrm>
            <a:off x="2860752" y="2876846"/>
            <a:ext cx="166200" cy="1662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158" name="Google Shape;158;p21"/>
          <p:cNvSpPr/>
          <p:nvPr/>
        </p:nvSpPr>
        <p:spPr>
          <a:xfrm>
            <a:off x="3332754" y="2876846"/>
            <a:ext cx="166200" cy="1662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159" name="Google Shape;159;p21"/>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marR="0" rtl="0" algn="l">
              <a:lnSpc>
                <a:spcPct val="80000"/>
              </a:lnSpc>
              <a:spcBef>
                <a:spcPts val="0"/>
              </a:spcBef>
              <a:spcAft>
                <a:spcPts val="0"/>
              </a:spcAft>
              <a:buClr>
                <a:srgbClr val="5E5E5E"/>
              </a:buClr>
              <a:buSzPts val="3200"/>
              <a:buFont typeface="Helvetica Neue"/>
              <a:buNone/>
            </a:pPr>
            <a:r>
              <a:rPr b="1" lang="es" sz="2500">
                <a:solidFill>
                  <a:schemeClr val="dk1"/>
                </a:solidFill>
              </a:rPr>
              <a:t>Horizontal Data Integration</a:t>
            </a:r>
            <a:endParaRPr b="1" sz="2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2"/>
          <p:cNvSpPr txBox="1"/>
          <p:nvPr>
            <p:ph type="title"/>
          </p:nvPr>
        </p:nvSpPr>
        <p:spPr>
          <a:xfrm>
            <a:off x="452438" y="404813"/>
            <a:ext cx="8239200" cy="537300"/>
          </a:xfrm>
          <a:prstGeom prst="rect">
            <a:avLst/>
          </a:prstGeom>
        </p:spPr>
        <p:txBody>
          <a:bodyPr anchorCtr="0" anchor="t" bIns="19050" lIns="19050" spcFirstLastPara="1" rIns="19050" wrap="square" tIns="19050">
            <a:normAutofit/>
          </a:bodyPr>
          <a:lstStyle/>
          <a:p>
            <a:pPr indent="0" lvl="0" marL="0" rtl="0" algn="l">
              <a:spcBef>
                <a:spcPts val="0"/>
              </a:spcBef>
              <a:spcAft>
                <a:spcPts val="0"/>
              </a:spcAft>
              <a:buNone/>
            </a:pPr>
            <a:r>
              <a:rPr b="1" lang="es"/>
              <a:t>Study Effect</a:t>
            </a:r>
            <a:endParaRPr b="1"/>
          </a:p>
        </p:txBody>
      </p:sp>
      <p:pic>
        <p:nvPicPr>
          <p:cNvPr descr="pasted-movie.png" id="165" name="Google Shape;165;p22"/>
          <p:cNvPicPr preferRelativeResize="0"/>
          <p:nvPr/>
        </p:nvPicPr>
        <p:blipFill rotWithShape="1">
          <a:blip r:embed="rId3">
            <a:alphaModFix/>
          </a:blip>
          <a:srcRect b="49736" l="0" r="76519" t="0"/>
          <a:stretch/>
        </p:blipFill>
        <p:spPr>
          <a:xfrm>
            <a:off x="2728925" y="1276550"/>
            <a:ext cx="3686138" cy="37868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descr="image (6).png" id="170" name="Google Shape;170;p23"/>
          <p:cNvPicPr preferRelativeResize="0"/>
          <p:nvPr/>
        </p:nvPicPr>
        <p:blipFill rotWithShape="1">
          <a:blip r:embed="rId3">
            <a:alphaModFix/>
          </a:blip>
          <a:srcRect b="0" l="0" r="0" t="0"/>
          <a:stretch/>
        </p:blipFill>
        <p:spPr>
          <a:xfrm>
            <a:off x="416811" y="850477"/>
            <a:ext cx="8310380" cy="4294683"/>
          </a:xfrm>
          <a:prstGeom prst="rect">
            <a:avLst/>
          </a:prstGeom>
          <a:noFill/>
          <a:ln>
            <a:noFill/>
          </a:ln>
        </p:spPr>
      </p:pic>
      <p:sp>
        <p:nvSpPr>
          <p:cNvPr id="171" name="Google Shape;171;p23"/>
          <p:cNvSpPr/>
          <p:nvPr/>
        </p:nvSpPr>
        <p:spPr>
          <a:xfrm>
            <a:off x="5516025" y="3726700"/>
            <a:ext cx="3627900" cy="141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3"/>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marR="0" rtl="0" algn="l">
              <a:lnSpc>
                <a:spcPct val="80000"/>
              </a:lnSpc>
              <a:spcBef>
                <a:spcPts val="0"/>
              </a:spcBef>
              <a:spcAft>
                <a:spcPts val="0"/>
              </a:spcAft>
              <a:buClr>
                <a:srgbClr val="5E5E5E"/>
              </a:buClr>
              <a:buSzPts val="2800"/>
              <a:buFont typeface="Helvetica Neue"/>
              <a:buNone/>
            </a:pPr>
            <a:r>
              <a:rPr b="1" lang="es" sz="2500">
                <a:solidFill>
                  <a:schemeClr val="dk1"/>
                </a:solidFill>
              </a:rPr>
              <a:t>ABaCo: Autoencoder-based Batch Correction</a:t>
            </a:r>
            <a:endParaRPr b="1" sz="2500">
              <a:solidFill>
                <a:schemeClr val="dk1"/>
              </a:solidFill>
            </a:endParaRPr>
          </a:p>
        </p:txBody>
      </p:sp>
      <p:sp>
        <p:nvSpPr>
          <p:cNvPr id="173" name="Google Shape;173;p23"/>
          <p:cNvSpPr txBox="1"/>
          <p:nvPr/>
        </p:nvSpPr>
        <p:spPr>
          <a:xfrm>
            <a:off x="1333500" y="1366838"/>
            <a:ext cx="57000" cy="115500"/>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Clr>
                <a:srgbClr val="000000"/>
              </a:buClr>
              <a:buSzPts val="500"/>
              <a:buFont typeface="Times"/>
              <a:buNone/>
            </a:pPr>
            <a:r>
              <a:rPr b="0" i="0" lang="es" sz="500" u="none" cap="none" strike="noStrike">
                <a:solidFill>
                  <a:srgbClr val="000000"/>
                </a:solidFill>
                <a:latin typeface="Times"/>
                <a:ea typeface="Times"/>
                <a:cs typeface="Times"/>
                <a:sym typeface="Times"/>
              </a:rPr>
              <a:t> </a:t>
            </a:r>
            <a:endParaRPr sz="500"/>
          </a:p>
        </p:txBody>
      </p:sp>
      <p:pic>
        <p:nvPicPr>
          <p:cNvPr id="174" name="Google Shape;174;p23"/>
          <p:cNvPicPr preferRelativeResize="0"/>
          <p:nvPr/>
        </p:nvPicPr>
        <p:blipFill>
          <a:blip r:embed="rId4">
            <a:alphaModFix/>
          </a:blip>
          <a:stretch>
            <a:fillRect/>
          </a:stretch>
        </p:blipFill>
        <p:spPr>
          <a:xfrm>
            <a:off x="6052875" y="3814726"/>
            <a:ext cx="2787976" cy="1086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4"/>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000000"/>
              </a:buClr>
              <a:buSzPts val="3200"/>
              <a:buFont typeface="Helvetica Neue"/>
              <a:buNone/>
            </a:pPr>
            <a:r>
              <a:rPr b="1" lang="es" sz="2500">
                <a:solidFill>
                  <a:schemeClr val="dk1"/>
                </a:solidFill>
              </a:rPr>
              <a:t>Benchmark</a:t>
            </a:r>
            <a:endParaRPr b="1" sz="2500">
              <a:solidFill>
                <a:schemeClr val="dk1"/>
              </a:solidFill>
            </a:endParaRPr>
          </a:p>
        </p:txBody>
      </p:sp>
      <p:sp>
        <p:nvSpPr>
          <p:cNvPr id="180" name="Google Shape;180;p24"/>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lnSpcReduction="10000"/>
          </a:bodyPr>
          <a:lstStyle/>
          <a:p>
            <a:pPr indent="0" lvl="0" marL="0" rtl="0" algn="l">
              <a:lnSpc>
                <a:spcPct val="100000"/>
              </a:lnSpc>
              <a:spcBef>
                <a:spcPts val="0"/>
              </a:spcBef>
              <a:spcAft>
                <a:spcPts val="0"/>
              </a:spcAft>
              <a:buClr>
                <a:srgbClr val="929292"/>
              </a:buClr>
              <a:buSzPts val="2100"/>
              <a:buFont typeface="Helvetica Neue"/>
              <a:buNone/>
            </a:pPr>
            <a:r>
              <a:rPr b="1" lang="es" sz="2100">
                <a:solidFill>
                  <a:srgbClr val="929292"/>
                </a:solidFill>
              </a:rPr>
              <a:t>Datasets</a:t>
            </a:r>
            <a:endParaRPr/>
          </a:p>
        </p:txBody>
      </p:sp>
      <p:pic>
        <p:nvPicPr>
          <p:cNvPr descr="pasted-movie.png" id="181" name="Google Shape;181;p24"/>
          <p:cNvPicPr preferRelativeResize="0"/>
          <p:nvPr/>
        </p:nvPicPr>
        <p:blipFill rotWithShape="1">
          <a:blip r:embed="rId3">
            <a:alphaModFix/>
          </a:blip>
          <a:srcRect b="0" l="0" r="0" t="0"/>
          <a:stretch/>
        </p:blipFill>
        <p:spPr>
          <a:xfrm>
            <a:off x="4718147" y="1656654"/>
            <a:ext cx="4434818" cy="2043281"/>
          </a:xfrm>
          <a:prstGeom prst="rect">
            <a:avLst/>
          </a:prstGeom>
          <a:noFill/>
          <a:ln>
            <a:noFill/>
          </a:ln>
        </p:spPr>
      </p:pic>
      <p:pic>
        <p:nvPicPr>
          <p:cNvPr descr="pasted-movie.png" id="182" name="Google Shape;182;p24"/>
          <p:cNvPicPr preferRelativeResize="0"/>
          <p:nvPr/>
        </p:nvPicPr>
        <p:blipFill rotWithShape="1">
          <a:blip r:embed="rId4">
            <a:alphaModFix/>
          </a:blip>
          <a:srcRect b="0" l="0" r="0" t="0"/>
          <a:stretch/>
        </p:blipFill>
        <p:spPr>
          <a:xfrm>
            <a:off x="114133" y="1640874"/>
            <a:ext cx="4506078" cy="2074842"/>
          </a:xfrm>
          <a:prstGeom prst="rect">
            <a:avLst/>
          </a:prstGeom>
          <a:noFill/>
          <a:ln>
            <a:noFill/>
          </a:ln>
        </p:spPr>
      </p:pic>
      <p:sp>
        <p:nvSpPr>
          <p:cNvPr id="183" name="Google Shape;183;p24"/>
          <p:cNvSpPr txBox="1"/>
          <p:nvPr/>
        </p:nvSpPr>
        <p:spPr>
          <a:xfrm>
            <a:off x="6227428" y="3839142"/>
            <a:ext cx="1816500" cy="2877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929292"/>
              </a:buClr>
              <a:buSzPts val="1800"/>
              <a:buFont typeface="Helvetica Neue"/>
              <a:buNone/>
            </a:pPr>
            <a:r>
              <a:rPr b="1" i="0" lang="es" sz="1800" u="none" cap="none" strike="noStrike">
                <a:solidFill>
                  <a:srgbClr val="929292"/>
                </a:solidFill>
                <a:latin typeface="Helvetica Neue"/>
                <a:ea typeface="Helvetica Neue"/>
                <a:cs typeface="Helvetica Neue"/>
                <a:sym typeface="Helvetica Neue"/>
              </a:rPr>
              <a:t>3 x Real Dataset</a:t>
            </a:r>
            <a:endParaRPr sz="500"/>
          </a:p>
        </p:txBody>
      </p:sp>
      <p:sp>
        <p:nvSpPr>
          <p:cNvPr id="184" name="Google Shape;184;p24"/>
          <p:cNvSpPr txBox="1"/>
          <p:nvPr/>
        </p:nvSpPr>
        <p:spPr>
          <a:xfrm>
            <a:off x="1382372" y="3839142"/>
            <a:ext cx="2421600" cy="2877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929292"/>
              </a:buClr>
              <a:buSzPts val="1800"/>
              <a:buFont typeface="Helvetica Neue"/>
              <a:buNone/>
            </a:pPr>
            <a:r>
              <a:rPr b="1" i="0" lang="es" sz="1800" u="none" cap="none" strike="noStrike">
                <a:solidFill>
                  <a:srgbClr val="929292"/>
                </a:solidFill>
                <a:latin typeface="Helvetica Neue"/>
                <a:ea typeface="Helvetica Neue"/>
                <a:cs typeface="Helvetica Neue"/>
                <a:sym typeface="Helvetica Neue"/>
              </a:rPr>
              <a:t>2 x Simulated Dataset</a:t>
            </a:r>
            <a:endParaRPr sz="500"/>
          </a:p>
        </p:txBody>
      </p:sp>
      <p:sp>
        <p:nvSpPr>
          <p:cNvPr id="185" name="Google Shape;185;p24"/>
          <p:cNvSpPr/>
          <p:nvPr/>
        </p:nvSpPr>
        <p:spPr>
          <a:xfrm>
            <a:off x="930299" y="3718455"/>
            <a:ext cx="367430" cy="549072"/>
          </a:xfrm>
          <a:custGeom>
            <a:rect b="b" l="l" r="r" t="t"/>
            <a:pathLst>
              <a:path extrusionOk="0" h="21600" w="21547">
                <a:moveTo>
                  <a:pt x="7636" y="0"/>
                </a:moveTo>
                <a:cubicBezTo>
                  <a:pt x="7308" y="0"/>
                  <a:pt x="7042" y="178"/>
                  <a:pt x="7042" y="398"/>
                </a:cubicBezTo>
                <a:lnTo>
                  <a:pt x="7042" y="1269"/>
                </a:lnTo>
                <a:cubicBezTo>
                  <a:pt x="7042" y="1360"/>
                  <a:pt x="6932" y="1434"/>
                  <a:pt x="6796" y="1434"/>
                </a:cubicBezTo>
                <a:lnTo>
                  <a:pt x="6444" y="1434"/>
                </a:lnTo>
                <a:cubicBezTo>
                  <a:pt x="6308" y="1434"/>
                  <a:pt x="6197" y="1509"/>
                  <a:pt x="6197" y="1600"/>
                </a:cubicBezTo>
                <a:lnTo>
                  <a:pt x="6197" y="2450"/>
                </a:lnTo>
                <a:cubicBezTo>
                  <a:pt x="6197" y="2541"/>
                  <a:pt x="6308" y="2614"/>
                  <a:pt x="6444" y="2614"/>
                </a:cubicBezTo>
                <a:lnTo>
                  <a:pt x="6796" y="2614"/>
                </a:lnTo>
                <a:cubicBezTo>
                  <a:pt x="6932" y="2614"/>
                  <a:pt x="7042" y="2688"/>
                  <a:pt x="7042" y="2779"/>
                </a:cubicBezTo>
                <a:lnTo>
                  <a:pt x="7042" y="4048"/>
                </a:lnTo>
                <a:lnTo>
                  <a:pt x="4708" y="4048"/>
                </a:lnTo>
                <a:cubicBezTo>
                  <a:pt x="4373" y="4048"/>
                  <a:pt x="4102" y="4230"/>
                  <a:pt x="4102" y="4455"/>
                </a:cubicBezTo>
                <a:lnTo>
                  <a:pt x="4102" y="5592"/>
                </a:lnTo>
                <a:lnTo>
                  <a:pt x="3470" y="5592"/>
                </a:lnTo>
                <a:lnTo>
                  <a:pt x="3470" y="5197"/>
                </a:lnTo>
                <a:cubicBezTo>
                  <a:pt x="3470" y="5006"/>
                  <a:pt x="3238" y="4850"/>
                  <a:pt x="2952" y="4850"/>
                </a:cubicBezTo>
                <a:lnTo>
                  <a:pt x="575" y="4850"/>
                </a:lnTo>
                <a:cubicBezTo>
                  <a:pt x="289" y="4850"/>
                  <a:pt x="57" y="5006"/>
                  <a:pt x="57" y="5197"/>
                </a:cubicBezTo>
                <a:lnTo>
                  <a:pt x="57" y="9364"/>
                </a:lnTo>
                <a:cubicBezTo>
                  <a:pt x="57" y="9530"/>
                  <a:pt x="233" y="9669"/>
                  <a:pt x="464" y="9703"/>
                </a:cubicBezTo>
                <a:lnTo>
                  <a:pt x="464" y="10395"/>
                </a:lnTo>
                <a:cubicBezTo>
                  <a:pt x="233" y="10429"/>
                  <a:pt x="57" y="10568"/>
                  <a:pt x="57" y="10734"/>
                </a:cubicBezTo>
                <a:lnTo>
                  <a:pt x="57" y="13326"/>
                </a:lnTo>
                <a:cubicBezTo>
                  <a:pt x="57" y="13518"/>
                  <a:pt x="290" y="13672"/>
                  <a:pt x="575" y="13672"/>
                </a:cubicBezTo>
                <a:lnTo>
                  <a:pt x="771" y="13672"/>
                </a:lnTo>
                <a:lnTo>
                  <a:pt x="117" y="14205"/>
                </a:lnTo>
                <a:cubicBezTo>
                  <a:pt x="10" y="14293"/>
                  <a:pt x="-27" y="14412"/>
                  <a:pt x="19" y="14521"/>
                </a:cubicBezTo>
                <a:lnTo>
                  <a:pt x="480" y="15614"/>
                </a:lnTo>
                <a:cubicBezTo>
                  <a:pt x="506" y="15676"/>
                  <a:pt x="590" y="15719"/>
                  <a:pt x="686" y="15719"/>
                </a:cubicBezTo>
                <a:lnTo>
                  <a:pt x="1020" y="15719"/>
                </a:lnTo>
                <a:cubicBezTo>
                  <a:pt x="1138" y="15719"/>
                  <a:pt x="1234" y="15655"/>
                  <a:pt x="1234" y="15576"/>
                </a:cubicBezTo>
                <a:lnTo>
                  <a:pt x="1234" y="14788"/>
                </a:lnTo>
                <a:cubicBezTo>
                  <a:pt x="1234" y="14591"/>
                  <a:pt x="1472" y="14431"/>
                  <a:pt x="1765" y="14431"/>
                </a:cubicBezTo>
                <a:cubicBezTo>
                  <a:pt x="2058" y="14431"/>
                  <a:pt x="2293" y="14591"/>
                  <a:pt x="2293" y="14788"/>
                </a:cubicBezTo>
                <a:lnTo>
                  <a:pt x="2293" y="15576"/>
                </a:lnTo>
                <a:cubicBezTo>
                  <a:pt x="2293" y="15655"/>
                  <a:pt x="2389" y="15719"/>
                  <a:pt x="2507" y="15719"/>
                </a:cubicBezTo>
                <a:lnTo>
                  <a:pt x="2842" y="15719"/>
                </a:lnTo>
                <a:cubicBezTo>
                  <a:pt x="2937" y="15719"/>
                  <a:pt x="3022" y="15676"/>
                  <a:pt x="3048" y="15614"/>
                </a:cubicBezTo>
                <a:lnTo>
                  <a:pt x="3508" y="14521"/>
                </a:lnTo>
                <a:cubicBezTo>
                  <a:pt x="3554" y="14412"/>
                  <a:pt x="3518" y="14293"/>
                  <a:pt x="3410" y="14205"/>
                </a:cubicBezTo>
                <a:lnTo>
                  <a:pt x="2756" y="13672"/>
                </a:lnTo>
                <a:lnTo>
                  <a:pt x="2952" y="13672"/>
                </a:lnTo>
                <a:cubicBezTo>
                  <a:pt x="3238" y="13672"/>
                  <a:pt x="3470" y="13518"/>
                  <a:pt x="3470" y="13326"/>
                </a:cubicBezTo>
                <a:lnTo>
                  <a:pt x="3470" y="10734"/>
                </a:lnTo>
                <a:cubicBezTo>
                  <a:pt x="3470" y="10568"/>
                  <a:pt x="3297" y="10429"/>
                  <a:pt x="3065" y="10395"/>
                </a:cubicBezTo>
                <a:lnTo>
                  <a:pt x="3065" y="9703"/>
                </a:lnTo>
                <a:cubicBezTo>
                  <a:pt x="3297" y="9669"/>
                  <a:pt x="3470" y="9530"/>
                  <a:pt x="3470" y="9364"/>
                </a:cubicBezTo>
                <a:lnTo>
                  <a:pt x="3470" y="7843"/>
                </a:lnTo>
                <a:lnTo>
                  <a:pt x="4102" y="7843"/>
                </a:lnTo>
                <a:lnTo>
                  <a:pt x="4102" y="13265"/>
                </a:lnTo>
                <a:cubicBezTo>
                  <a:pt x="4102" y="13490"/>
                  <a:pt x="4373" y="13672"/>
                  <a:pt x="4708" y="13672"/>
                </a:cubicBezTo>
                <a:lnTo>
                  <a:pt x="5367" y="13672"/>
                </a:lnTo>
                <a:lnTo>
                  <a:pt x="5367" y="19636"/>
                </a:lnTo>
                <a:cubicBezTo>
                  <a:pt x="5367" y="19764"/>
                  <a:pt x="5302" y="19890"/>
                  <a:pt x="5186" y="19992"/>
                </a:cubicBezTo>
                <a:lnTo>
                  <a:pt x="4326" y="20751"/>
                </a:lnTo>
                <a:cubicBezTo>
                  <a:pt x="4210" y="20853"/>
                  <a:pt x="4145" y="20979"/>
                  <a:pt x="4145" y="21107"/>
                </a:cubicBezTo>
                <a:lnTo>
                  <a:pt x="4145" y="21327"/>
                </a:lnTo>
                <a:cubicBezTo>
                  <a:pt x="4145" y="21477"/>
                  <a:pt x="4328" y="21600"/>
                  <a:pt x="4552" y="21600"/>
                </a:cubicBezTo>
                <a:lnTo>
                  <a:pt x="9040" y="21600"/>
                </a:lnTo>
                <a:cubicBezTo>
                  <a:pt x="9264" y="21600"/>
                  <a:pt x="9447" y="21477"/>
                  <a:pt x="9447" y="21327"/>
                </a:cubicBezTo>
                <a:lnTo>
                  <a:pt x="9447" y="13672"/>
                </a:lnTo>
                <a:lnTo>
                  <a:pt x="12099" y="13672"/>
                </a:lnTo>
                <a:lnTo>
                  <a:pt x="12099" y="21327"/>
                </a:lnTo>
                <a:cubicBezTo>
                  <a:pt x="12099" y="21477"/>
                  <a:pt x="12282" y="21600"/>
                  <a:pt x="12506" y="21600"/>
                </a:cubicBezTo>
                <a:lnTo>
                  <a:pt x="16994" y="21600"/>
                </a:lnTo>
                <a:cubicBezTo>
                  <a:pt x="17218" y="21600"/>
                  <a:pt x="17399" y="21477"/>
                  <a:pt x="17399" y="21327"/>
                </a:cubicBezTo>
                <a:lnTo>
                  <a:pt x="17399" y="21107"/>
                </a:lnTo>
                <a:cubicBezTo>
                  <a:pt x="17399" y="20979"/>
                  <a:pt x="17336" y="20853"/>
                  <a:pt x="17220" y="20751"/>
                </a:cubicBezTo>
                <a:lnTo>
                  <a:pt x="16357" y="19992"/>
                </a:lnTo>
                <a:cubicBezTo>
                  <a:pt x="16241" y="19890"/>
                  <a:pt x="16179" y="19764"/>
                  <a:pt x="16179" y="19636"/>
                </a:cubicBezTo>
                <a:lnTo>
                  <a:pt x="16179" y="13672"/>
                </a:lnTo>
                <a:lnTo>
                  <a:pt x="16838" y="13672"/>
                </a:lnTo>
                <a:cubicBezTo>
                  <a:pt x="17173" y="13672"/>
                  <a:pt x="17444" y="13490"/>
                  <a:pt x="17444" y="13265"/>
                </a:cubicBezTo>
                <a:lnTo>
                  <a:pt x="17444" y="7843"/>
                </a:lnTo>
                <a:lnTo>
                  <a:pt x="18075" y="7843"/>
                </a:lnTo>
                <a:lnTo>
                  <a:pt x="18075" y="9364"/>
                </a:lnTo>
                <a:cubicBezTo>
                  <a:pt x="18075" y="9530"/>
                  <a:pt x="18249" y="9669"/>
                  <a:pt x="18480" y="9703"/>
                </a:cubicBezTo>
                <a:lnTo>
                  <a:pt x="18480" y="10395"/>
                </a:lnTo>
                <a:cubicBezTo>
                  <a:pt x="18249" y="10429"/>
                  <a:pt x="18075" y="10568"/>
                  <a:pt x="18075" y="10734"/>
                </a:cubicBezTo>
                <a:lnTo>
                  <a:pt x="18075" y="13326"/>
                </a:lnTo>
                <a:cubicBezTo>
                  <a:pt x="18075" y="13518"/>
                  <a:pt x="18308" y="13672"/>
                  <a:pt x="18594" y="13672"/>
                </a:cubicBezTo>
                <a:lnTo>
                  <a:pt x="18790" y="13672"/>
                </a:lnTo>
                <a:lnTo>
                  <a:pt x="18136" y="14205"/>
                </a:lnTo>
                <a:cubicBezTo>
                  <a:pt x="18028" y="14293"/>
                  <a:pt x="17991" y="14412"/>
                  <a:pt x="18038" y="14521"/>
                </a:cubicBezTo>
                <a:lnTo>
                  <a:pt x="18498" y="15614"/>
                </a:lnTo>
                <a:cubicBezTo>
                  <a:pt x="18524" y="15676"/>
                  <a:pt x="18609" y="15719"/>
                  <a:pt x="18704" y="15719"/>
                </a:cubicBezTo>
                <a:lnTo>
                  <a:pt x="19039" y="15719"/>
                </a:lnTo>
                <a:cubicBezTo>
                  <a:pt x="19157" y="15719"/>
                  <a:pt x="19250" y="15655"/>
                  <a:pt x="19250" y="15576"/>
                </a:cubicBezTo>
                <a:lnTo>
                  <a:pt x="19250" y="14788"/>
                </a:lnTo>
                <a:cubicBezTo>
                  <a:pt x="19250" y="14591"/>
                  <a:pt x="19488" y="14431"/>
                  <a:pt x="19781" y="14431"/>
                </a:cubicBezTo>
                <a:cubicBezTo>
                  <a:pt x="20074" y="14431"/>
                  <a:pt x="20312" y="14591"/>
                  <a:pt x="20312" y="14788"/>
                </a:cubicBezTo>
                <a:lnTo>
                  <a:pt x="20312" y="15576"/>
                </a:lnTo>
                <a:cubicBezTo>
                  <a:pt x="20312" y="15655"/>
                  <a:pt x="20408" y="15719"/>
                  <a:pt x="20525" y="15719"/>
                </a:cubicBezTo>
                <a:lnTo>
                  <a:pt x="20860" y="15719"/>
                </a:lnTo>
                <a:cubicBezTo>
                  <a:pt x="20955" y="15719"/>
                  <a:pt x="21038" y="15676"/>
                  <a:pt x="21064" y="15614"/>
                </a:cubicBezTo>
                <a:lnTo>
                  <a:pt x="21527" y="14521"/>
                </a:lnTo>
                <a:cubicBezTo>
                  <a:pt x="21573" y="14412"/>
                  <a:pt x="21536" y="14293"/>
                  <a:pt x="21429" y="14205"/>
                </a:cubicBezTo>
                <a:lnTo>
                  <a:pt x="20775" y="13672"/>
                </a:lnTo>
                <a:lnTo>
                  <a:pt x="20971" y="13672"/>
                </a:lnTo>
                <a:cubicBezTo>
                  <a:pt x="21256" y="13672"/>
                  <a:pt x="21489" y="13518"/>
                  <a:pt x="21489" y="13326"/>
                </a:cubicBezTo>
                <a:lnTo>
                  <a:pt x="21489" y="10734"/>
                </a:lnTo>
                <a:cubicBezTo>
                  <a:pt x="21489" y="10568"/>
                  <a:pt x="21313" y="10429"/>
                  <a:pt x="21081" y="10395"/>
                </a:cubicBezTo>
                <a:lnTo>
                  <a:pt x="21081" y="9703"/>
                </a:lnTo>
                <a:cubicBezTo>
                  <a:pt x="21313" y="9669"/>
                  <a:pt x="21489" y="9530"/>
                  <a:pt x="21489" y="9364"/>
                </a:cubicBezTo>
                <a:lnTo>
                  <a:pt x="21489" y="5197"/>
                </a:lnTo>
                <a:cubicBezTo>
                  <a:pt x="21489" y="5006"/>
                  <a:pt x="21256" y="4850"/>
                  <a:pt x="20971" y="4850"/>
                </a:cubicBezTo>
                <a:lnTo>
                  <a:pt x="18594" y="4850"/>
                </a:lnTo>
                <a:cubicBezTo>
                  <a:pt x="18308" y="4850"/>
                  <a:pt x="18075" y="5006"/>
                  <a:pt x="18075" y="5197"/>
                </a:cubicBezTo>
                <a:lnTo>
                  <a:pt x="18075" y="5592"/>
                </a:lnTo>
                <a:lnTo>
                  <a:pt x="17444" y="5592"/>
                </a:lnTo>
                <a:lnTo>
                  <a:pt x="17444" y="4455"/>
                </a:lnTo>
                <a:cubicBezTo>
                  <a:pt x="17444" y="4230"/>
                  <a:pt x="17173" y="4048"/>
                  <a:pt x="16838" y="4048"/>
                </a:cubicBezTo>
                <a:lnTo>
                  <a:pt x="14503" y="4048"/>
                </a:lnTo>
                <a:lnTo>
                  <a:pt x="14503" y="2779"/>
                </a:lnTo>
                <a:cubicBezTo>
                  <a:pt x="14503" y="2688"/>
                  <a:pt x="14614" y="2614"/>
                  <a:pt x="14750" y="2614"/>
                </a:cubicBezTo>
                <a:lnTo>
                  <a:pt x="15102" y="2614"/>
                </a:lnTo>
                <a:cubicBezTo>
                  <a:pt x="15238" y="2614"/>
                  <a:pt x="15349" y="2541"/>
                  <a:pt x="15349" y="2450"/>
                </a:cubicBezTo>
                <a:lnTo>
                  <a:pt x="15349" y="1600"/>
                </a:lnTo>
                <a:cubicBezTo>
                  <a:pt x="15349" y="1509"/>
                  <a:pt x="15238" y="1434"/>
                  <a:pt x="15102" y="1434"/>
                </a:cubicBezTo>
                <a:lnTo>
                  <a:pt x="14750" y="1434"/>
                </a:lnTo>
                <a:cubicBezTo>
                  <a:pt x="14614" y="1434"/>
                  <a:pt x="14503" y="1360"/>
                  <a:pt x="14503" y="1269"/>
                </a:cubicBezTo>
                <a:lnTo>
                  <a:pt x="14503" y="398"/>
                </a:lnTo>
                <a:cubicBezTo>
                  <a:pt x="14503" y="178"/>
                  <a:pt x="14238" y="0"/>
                  <a:pt x="13910" y="0"/>
                </a:cubicBezTo>
                <a:lnTo>
                  <a:pt x="7636" y="0"/>
                </a:lnTo>
                <a:close/>
                <a:moveTo>
                  <a:pt x="9228" y="1434"/>
                </a:moveTo>
                <a:cubicBezTo>
                  <a:pt x="9713" y="1434"/>
                  <a:pt x="10106" y="1700"/>
                  <a:pt x="10106" y="2025"/>
                </a:cubicBezTo>
                <a:cubicBezTo>
                  <a:pt x="10106" y="2350"/>
                  <a:pt x="9713" y="2614"/>
                  <a:pt x="9228" y="2614"/>
                </a:cubicBezTo>
                <a:cubicBezTo>
                  <a:pt x="8743" y="2614"/>
                  <a:pt x="8351" y="2350"/>
                  <a:pt x="8351" y="2025"/>
                </a:cubicBezTo>
                <a:cubicBezTo>
                  <a:pt x="8351" y="1700"/>
                  <a:pt x="8743" y="1434"/>
                  <a:pt x="9228" y="1434"/>
                </a:cubicBezTo>
                <a:close/>
                <a:moveTo>
                  <a:pt x="12317" y="1434"/>
                </a:moveTo>
                <a:cubicBezTo>
                  <a:pt x="12802" y="1434"/>
                  <a:pt x="13195" y="1700"/>
                  <a:pt x="13195" y="2025"/>
                </a:cubicBezTo>
                <a:cubicBezTo>
                  <a:pt x="13195" y="2350"/>
                  <a:pt x="12802" y="2614"/>
                  <a:pt x="12317" y="2614"/>
                </a:cubicBezTo>
                <a:cubicBezTo>
                  <a:pt x="11832" y="2614"/>
                  <a:pt x="11440" y="2350"/>
                  <a:pt x="11440" y="2025"/>
                </a:cubicBezTo>
                <a:cubicBezTo>
                  <a:pt x="11440" y="1700"/>
                  <a:pt x="11832" y="1434"/>
                  <a:pt x="12317" y="1434"/>
                </a:cubicBezTo>
                <a:close/>
                <a:moveTo>
                  <a:pt x="8091" y="5474"/>
                </a:moveTo>
                <a:lnTo>
                  <a:pt x="13454" y="5474"/>
                </a:lnTo>
                <a:lnTo>
                  <a:pt x="13454" y="7795"/>
                </a:lnTo>
                <a:lnTo>
                  <a:pt x="8091" y="7795"/>
                </a:lnTo>
                <a:lnTo>
                  <a:pt x="8091" y="5474"/>
                </a:lnTo>
                <a:close/>
                <a:moveTo>
                  <a:pt x="8688" y="8716"/>
                </a:moveTo>
                <a:cubicBezTo>
                  <a:pt x="9016" y="8716"/>
                  <a:pt x="9281" y="8895"/>
                  <a:pt x="9281" y="9116"/>
                </a:cubicBezTo>
                <a:cubicBezTo>
                  <a:pt x="9281" y="9336"/>
                  <a:pt x="9016" y="9514"/>
                  <a:pt x="8688" y="9514"/>
                </a:cubicBezTo>
                <a:cubicBezTo>
                  <a:pt x="8359" y="9514"/>
                  <a:pt x="8091" y="9336"/>
                  <a:pt x="8091" y="9116"/>
                </a:cubicBezTo>
                <a:cubicBezTo>
                  <a:pt x="8091" y="8895"/>
                  <a:pt x="8359" y="8716"/>
                  <a:pt x="8688" y="8716"/>
                </a:cubicBezTo>
                <a:close/>
                <a:moveTo>
                  <a:pt x="10773" y="8716"/>
                </a:moveTo>
                <a:cubicBezTo>
                  <a:pt x="11102" y="8716"/>
                  <a:pt x="11369" y="8895"/>
                  <a:pt x="11369" y="9116"/>
                </a:cubicBezTo>
                <a:cubicBezTo>
                  <a:pt x="11369" y="9336"/>
                  <a:pt x="11102" y="9514"/>
                  <a:pt x="10773" y="9514"/>
                </a:cubicBezTo>
                <a:cubicBezTo>
                  <a:pt x="10444" y="9514"/>
                  <a:pt x="10177" y="9336"/>
                  <a:pt x="10177" y="9116"/>
                </a:cubicBezTo>
                <a:cubicBezTo>
                  <a:pt x="10177" y="8895"/>
                  <a:pt x="10444" y="8716"/>
                  <a:pt x="10773" y="8716"/>
                </a:cubicBezTo>
                <a:close/>
                <a:moveTo>
                  <a:pt x="12858" y="8716"/>
                </a:moveTo>
                <a:cubicBezTo>
                  <a:pt x="13187" y="8716"/>
                  <a:pt x="13454" y="8895"/>
                  <a:pt x="13454" y="9116"/>
                </a:cubicBezTo>
                <a:cubicBezTo>
                  <a:pt x="13454" y="9336"/>
                  <a:pt x="13187" y="9514"/>
                  <a:pt x="12858" y="9514"/>
                </a:cubicBezTo>
                <a:cubicBezTo>
                  <a:pt x="12530" y="9514"/>
                  <a:pt x="12265" y="9336"/>
                  <a:pt x="12265" y="9116"/>
                </a:cubicBezTo>
                <a:cubicBezTo>
                  <a:pt x="12265" y="8895"/>
                  <a:pt x="12530" y="8716"/>
                  <a:pt x="12858" y="8716"/>
                </a:cubicBezTo>
                <a:close/>
                <a:moveTo>
                  <a:pt x="10773" y="10277"/>
                </a:moveTo>
                <a:cubicBezTo>
                  <a:pt x="11801" y="10277"/>
                  <a:pt x="12768" y="10545"/>
                  <a:pt x="13495" y="11033"/>
                </a:cubicBezTo>
                <a:lnTo>
                  <a:pt x="11917" y="12093"/>
                </a:lnTo>
                <a:cubicBezTo>
                  <a:pt x="11612" y="11888"/>
                  <a:pt x="11205" y="11774"/>
                  <a:pt x="10773" y="11774"/>
                </a:cubicBezTo>
                <a:cubicBezTo>
                  <a:pt x="10341" y="11774"/>
                  <a:pt x="9934" y="11888"/>
                  <a:pt x="9628" y="12093"/>
                </a:cubicBezTo>
                <a:lnTo>
                  <a:pt x="8051" y="11033"/>
                </a:lnTo>
                <a:cubicBezTo>
                  <a:pt x="8778" y="10545"/>
                  <a:pt x="9745" y="10277"/>
                  <a:pt x="10773" y="10277"/>
                </a:cubicBezTo>
                <a:close/>
              </a:path>
            </a:pathLst>
          </a:custGeom>
          <a:solidFill>
            <a:srgbClr val="55BDA2">
              <a:alpha val="7059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186" name="Google Shape;186;p24"/>
          <p:cNvSpPr/>
          <p:nvPr/>
        </p:nvSpPr>
        <p:spPr>
          <a:xfrm>
            <a:off x="5848417" y="3718455"/>
            <a:ext cx="236628" cy="549058"/>
          </a:xfrm>
          <a:custGeom>
            <a:rect b="b" l="l" r="r" t="t"/>
            <a:pathLst>
              <a:path extrusionOk="0" h="21574" w="21600">
                <a:moveTo>
                  <a:pt x="10974" y="1"/>
                </a:moveTo>
                <a:cubicBezTo>
                  <a:pt x="9446" y="-26"/>
                  <a:pt x="8183" y="503"/>
                  <a:pt x="8183" y="1155"/>
                </a:cubicBezTo>
                <a:lnTo>
                  <a:pt x="8183" y="14352"/>
                </a:lnTo>
                <a:cubicBezTo>
                  <a:pt x="8183" y="14465"/>
                  <a:pt x="7968" y="14558"/>
                  <a:pt x="7705" y="14558"/>
                </a:cubicBezTo>
                <a:lnTo>
                  <a:pt x="6668" y="14558"/>
                </a:lnTo>
                <a:cubicBezTo>
                  <a:pt x="5953" y="14558"/>
                  <a:pt x="5376" y="14309"/>
                  <a:pt x="5376" y="14002"/>
                </a:cubicBezTo>
                <a:lnTo>
                  <a:pt x="5376" y="8809"/>
                </a:lnTo>
                <a:cubicBezTo>
                  <a:pt x="5376" y="8156"/>
                  <a:pt x="4124" y="7633"/>
                  <a:pt x="2596" y="7654"/>
                </a:cubicBezTo>
                <a:cubicBezTo>
                  <a:pt x="1130" y="7676"/>
                  <a:pt x="0" y="8210"/>
                  <a:pt x="0" y="8836"/>
                </a:cubicBezTo>
                <a:lnTo>
                  <a:pt x="0" y="14364"/>
                </a:lnTo>
                <a:cubicBezTo>
                  <a:pt x="0" y="15750"/>
                  <a:pt x="2606" y="16872"/>
                  <a:pt x="5826" y="16872"/>
                </a:cubicBezTo>
                <a:lnTo>
                  <a:pt x="7705" y="16872"/>
                </a:lnTo>
                <a:cubicBezTo>
                  <a:pt x="7968" y="16872"/>
                  <a:pt x="8183" y="16962"/>
                  <a:pt x="8183" y="17076"/>
                </a:cubicBezTo>
                <a:lnTo>
                  <a:pt x="8183" y="21380"/>
                </a:lnTo>
                <a:cubicBezTo>
                  <a:pt x="8183" y="21488"/>
                  <a:pt x="8382" y="21574"/>
                  <a:pt x="8633" y="21574"/>
                </a:cubicBezTo>
                <a:lnTo>
                  <a:pt x="13104" y="21574"/>
                </a:lnTo>
                <a:cubicBezTo>
                  <a:pt x="13355" y="21574"/>
                  <a:pt x="13558" y="21488"/>
                  <a:pt x="13558" y="21380"/>
                </a:cubicBezTo>
                <a:lnTo>
                  <a:pt x="13558" y="14050"/>
                </a:lnTo>
                <a:cubicBezTo>
                  <a:pt x="13558" y="13937"/>
                  <a:pt x="13769" y="13845"/>
                  <a:pt x="14032" y="13845"/>
                </a:cubicBezTo>
                <a:lnTo>
                  <a:pt x="15774" y="13845"/>
                </a:lnTo>
                <a:cubicBezTo>
                  <a:pt x="18994" y="13845"/>
                  <a:pt x="21600" y="12723"/>
                  <a:pt x="21600" y="11337"/>
                </a:cubicBezTo>
                <a:lnTo>
                  <a:pt x="21600" y="6694"/>
                </a:lnTo>
                <a:cubicBezTo>
                  <a:pt x="21600" y="6041"/>
                  <a:pt x="20333" y="5519"/>
                  <a:pt x="18805" y="5546"/>
                </a:cubicBezTo>
                <a:cubicBezTo>
                  <a:pt x="17339" y="5567"/>
                  <a:pt x="16213" y="6100"/>
                  <a:pt x="16213" y="6726"/>
                </a:cubicBezTo>
                <a:lnTo>
                  <a:pt x="16213" y="10981"/>
                </a:lnTo>
                <a:cubicBezTo>
                  <a:pt x="16213" y="11289"/>
                  <a:pt x="15635" y="11537"/>
                  <a:pt x="14921" y="11537"/>
                </a:cubicBezTo>
                <a:lnTo>
                  <a:pt x="14032" y="11537"/>
                </a:lnTo>
                <a:cubicBezTo>
                  <a:pt x="13769" y="11537"/>
                  <a:pt x="13558" y="11445"/>
                  <a:pt x="13558" y="11332"/>
                </a:cubicBezTo>
                <a:lnTo>
                  <a:pt x="13558" y="1187"/>
                </a:lnTo>
                <a:cubicBezTo>
                  <a:pt x="13558" y="556"/>
                  <a:pt x="12428" y="23"/>
                  <a:pt x="10974" y="1"/>
                </a:cubicBezTo>
                <a:close/>
              </a:path>
            </a:pathLst>
          </a:custGeom>
          <a:solidFill>
            <a:srgbClr val="D11875">
              <a:alpha val="6118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5"/>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000000"/>
              </a:buClr>
              <a:buSzPts val="3200"/>
              <a:buFont typeface="Helvetica Neue"/>
              <a:buNone/>
            </a:pPr>
            <a:r>
              <a:rPr b="1" lang="es" sz="2500">
                <a:solidFill>
                  <a:srgbClr val="000000"/>
                </a:solidFill>
              </a:rPr>
              <a:t>Benchmark Results</a:t>
            </a:r>
            <a:endParaRPr b="1" sz="2500"/>
          </a:p>
        </p:txBody>
      </p:sp>
      <p:sp>
        <p:nvSpPr>
          <p:cNvPr id="192" name="Google Shape;192;p25"/>
          <p:cNvSpPr/>
          <p:nvPr/>
        </p:nvSpPr>
        <p:spPr>
          <a:xfrm>
            <a:off x="8457874" y="113782"/>
            <a:ext cx="367430" cy="549072"/>
          </a:xfrm>
          <a:custGeom>
            <a:rect b="b" l="l" r="r" t="t"/>
            <a:pathLst>
              <a:path extrusionOk="0" h="21600" w="21547">
                <a:moveTo>
                  <a:pt x="7636" y="0"/>
                </a:moveTo>
                <a:cubicBezTo>
                  <a:pt x="7308" y="0"/>
                  <a:pt x="7042" y="178"/>
                  <a:pt x="7042" y="398"/>
                </a:cubicBezTo>
                <a:lnTo>
                  <a:pt x="7042" y="1269"/>
                </a:lnTo>
                <a:cubicBezTo>
                  <a:pt x="7042" y="1360"/>
                  <a:pt x="6932" y="1434"/>
                  <a:pt x="6796" y="1434"/>
                </a:cubicBezTo>
                <a:lnTo>
                  <a:pt x="6444" y="1434"/>
                </a:lnTo>
                <a:cubicBezTo>
                  <a:pt x="6308" y="1434"/>
                  <a:pt x="6197" y="1509"/>
                  <a:pt x="6197" y="1600"/>
                </a:cubicBezTo>
                <a:lnTo>
                  <a:pt x="6197" y="2450"/>
                </a:lnTo>
                <a:cubicBezTo>
                  <a:pt x="6197" y="2541"/>
                  <a:pt x="6308" y="2614"/>
                  <a:pt x="6444" y="2614"/>
                </a:cubicBezTo>
                <a:lnTo>
                  <a:pt x="6796" y="2614"/>
                </a:lnTo>
                <a:cubicBezTo>
                  <a:pt x="6932" y="2614"/>
                  <a:pt x="7042" y="2688"/>
                  <a:pt x="7042" y="2779"/>
                </a:cubicBezTo>
                <a:lnTo>
                  <a:pt x="7042" y="4048"/>
                </a:lnTo>
                <a:lnTo>
                  <a:pt x="4708" y="4048"/>
                </a:lnTo>
                <a:cubicBezTo>
                  <a:pt x="4373" y="4048"/>
                  <a:pt x="4102" y="4230"/>
                  <a:pt x="4102" y="4455"/>
                </a:cubicBezTo>
                <a:lnTo>
                  <a:pt x="4102" y="5592"/>
                </a:lnTo>
                <a:lnTo>
                  <a:pt x="3470" y="5592"/>
                </a:lnTo>
                <a:lnTo>
                  <a:pt x="3470" y="5197"/>
                </a:lnTo>
                <a:cubicBezTo>
                  <a:pt x="3470" y="5006"/>
                  <a:pt x="3238" y="4850"/>
                  <a:pt x="2952" y="4850"/>
                </a:cubicBezTo>
                <a:lnTo>
                  <a:pt x="575" y="4850"/>
                </a:lnTo>
                <a:cubicBezTo>
                  <a:pt x="289" y="4850"/>
                  <a:pt x="57" y="5006"/>
                  <a:pt x="57" y="5197"/>
                </a:cubicBezTo>
                <a:lnTo>
                  <a:pt x="57" y="9364"/>
                </a:lnTo>
                <a:cubicBezTo>
                  <a:pt x="57" y="9530"/>
                  <a:pt x="233" y="9669"/>
                  <a:pt x="464" y="9703"/>
                </a:cubicBezTo>
                <a:lnTo>
                  <a:pt x="464" y="10395"/>
                </a:lnTo>
                <a:cubicBezTo>
                  <a:pt x="233" y="10429"/>
                  <a:pt x="57" y="10568"/>
                  <a:pt x="57" y="10734"/>
                </a:cubicBezTo>
                <a:lnTo>
                  <a:pt x="57" y="13326"/>
                </a:lnTo>
                <a:cubicBezTo>
                  <a:pt x="57" y="13518"/>
                  <a:pt x="290" y="13672"/>
                  <a:pt x="575" y="13672"/>
                </a:cubicBezTo>
                <a:lnTo>
                  <a:pt x="771" y="13672"/>
                </a:lnTo>
                <a:lnTo>
                  <a:pt x="117" y="14205"/>
                </a:lnTo>
                <a:cubicBezTo>
                  <a:pt x="10" y="14293"/>
                  <a:pt x="-27" y="14412"/>
                  <a:pt x="19" y="14521"/>
                </a:cubicBezTo>
                <a:lnTo>
                  <a:pt x="480" y="15614"/>
                </a:lnTo>
                <a:cubicBezTo>
                  <a:pt x="506" y="15676"/>
                  <a:pt x="590" y="15719"/>
                  <a:pt x="686" y="15719"/>
                </a:cubicBezTo>
                <a:lnTo>
                  <a:pt x="1020" y="15719"/>
                </a:lnTo>
                <a:cubicBezTo>
                  <a:pt x="1138" y="15719"/>
                  <a:pt x="1234" y="15655"/>
                  <a:pt x="1234" y="15576"/>
                </a:cubicBezTo>
                <a:lnTo>
                  <a:pt x="1234" y="14788"/>
                </a:lnTo>
                <a:cubicBezTo>
                  <a:pt x="1234" y="14591"/>
                  <a:pt x="1472" y="14431"/>
                  <a:pt x="1765" y="14431"/>
                </a:cubicBezTo>
                <a:cubicBezTo>
                  <a:pt x="2058" y="14431"/>
                  <a:pt x="2293" y="14591"/>
                  <a:pt x="2293" y="14788"/>
                </a:cubicBezTo>
                <a:lnTo>
                  <a:pt x="2293" y="15576"/>
                </a:lnTo>
                <a:cubicBezTo>
                  <a:pt x="2293" y="15655"/>
                  <a:pt x="2389" y="15719"/>
                  <a:pt x="2507" y="15719"/>
                </a:cubicBezTo>
                <a:lnTo>
                  <a:pt x="2842" y="15719"/>
                </a:lnTo>
                <a:cubicBezTo>
                  <a:pt x="2937" y="15719"/>
                  <a:pt x="3022" y="15676"/>
                  <a:pt x="3048" y="15614"/>
                </a:cubicBezTo>
                <a:lnTo>
                  <a:pt x="3508" y="14521"/>
                </a:lnTo>
                <a:cubicBezTo>
                  <a:pt x="3554" y="14412"/>
                  <a:pt x="3518" y="14293"/>
                  <a:pt x="3410" y="14205"/>
                </a:cubicBezTo>
                <a:lnTo>
                  <a:pt x="2756" y="13672"/>
                </a:lnTo>
                <a:lnTo>
                  <a:pt x="2952" y="13672"/>
                </a:lnTo>
                <a:cubicBezTo>
                  <a:pt x="3238" y="13672"/>
                  <a:pt x="3470" y="13518"/>
                  <a:pt x="3470" y="13326"/>
                </a:cubicBezTo>
                <a:lnTo>
                  <a:pt x="3470" y="10734"/>
                </a:lnTo>
                <a:cubicBezTo>
                  <a:pt x="3470" y="10568"/>
                  <a:pt x="3297" y="10429"/>
                  <a:pt x="3065" y="10395"/>
                </a:cubicBezTo>
                <a:lnTo>
                  <a:pt x="3065" y="9703"/>
                </a:lnTo>
                <a:cubicBezTo>
                  <a:pt x="3297" y="9669"/>
                  <a:pt x="3470" y="9530"/>
                  <a:pt x="3470" y="9364"/>
                </a:cubicBezTo>
                <a:lnTo>
                  <a:pt x="3470" y="7843"/>
                </a:lnTo>
                <a:lnTo>
                  <a:pt x="4102" y="7843"/>
                </a:lnTo>
                <a:lnTo>
                  <a:pt x="4102" y="13265"/>
                </a:lnTo>
                <a:cubicBezTo>
                  <a:pt x="4102" y="13490"/>
                  <a:pt x="4373" y="13672"/>
                  <a:pt x="4708" y="13672"/>
                </a:cubicBezTo>
                <a:lnTo>
                  <a:pt x="5367" y="13672"/>
                </a:lnTo>
                <a:lnTo>
                  <a:pt x="5367" y="19636"/>
                </a:lnTo>
                <a:cubicBezTo>
                  <a:pt x="5367" y="19764"/>
                  <a:pt x="5302" y="19890"/>
                  <a:pt x="5186" y="19992"/>
                </a:cubicBezTo>
                <a:lnTo>
                  <a:pt x="4326" y="20751"/>
                </a:lnTo>
                <a:cubicBezTo>
                  <a:pt x="4210" y="20853"/>
                  <a:pt x="4145" y="20979"/>
                  <a:pt x="4145" y="21107"/>
                </a:cubicBezTo>
                <a:lnTo>
                  <a:pt x="4145" y="21327"/>
                </a:lnTo>
                <a:cubicBezTo>
                  <a:pt x="4145" y="21477"/>
                  <a:pt x="4328" y="21600"/>
                  <a:pt x="4552" y="21600"/>
                </a:cubicBezTo>
                <a:lnTo>
                  <a:pt x="9040" y="21600"/>
                </a:lnTo>
                <a:cubicBezTo>
                  <a:pt x="9264" y="21600"/>
                  <a:pt x="9447" y="21477"/>
                  <a:pt x="9447" y="21327"/>
                </a:cubicBezTo>
                <a:lnTo>
                  <a:pt x="9447" y="13672"/>
                </a:lnTo>
                <a:lnTo>
                  <a:pt x="12099" y="13672"/>
                </a:lnTo>
                <a:lnTo>
                  <a:pt x="12099" y="21327"/>
                </a:lnTo>
                <a:cubicBezTo>
                  <a:pt x="12099" y="21477"/>
                  <a:pt x="12282" y="21600"/>
                  <a:pt x="12506" y="21600"/>
                </a:cubicBezTo>
                <a:lnTo>
                  <a:pt x="16994" y="21600"/>
                </a:lnTo>
                <a:cubicBezTo>
                  <a:pt x="17218" y="21600"/>
                  <a:pt x="17399" y="21477"/>
                  <a:pt x="17399" y="21327"/>
                </a:cubicBezTo>
                <a:lnTo>
                  <a:pt x="17399" y="21107"/>
                </a:lnTo>
                <a:cubicBezTo>
                  <a:pt x="17399" y="20979"/>
                  <a:pt x="17336" y="20853"/>
                  <a:pt x="17220" y="20751"/>
                </a:cubicBezTo>
                <a:lnTo>
                  <a:pt x="16357" y="19992"/>
                </a:lnTo>
                <a:cubicBezTo>
                  <a:pt x="16241" y="19890"/>
                  <a:pt x="16179" y="19764"/>
                  <a:pt x="16179" y="19636"/>
                </a:cubicBezTo>
                <a:lnTo>
                  <a:pt x="16179" y="13672"/>
                </a:lnTo>
                <a:lnTo>
                  <a:pt x="16838" y="13672"/>
                </a:lnTo>
                <a:cubicBezTo>
                  <a:pt x="17173" y="13672"/>
                  <a:pt x="17444" y="13490"/>
                  <a:pt x="17444" y="13265"/>
                </a:cubicBezTo>
                <a:lnTo>
                  <a:pt x="17444" y="7843"/>
                </a:lnTo>
                <a:lnTo>
                  <a:pt x="18075" y="7843"/>
                </a:lnTo>
                <a:lnTo>
                  <a:pt x="18075" y="9364"/>
                </a:lnTo>
                <a:cubicBezTo>
                  <a:pt x="18075" y="9530"/>
                  <a:pt x="18249" y="9669"/>
                  <a:pt x="18480" y="9703"/>
                </a:cubicBezTo>
                <a:lnTo>
                  <a:pt x="18480" y="10395"/>
                </a:lnTo>
                <a:cubicBezTo>
                  <a:pt x="18249" y="10429"/>
                  <a:pt x="18075" y="10568"/>
                  <a:pt x="18075" y="10734"/>
                </a:cubicBezTo>
                <a:lnTo>
                  <a:pt x="18075" y="13326"/>
                </a:lnTo>
                <a:cubicBezTo>
                  <a:pt x="18075" y="13518"/>
                  <a:pt x="18308" y="13672"/>
                  <a:pt x="18594" y="13672"/>
                </a:cubicBezTo>
                <a:lnTo>
                  <a:pt x="18790" y="13672"/>
                </a:lnTo>
                <a:lnTo>
                  <a:pt x="18136" y="14205"/>
                </a:lnTo>
                <a:cubicBezTo>
                  <a:pt x="18028" y="14293"/>
                  <a:pt x="17991" y="14412"/>
                  <a:pt x="18038" y="14521"/>
                </a:cubicBezTo>
                <a:lnTo>
                  <a:pt x="18498" y="15614"/>
                </a:lnTo>
                <a:cubicBezTo>
                  <a:pt x="18524" y="15676"/>
                  <a:pt x="18609" y="15719"/>
                  <a:pt x="18704" y="15719"/>
                </a:cubicBezTo>
                <a:lnTo>
                  <a:pt x="19039" y="15719"/>
                </a:lnTo>
                <a:cubicBezTo>
                  <a:pt x="19157" y="15719"/>
                  <a:pt x="19250" y="15655"/>
                  <a:pt x="19250" y="15576"/>
                </a:cubicBezTo>
                <a:lnTo>
                  <a:pt x="19250" y="14788"/>
                </a:lnTo>
                <a:cubicBezTo>
                  <a:pt x="19250" y="14591"/>
                  <a:pt x="19488" y="14431"/>
                  <a:pt x="19781" y="14431"/>
                </a:cubicBezTo>
                <a:cubicBezTo>
                  <a:pt x="20074" y="14431"/>
                  <a:pt x="20312" y="14591"/>
                  <a:pt x="20312" y="14788"/>
                </a:cubicBezTo>
                <a:lnTo>
                  <a:pt x="20312" y="15576"/>
                </a:lnTo>
                <a:cubicBezTo>
                  <a:pt x="20312" y="15655"/>
                  <a:pt x="20408" y="15719"/>
                  <a:pt x="20525" y="15719"/>
                </a:cubicBezTo>
                <a:lnTo>
                  <a:pt x="20860" y="15719"/>
                </a:lnTo>
                <a:cubicBezTo>
                  <a:pt x="20955" y="15719"/>
                  <a:pt x="21038" y="15676"/>
                  <a:pt x="21064" y="15614"/>
                </a:cubicBezTo>
                <a:lnTo>
                  <a:pt x="21527" y="14521"/>
                </a:lnTo>
                <a:cubicBezTo>
                  <a:pt x="21573" y="14412"/>
                  <a:pt x="21536" y="14293"/>
                  <a:pt x="21429" y="14205"/>
                </a:cubicBezTo>
                <a:lnTo>
                  <a:pt x="20775" y="13672"/>
                </a:lnTo>
                <a:lnTo>
                  <a:pt x="20971" y="13672"/>
                </a:lnTo>
                <a:cubicBezTo>
                  <a:pt x="21256" y="13672"/>
                  <a:pt x="21489" y="13518"/>
                  <a:pt x="21489" y="13326"/>
                </a:cubicBezTo>
                <a:lnTo>
                  <a:pt x="21489" y="10734"/>
                </a:lnTo>
                <a:cubicBezTo>
                  <a:pt x="21489" y="10568"/>
                  <a:pt x="21313" y="10429"/>
                  <a:pt x="21081" y="10395"/>
                </a:cubicBezTo>
                <a:lnTo>
                  <a:pt x="21081" y="9703"/>
                </a:lnTo>
                <a:cubicBezTo>
                  <a:pt x="21313" y="9669"/>
                  <a:pt x="21489" y="9530"/>
                  <a:pt x="21489" y="9364"/>
                </a:cubicBezTo>
                <a:lnTo>
                  <a:pt x="21489" y="5197"/>
                </a:lnTo>
                <a:cubicBezTo>
                  <a:pt x="21489" y="5006"/>
                  <a:pt x="21256" y="4850"/>
                  <a:pt x="20971" y="4850"/>
                </a:cubicBezTo>
                <a:lnTo>
                  <a:pt x="18594" y="4850"/>
                </a:lnTo>
                <a:cubicBezTo>
                  <a:pt x="18308" y="4850"/>
                  <a:pt x="18075" y="5006"/>
                  <a:pt x="18075" y="5197"/>
                </a:cubicBezTo>
                <a:lnTo>
                  <a:pt x="18075" y="5592"/>
                </a:lnTo>
                <a:lnTo>
                  <a:pt x="17444" y="5592"/>
                </a:lnTo>
                <a:lnTo>
                  <a:pt x="17444" y="4455"/>
                </a:lnTo>
                <a:cubicBezTo>
                  <a:pt x="17444" y="4230"/>
                  <a:pt x="17173" y="4048"/>
                  <a:pt x="16838" y="4048"/>
                </a:cubicBezTo>
                <a:lnTo>
                  <a:pt x="14503" y="4048"/>
                </a:lnTo>
                <a:lnTo>
                  <a:pt x="14503" y="2779"/>
                </a:lnTo>
                <a:cubicBezTo>
                  <a:pt x="14503" y="2688"/>
                  <a:pt x="14614" y="2614"/>
                  <a:pt x="14750" y="2614"/>
                </a:cubicBezTo>
                <a:lnTo>
                  <a:pt x="15102" y="2614"/>
                </a:lnTo>
                <a:cubicBezTo>
                  <a:pt x="15238" y="2614"/>
                  <a:pt x="15349" y="2541"/>
                  <a:pt x="15349" y="2450"/>
                </a:cubicBezTo>
                <a:lnTo>
                  <a:pt x="15349" y="1600"/>
                </a:lnTo>
                <a:cubicBezTo>
                  <a:pt x="15349" y="1509"/>
                  <a:pt x="15238" y="1434"/>
                  <a:pt x="15102" y="1434"/>
                </a:cubicBezTo>
                <a:lnTo>
                  <a:pt x="14750" y="1434"/>
                </a:lnTo>
                <a:cubicBezTo>
                  <a:pt x="14614" y="1434"/>
                  <a:pt x="14503" y="1360"/>
                  <a:pt x="14503" y="1269"/>
                </a:cubicBezTo>
                <a:lnTo>
                  <a:pt x="14503" y="398"/>
                </a:lnTo>
                <a:cubicBezTo>
                  <a:pt x="14503" y="178"/>
                  <a:pt x="14238" y="0"/>
                  <a:pt x="13910" y="0"/>
                </a:cubicBezTo>
                <a:lnTo>
                  <a:pt x="7636" y="0"/>
                </a:lnTo>
                <a:close/>
                <a:moveTo>
                  <a:pt x="9228" y="1434"/>
                </a:moveTo>
                <a:cubicBezTo>
                  <a:pt x="9713" y="1434"/>
                  <a:pt x="10106" y="1700"/>
                  <a:pt x="10106" y="2025"/>
                </a:cubicBezTo>
                <a:cubicBezTo>
                  <a:pt x="10106" y="2350"/>
                  <a:pt x="9713" y="2614"/>
                  <a:pt x="9228" y="2614"/>
                </a:cubicBezTo>
                <a:cubicBezTo>
                  <a:pt x="8743" y="2614"/>
                  <a:pt x="8351" y="2350"/>
                  <a:pt x="8351" y="2025"/>
                </a:cubicBezTo>
                <a:cubicBezTo>
                  <a:pt x="8351" y="1700"/>
                  <a:pt x="8743" y="1434"/>
                  <a:pt x="9228" y="1434"/>
                </a:cubicBezTo>
                <a:close/>
                <a:moveTo>
                  <a:pt x="12317" y="1434"/>
                </a:moveTo>
                <a:cubicBezTo>
                  <a:pt x="12802" y="1434"/>
                  <a:pt x="13195" y="1700"/>
                  <a:pt x="13195" y="2025"/>
                </a:cubicBezTo>
                <a:cubicBezTo>
                  <a:pt x="13195" y="2350"/>
                  <a:pt x="12802" y="2614"/>
                  <a:pt x="12317" y="2614"/>
                </a:cubicBezTo>
                <a:cubicBezTo>
                  <a:pt x="11832" y="2614"/>
                  <a:pt x="11440" y="2350"/>
                  <a:pt x="11440" y="2025"/>
                </a:cubicBezTo>
                <a:cubicBezTo>
                  <a:pt x="11440" y="1700"/>
                  <a:pt x="11832" y="1434"/>
                  <a:pt x="12317" y="1434"/>
                </a:cubicBezTo>
                <a:close/>
                <a:moveTo>
                  <a:pt x="8091" y="5474"/>
                </a:moveTo>
                <a:lnTo>
                  <a:pt x="13454" y="5474"/>
                </a:lnTo>
                <a:lnTo>
                  <a:pt x="13454" y="7795"/>
                </a:lnTo>
                <a:lnTo>
                  <a:pt x="8091" y="7795"/>
                </a:lnTo>
                <a:lnTo>
                  <a:pt x="8091" y="5474"/>
                </a:lnTo>
                <a:close/>
                <a:moveTo>
                  <a:pt x="8688" y="8716"/>
                </a:moveTo>
                <a:cubicBezTo>
                  <a:pt x="9016" y="8716"/>
                  <a:pt x="9281" y="8895"/>
                  <a:pt x="9281" y="9116"/>
                </a:cubicBezTo>
                <a:cubicBezTo>
                  <a:pt x="9281" y="9336"/>
                  <a:pt x="9016" y="9514"/>
                  <a:pt x="8688" y="9514"/>
                </a:cubicBezTo>
                <a:cubicBezTo>
                  <a:pt x="8359" y="9514"/>
                  <a:pt x="8091" y="9336"/>
                  <a:pt x="8091" y="9116"/>
                </a:cubicBezTo>
                <a:cubicBezTo>
                  <a:pt x="8091" y="8895"/>
                  <a:pt x="8359" y="8716"/>
                  <a:pt x="8688" y="8716"/>
                </a:cubicBezTo>
                <a:close/>
                <a:moveTo>
                  <a:pt x="10773" y="8716"/>
                </a:moveTo>
                <a:cubicBezTo>
                  <a:pt x="11102" y="8716"/>
                  <a:pt x="11369" y="8895"/>
                  <a:pt x="11369" y="9116"/>
                </a:cubicBezTo>
                <a:cubicBezTo>
                  <a:pt x="11369" y="9336"/>
                  <a:pt x="11102" y="9514"/>
                  <a:pt x="10773" y="9514"/>
                </a:cubicBezTo>
                <a:cubicBezTo>
                  <a:pt x="10444" y="9514"/>
                  <a:pt x="10177" y="9336"/>
                  <a:pt x="10177" y="9116"/>
                </a:cubicBezTo>
                <a:cubicBezTo>
                  <a:pt x="10177" y="8895"/>
                  <a:pt x="10444" y="8716"/>
                  <a:pt x="10773" y="8716"/>
                </a:cubicBezTo>
                <a:close/>
                <a:moveTo>
                  <a:pt x="12858" y="8716"/>
                </a:moveTo>
                <a:cubicBezTo>
                  <a:pt x="13187" y="8716"/>
                  <a:pt x="13454" y="8895"/>
                  <a:pt x="13454" y="9116"/>
                </a:cubicBezTo>
                <a:cubicBezTo>
                  <a:pt x="13454" y="9336"/>
                  <a:pt x="13187" y="9514"/>
                  <a:pt x="12858" y="9514"/>
                </a:cubicBezTo>
                <a:cubicBezTo>
                  <a:pt x="12530" y="9514"/>
                  <a:pt x="12265" y="9336"/>
                  <a:pt x="12265" y="9116"/>
                </a:cubicBezTo>
                <a:cubicBezTo>
                  <a:pt x="12265" y="8895"/>
                  <a:pt x="12530" y="8716"/>
                  <a:pt x="12858" y="8716"/>
                </a:cubicBezTo>
                <a:close/>
                <a:moveTo>
                  <a:pt x="10773" y="10277"/>
                </a:moveTo>
                <a:cubicBezTo>
                  <a:pt x="11801" y="10277"/>
                  <a:pt x="12768" y="10545"/>
                  <a:pt x="13495" y="11033"/>
                </a:cubicBezTo>
                <a:lnTo>
                  <a:pt x="11917" y="12093"/>
                </a:lnTo>
                <a:cubicBezTo>
                  <a:pt x="11612" y="11888"/>
                  <a:pt x="11205" y="11774"/>
                  <a:pt x="10773" y="11774"/>
                </a:cubicBezTo>
                <a:cubicBezTo>
                  <a:pt x="10341" y="11774"/>
                  <a:pt x="9934" y="11888"/>
                  <a:pt x="9628" y="12093"/>
                </a:cubicBezTo>
                <a:lnTo>
                  <a:pt x="8051" y="11033"/>
                </a:lnTo>
                <a:cubicBezTo>
                  <a:pt x="8778" y="10545"/>
                  <a:pt x="9745" y="10277"/>
                  <a:pt x="10773" y="10277"/>
                </a:cubicBezTo>
                <a:close/>
              </a:path>
            </a:pathLst>
          </a:custGeom>
          <a:solidFill>
            <a:srgbClr val="55BDA2">
              <a:alpha val="7059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pic>
        <p:nvPicPr>
          <p:cNvPr descr="image (4).png" id="193" name="Google Shape;193;p25"/>
          <p:cNvPicPr preferRelativeResize="0"/>
          <p:nvPr/>
        </p:nvPicPr>
        <p:blipFill rotWithShape="1">
          <a:blip r:embed="rId3">
            <a:alphaModFix/>
          </a:blip>
          <a:srcRect b="0" l="0" r="44429" t="0"/>
          <a:stretch/>
        </p:blipFill>
        <p:spPr>
          <a:xfrm>
            <a:off x="2031281" y="879974"/>
            <a:ext cx="5081497" cy="4267475"/>
          </a:xfrm>
          <a:prstGeom prst="rect">
            <a:avLst/>
          </a:prstGeom>
          <a:noFill/>
          <a:ln>
            <a:noFill/>
          </a:ln>
        </p:spPr>
      </p:pic>
      <p:sp>
        <p:nvSpPr>
          <p:cNvPr id="194" name="Google Shape;194;p25"/>
          <p:cNvSpPr/>
          <p:nvPr/>
        </p:nvSpPr>
        <p:spPr>
          <a:xfrm>
            <a:off x="946732" y="1928872"/>
            <a:ext cx="126000" cy="126000"/>
          </a:xfrm>
          <a:prstGeom prst="ellipse">
            <a:avLst/>
          </a:prstGeom>
          <a:solidFill>
            <a:srgbClr val="87D0B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195" name="Google Shape;195;p25"/>
          <p:cNvSpPr/>
          <p:nvPr/>
        </p:nvSpPr>
        <p:spPr>
          <a:xfrm>
            <a:off x="1159760" y="1822358"/>
            <a:ext cx="126000" cy="126000"/>
          </a:xfrm>
          <a:prstGeom prst="rect">
            <a:avLst/>
          </a:prstGeom>
          <a:solidFill>
            <a:srgbClr val="649C8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196" name="Google Shape;196;p25"/>
          <p:cNvSpPr/>
          <p:nvPr/>
        </p:nvSpPr>
        <p:spPr>
          <a:xfrm>
            <a:off x="1164779" y="1987148"/>
            <a:ext cx="126000" cy="126000"/>
          </a:xfrm>
          <a:prstGeom prst="ellipse">
            <a:avLst/>
          </a:prstGeom>
          <a:solidFill>
            <a:srgbClr val="649C8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197" name="Google Shape;197;p25"/>
          <p:cNvSpPr/>
          <p:nvPr/>
        </p:nvSpPr>
        <p:spPr>
          <a:xfrm>
            <a:off x="1345853" y="1763469"/>
            <a:ext cx="126000" cy="126000"/>
          </a:xfrm>
          <a:prstGeom prst="rect">
            <a:avLst/>
          </a:prstGeom>
          <a:solidFill>
            <a:srgbClr val="649C8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198" name="Google Shape;198;p25"/>
          <p:cNvSpPr/>
          <p:nvPr/>
        </p:nvSpPr>
        <p:spPr>
          <a:xfrm>
            <a:off x="887843" y="1758519"/>
            <a:ext cx="126000" cy="126000"/>
          </a:xfrm>
          <a:prstGeom prst="ellipse">
            <a:avLst/>
          </a:prstGeom>
          <a:solidFill>
            <a:srgbClr val="87D0B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199" name="Google Shape;199;p25"/>
          <p:cNvSpPr/>
          <p:nvPr/>
        </p:nvSpPr>
        <p:spPr>
          <a:xfrm>
            <a:off x="770678" y="1950244"/>
            <a:ext cx="126000" cy="126000"/>
          </a:xfrm>
          <a:prstGeom prst="rect">
            <a:avLst/>
          </a:prstGeom>
          <a:solidFill>
            <a:srgbClr val="87D0B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00" name="Google Shape;200;p25"/>
          <p:cNvSpPr/>
          <p:nvPr/>
        </p:nvSpPr>
        <p:spPr>
          <a:xfrm>
            <a:off x="1169799" y="1652005"/>
            <a:ext cx="126000" cy="126000"/>
          </a:xfrm>
          <a:prstGeom prst="ellipse">
            <a:avLst/>
          </a:prstGeom>
          <a:solidFill>
            <a:srgbClr val="649C8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01" name="Google Shape;201;p25"/>
          <p:cNvSpPr/>
          <p:nvPr/>
        </p:nvSpPr>
        <p:spPr>
          <a:xfrm>
            <a:off x="988725" y="1549337"/>
            <a:ext cx="126000" cy="126000"/>
          </a:xfrm>
          <a:prstGeom prst="rect">
            <a:avLst/>
          </a:prstGeom>
          <a:solidFill>
            <a:srgbClr val="87D0B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02" name="Google Shape;202;p25"/>
          <p:cNvSpPr/>
          <p:nvPr/>
        </p:nvSpPr>
        <p:spPr>
          <a:xfrm>
            <a:off x="1345853" y="1928872"/>
            <a:ext cx="126000" cy="126000"/>
          </a:xfrm>
          <a:prstGeom prst="ellipse">
            <a:avLst/>
          </a:prstGeom>
          <a:solidFill>
            <a:srgbClr val="649C8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03" name="Google Shape;203;p25"/>
          <p:cNvSpPr/>
          <p:nvPr/>
        </p:nvSpPr>
        <p:spPr>
          <a:xfrm>
            <a:off x="770678" y="1652005"/>
            <a:ext cx="126000" cy="126000"/>
          </a:xfrm>
          <a:prstGeom prst="rect">
            <a:avLst/>
          </a:prstGeom>
          <a:solidFill>
            <a:srgbClr val="87D0B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04" name="Google Shape;204;p25"/>
          <p:cNvSpPr/>
          <p:nvPr/>
        </p:nvSpPr>
        <p:spPr>
          <a:xfrm>
            <a:off x="1083291" y="4141546"/>
            <a:ext cx="126000" cy="126000"/>
          </a:xfrm>
          <a:prstGeom prst="ellipse">
            <a:avLst/>
          </a:prstGeom>
          <a:solidFill>
            <a:srgbClr val="87D0B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05" name="Google Shape;205;p25"/>
          <p:cNvSpPr/>
          <p:nvPr/>
        </p:nvSpPr>
        <p:spPr>
          <a:xfrm>
            <a:off x="1345853" y="3569256"/>
            <a:ext cx="126000" cy="126000"/>
          </a:xfrm>
          <a:prstGeom prst="rect">
            <a:avLst/>
          </a:prstGeom>
          <a:solidFill>
            <a:srgbClr val="649C8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06" name="Google Shape;206;p25"/>
          <p:cNvSpPr/>
          <p:nvPr/>
        </p:nvSpPr>
        <p:spPr>
          <a:xfrm>
            <a:off x="1375298" y="4199822"/>
            <a:ext cx="126000" cy="126000"/>
          </a:xfrm>
          <a:prstGeom prst="ellipse">
            <a:avLst/>
          </a:prstGeom>
          <a:solidFill>
            <a:srgbClr val="649C8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07" name="Google Shape;207;p25"/>
          <p:cNvSpPr/>
          <p:nvPr/>
        </p:nvSpPr>
        <p:spPr>
          <a:xfrm>
            <a:off x="1484321" y="3679616"/>
            <a:ext cx="126000" cy="126000"/>
          </a:xfrm>
          <a:prstGeom prst="rect">
            <a:avLst/>
          </a:prstGeom>
          <a:solidFill>
            <a:srgbClr val="649C8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08" name="Google Shape;208;p25"/>
          <p:cNvSpPr/>
          <p:nvPr/>
        </p:nvSpPr>
        <p:spPr>
          <a:xfrm>
            <a:off x="937362" y="4223940"/>
            <a:ext cx="126000" cy="126000"/>
          </a:xfrm>
          <a:prstGeom prst="ellipse">
            <a:avLst/>
          </a:prstGeom>
          <a:solidFill>
            <a:srgbClr val="87D0B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09" name="Google Shape;209;p25"/>
          <p:cNvSpPr/>
          <p:nvPr/>
        </p:nvSpPr>
        <p:spPr>
          <a:xfrm>
            <a:off x="937362" y="3573102"/>
            <a:ext cx="126000" cy="126000"/>
          </a:xfrm>
          <a:prstGeom prst="rect">
            <a:avLst/>
          </a:prstGeom>
          <a:solidFill>
            <a:srgbClr val="87D0B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10" name="Google Shape;210;p25"/>
          <p:cNvSpPr/>
          <p:nvPr/>
        </p:nvSpPr>
        <p:spPr>
          <a:xfrm>
            <a:off x="1593345" y="4306336"/>
            <a:ext cx="126000" cy="126000"/>
          </a:xfrm>
          <a:prstGeom prst="ellipse">
            <a:avLst/>
          </a:prstGeom>
          <a:solidFill>
            <a:srgbClr val="649C8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11" name="Google Shape;211;p25"/>
          <p:cNvSpPr/>
          <p:nvPr/>
        </p:nvSpPr>
        <p:spPr>
          <a:xfrm>
            <a:off x="725615" y="3683461"/>
            <a:ext cx="126000" cy="126000"/>
          </a:xfrm>
          <a:prstGeom prst="rect">
            <a:avLst/>
          </a:prstGeom>
          <a:solidFill>
            <a:srgbClr val="87D0B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12" name="Google Shape;212;p25"/>
          <p:cNvSpPr/>
          <p:nvPr/>
        </p:nvSpPr>
        <p:spPr>
          <a:xfrm>
            <a:off x="1556371" y="4141546"/>
            <a:ext cx="126000" cy="126000"/>
          </a:xfrm>
          <a:prstGeom prst="ellipse">
            <a:avLst/>
          </a:prstGeom>
          <a:solidFill>
            <a:srgbClr val="649C8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13" name="Google Shape;213;p25"/>
          <p:cNvSpPr/>
          <p:nvPr/>
        </p:nvSpPr>
        <p:spPr>
          <a:xfrm>
            <a:off x="937362" y="3786129"/>
            <a:ext cx="126000" cy="126000"/>
          </a:xfrm>
          <a:prstGeom prst="rect">
            <a:avLst/>
          </a:prstGeom>
          <a:solidFill>
            <a:srgbClr val="87D0B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14" name="Google Shape;214;p25"/>
          <p:cNvSpPr/>
          <p:nvPr/>
        </p:nvSpPr>
        <p:spPr>
          <a:xfrm>
            <a:off x="807651" y="1481583"/>
            <a:ext cx="126000" cy="126000"/>
          </a:xfrm>
          <a:prstGeom prst="ellipse">
            <a:avLst/>
          </a:prstGeom>
          <a:solidFill>
            <a:srgbClr val="87D0B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15" name="Google Shape;215;p25"/>
          <p:cNvSpPr/>
          <p:nvPr/>
        </p:nvSpPr>
        <p:spPr>
          <a:xfrm>
            <a:off x="725615" y="4141546"/>
            <a:ext cx="126000" cy="126000"/>
          </a:xfrm>
          <a:prstGeom prst="ellipse">
            <a:avLst/>
          </a:prstGeom>
          <a:solidFill>
            <a:srgbClr val="87D0B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16" name="Google Shape;216;p25"/>
          <p:cNvSpPr/>
          <p:nvPr/>
        </p:nvSpPr>
        <p:spPr>
          <a:xfrm>
            <a:off x="1345853" y="2093662"/>
            <a:ext cx="126000" cy="126000"/>
          </a:xfrm>
          <a:prstGeom prst="rect">
            <a:avLst/>
          </a:prstGeom>
          <a:solidFill>
            <a:srgbClr val="649C8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17" name="Google Shape;217;p25"/>
          <p:cNvSpPr/>
          <p:nvPr/>
        </p:nvSpPr>
        <p:spPr>
          <a:xfrm>
            <a:off x="1358912" y="3795654"/>
            <a:ext cx="126000" cy="126000"/>
          </a:xfrm>
          <a:prstGeom prst="rect">
            <a:avLst/>
          </a:prstGeom>
          <a:solidFill>
            <a:srgbClr val="649C8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18" name="Google Shape;218;p25"/>
          <p:cNvSpPr/>
          <p:nvPr/>
        </p:nvSpPr>
        <p:spPr>
          <a:xfrm>
            <a:off x="275666" y="4928905"/>
            <a:ext cx="126000" cy="126000"/>
          </a:xfrm>
          <a:prstGeom prst="rect">
            <a:avLst/>
          </a:prstGeom>
          <a:solidFill>
            <a:srgbClr val="466F69"/>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19" name="Google Shape;219;p25"/>
          <p:cNvSpPr/>
          <p:nvPr/>
        </p:nvSpPr>
        <p:spPr>
          <a:xfrm>
            <a:off x="121926" y="4928905"/>
            <a:ext cx="126000" cy="126000"/>
          </a:xfrm>
          <a:prstGeom prst="ellipse">
            <a:avLst/>
          </a:prstGeom>
          <a:solidFill>
            <a:srgbClr val="466F69"/>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20" name="Google Shape;220;p25"/>
          <p:cNvSpPr txBox="1"/>
          <p:nvPr/>
        </p:nvSpPr>
        <p:spPr>
          <a:xfrm>
            <a:off x="429405" y="4919331"/>
            <a:ext cx="756900" cy="2325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700"/>
              <a:buFont typeface="Helvetica Neue"/>
              <a:buNone/>
            </a:pPr>
            <a:r>
              <a:rPr b="1" i="0" lang="es" sz="700" u="none" cap="none" strike="noStrike">
                <a:solidFill>
                  <a:srgbClr val="000000"/>
                </a:solidFill>
                <a:latin typeface="Helvetica Neue"/>
                <a:ea typeface="Helvetica Neue"/>
                <a:cs typeface="Helvetica Neue"/>
                <a:sym typeface="Helvetica Neue"/>
              </a:rPr>
              <a:t>Biological groups</a:t>
            </a:r>
            <a:endParaRPr sz="500"/>
          </a:p>
        </p:txBody>
      </p:sp>
      <p:sp>
        <p:nvSpPr>
          <p:cNvPr id="221" name="Google Shape;221;p25"/>
          <p:cNvSpPr/>
          <p:nvPr/>
        </p:nvSpPr>
        <p:spPr>
          <a:xfrm>
            <a:off x="1263859" y="4874780"/>
            <a:ext cx="237202" cy="234258"/>
          </a:xfrm>
          <a:custGeom>
            <a:rect b="b" l="l" r="r" t="t"/>
            <a:pathLst>
              <a:path extrusionOk="0" h="21541" w="20265">
                <a:moveTo>
                  <a:pt x="18778" y="6"/>
                </a:moveTo>
                <a:cubicBezTo>
                  <a:pt x="17680" y="134"/>
                  <a:pt x="17057" y="2145"/>
                  <a:pt x="17057" y="2145"/>
                </a:cubicBezTo>
                <a:cubicBezTo>
                  <a:pt x="16852" y="3359"/>
                  <a:pt x="15985" y="3890"/>
                  <a:pt x="15481" y="4101"/>
                </a:cubicBezTo>
                <a:cubicBezTo>
                  <a:pt x="14194" y="4297"/>
                  <a:pt x="13397" y="3507"/>
                  <a:pt x="13053" y="1869"/>
                </a:cubicBezTo>
                <a:cubicBezTo>
                  <a:pt x="12537" y="2880"/>
                  <a:pt x="11654" y="3375"/>
                  <a:pt x="10752" y="3375"/>
                </a:cubicBezTo>
                <a:cubicBezTo>
                  <a:pt x="10038" y="3375"/>
                  <a:pt x="9410" y="2981"/>
                  <a:pt x="9042" y="2385"/>
                </a:cubicBezTo>
                <a:cubicBezTo>
                  <a:pt x="9027" y="2364"/>
                  <a:pt x="9047" y="2392"/>
                  <a:pt x="9027" y="2365"/>
                </a:cubicBezTo>
                <a:cubicBezTo>
                  <a:pt x="8712" y="1939"/>
                  <a:pt x="8495" y="1267"/>
                  <a:pt x="8495" y="1267"/>
                </a:cubicBezTo>
                <a:cubicBezTo>
                  <a:pt x="8387" y="975"/>
                  <a:pt x="8079" y="832"/>
                  <a:pt x="7808" y="949"/>
                </a:cubicBezTo>
                <a:cubicBezTo>
                  <a:pt x="7536" y="1065"/>
                  <a:pt x="7403" y="1396"/>
                  <a:pt x="7512" y="1688"/>
                </a:cubicBezTo>
                <a:cubicBezTo>
                  <a:pt x="7512" y="1688"/>
                  <a:pt x="8063" y="2709"/>
                  <a:pt x="7926" y="3310"/>
                </a:cubicBezTo>
                <a:cubicBezTo>
                  <a:pt x="7837" y="3703"/>
                  <a:pt x="7904" y="4946"/>
                  <a:pt x="6218" y="5135"/>
                </a:cubicBezTo>
                <a:cubicBezTo>
                  <a:pt x="5752" y="5188"/>
                  <a:pt x="5327" y="4932"/>
                  <a:pt x="5018" y="4604"/>
                </a:cubicBezTo>
                <a:cubicBezTo>
                  <a:pt x="5009" y="4602"/>
                  <a:pt x="5000" y="4602"/>
                  <a:pt x="4991" y="4600"/>
                </a:cubicBezTo>
                <a:cubicBezTo>
                  <a:pt x="5214" y="6253"/>
                  <a:pt x="4846" y="7549"/>
                  <a:pt x="3835" y="8175"/>
                </a:cubicBezTo>
                <a:cubicBezTo>
                  <a:pt x="3057" y="8564"/>
                  <a:pt x="1662" y="8170"/>
                  <a:pt x="1662" y="8170"/>
                </a:cubicBezTo>
                <a:cubicBezTo>
                  <a:pt x="1662" y="8170"/>
                  <a:pt x="3252" y="9037"/>
                  <a:pt x="3447" y="9405"/>
                </a:cubicBezTo>
                <a:cubicBezTo>
                  <a:pt x="3642" y="9774"/>
                  <a:pt x="3739" y="10487"/>
                  <a:pt x="3611" y="11024"/>
                </a:cubicBezTo>
                <a:cubicBezTo>
                  <a:pt x="3469" y="11466"/>
                  <a:pt x="3110" y="11975"/>
                  <a:pt x="2194" y="11735"/>
                </a:cubicBezTo>
                <a:cubicBezTo>
                  <a:pt x="2194" y="11735"/>
                  <a:pt x="-293" y="11137"/>
                  <a:pt x="29" y="13686"/>
                </a:cubicBezTo>
                <a:cubicBezTo>
                  <a:pt x="29" y="13686"/>
                  <a:pt x="572" y="16056"/>
                  <a:pt x="2540" y="14422"/>
                </a:cubicBezTo>
                <a:cubicBezTo>
                  <a:pt x="3229" y="13850"/>
                  <a:pt x="3466" y="13680"/>
                  <a:pt x="3758" y="13817"/>
                </a:cubicBezTo>
                <a:cubicBezTo>
                  <a:pt x="4891" y="14598"/>
                  <a:pt x="5317" y="15680"/>
                  <a:pt x="4758" y="17390"/>
                </a:cubicBezTo>
                <a:cubicBezTo>
                  <a:pt x="7376" y="16540"/>
                  <a:pt x="8461" y="17351"/>
                  <a:pt x="8474" y="18455"/>
                </a:cubicBezTo>
                <a:cubicBezTo>
                  <a:pt x="8487" y="19560"/>
                  <a:pt x="8015" y="19973"/>
                  <a:pt x="8015" y="19973"/>
                </a:cubicBezTo>
                <a:cubicBezTo>
                  <a:pt x="7078" y="21279"/>
                  <a:pt x="8131" y="21539"/>
                  <a:pt x="8131" y="21539"/>
                </a:cubicBezTo>
                <a:cubicBezTo>
                  <a:pt x="8923" y="21597"/>
                  <a:pt x="8788" y="20282"/>
                  <a:pt x="8788" y="20282"/>
                </a:cubicBezTo>
                <a:cubicBezTo>
                  <a:pt x="8765" y="19731"/>
                  <a:pt x="8951" y="18719"/>
                  <a:pt x="9193" y="18402"/>
                </a:cubicBezTo>
                <a:cubicBezTo>
                  <a:pt x="9719" y="17713"/>
                  <a:pt x="12920" y="16968"/>
                  <a:pt x="13661" y="20186"/>
                </a:cubicBezTo>
                <a:cubicBezTo>
                  <a:pt x="13940" y="17526"/>
                  <a:pt x="16095" y="16040"/>
                  <a:pt x="16894" y="17208"/>
                </a:cubicBezTo>
                <a:cubicBezTo>
                  <a:pt x="17606" y="18250"/>
                  <a:pt x="17592" y="18779"/>
                  <a:pt x="18341" y="19048"/>
                </a:cubicBezTo>
                <a:cubicBezTo>
                  <a:pt x="18817" y="19219"/>
                  <a:pt x="19267" y="18578"/>
                  <a:pt x="19121" y="18094"/>
                </a:cubicBezTo>
                <a:cubicBezTo>
                  <a:pt x="18976" y="17610"/>
                  <a:pt x="18406" y="17609"/>
                  <a:pt x="17445" y="16640"/>
                </a:cubicBezTo>
                <a:cubicBezTo>
                  <a:pt x="16491" y="15680"/>
                  <a:pt x="17449" y="12361"/>
                  <a:pt x="18805" y="12812"/>
                </a:cubicBezTo>
                <a:cubicBezTo>
                  <a:pt x="19049" y="12893"/>
                  <a:pt x="19141" y="12986"/>
                  <a:pt x="19373" y="13014"/>
                </a:cubicBezTo>
                <a:cubicBezTo>
                  <a:pt x="19605" y="13043"/>
                  <a:pt x="19842" y="12954"/>
                  <a:pt x="19868" y="12752"/>
                </a:cubicBezTo>
                <a:cubicBezTo>
                  <a:pt x="19895" y="12550"/>
                  <a:pt x="19769" y="12416"/>
                  <a:pt x="19498" y="12345"/>
                </a:cubicBezTo>
                <a:cubicBezTo>
                  <a:pt x="19278" y="12287"/>
                  <a:pt x="19167" y="12369"/>
                  <a:pt x="18803" y="12220"/>
                </a:cubicBezTo>
                <a:cubicBezTo>
                  <a:pt x="17193" y="11564"/>
                  <a:pt x="17586" y="8705"/>
                  <a:pt x="19810" y="7865"/>
                </a:cubicBezTo>
                <a:cubicBezTo>
                  <a:pt x="17967" y="7771"/>
                  <a:pt x="16765" y="6843"/>
                  <a:pt x="16623" y="5495"/>
                </a:cubicBezTo>
                <a:cubicBezTo>
                  <a:pt x="16548" y="3927"/>
                  <a:pt x="18428" y="3479"/>
                  <a:pt x="18428" y="3479"/>
                </a:cubicBezTo>
                <a:cubicBezTo>
                  <a:pt x="21307" y="2438"/>
                  <a:pt x="19943" y="558"/>
                  <a:pt x="19943" y="558"/>
                </a:cubicBezTo>
                <a:cubicBezTo>
                  <a:pt x="19603" y="206"/>
                  <a:pt x="19290" y="41"/>
                  <a:pt x="19004" y="6"/>
                </a:cubicBezTo>
                <a:cubicBezTo>
                  <a:pt x="18927" y="-3"/>
                  <a:pt x="18851" y="-2"/>
                  <a:pt x="18778" y="6"/>
                </a:cubicBezTo>
                <a:close/>
              </a:path>
            </a:pathLst>
          </a:custGeom>
          <a:solidFill>
            <a:srgbClr val="87D0B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22" name="Google Shape;222;p25"/>
          <p:cNvSpPr/>
          <p:nvPr/>
        </p:nvSpPr>
        <p:spPr>
          <a:xfrm>
            <a:off x="1481907" y="4874780"/>
            <a:ext cx="237202" cy="234258"/>
          </a:xfrm>
          <a:custGeom>
            <a:rect b="b" l="l" r="r" t="t"/>
            <a:pathLst>
              <a:path extrusionOk="0" h="21541" w="20265">
                <a:moveTo>
                  <a:pt x="18778" y="6"/>
                </a:moveTo>
                <a:cubicBezTo>
                  <a:pt x="17680" y="134"/>
                  <a:pt x="17057" y="2145"/>
                  <a:pt x="17057" y="2145"/>
                </a:cubicBezTo>
                <a:cubicBezTo>
                  <a:pt x="16852" y="3359"/>
                  <a:pt x="15985" y="3890"/>
                  <a:pt x="15481" y="4101"/>
                </a:cubicBezTo>
                <a:cubicBezTo>
                  <a:pt x="14194" y="4297"/>
                  <a:pt x="13397" y="3507"/>
                  <a:pt x="13053" y="1869"/>
                </a:cubicBezTo>
                <a:cubicBezTo>
                  <a:pt x="12537" y="2880"/>
                  <a:pt x="11654" y="3375"/>
                  <a:pt x="10752" y="3375"/>
                </a:cubicBezTo>
                <a:cubicBezTo>
                  <a:pt x="10038" y="3375"/>
                  <a:pt x="9410" y="2981"/>
                  <a:pt x="9042" y="2385"/>
                </a:cubicBezTo>
                <a:cubicBezTo>
                  <a:pt x="9027" y="2364"/>
                  <a:pt x="9047" y="2392"/>
                  <a:pt x="9027" y="2365"/>
                </a:cubicBezTo>
                <a:cubicBezTo>
                  <a:pt x="8712" y="1939"/>
                  <a:pt x="8495" y="1267"/>
                  <a:pt x="8495" y="1267"/>
                </a:cubicBezTo>
                <a:cubicBezTo>
                  <a:pt x="8387" y="975"/>
                  <a:pt x="8079" y="832"/>
                  <a:pt x="7808" y="949"/>
                </a:cubicBezTo>
                <a:cubicBezTo>
                  <a:pt x="7536" y="1065"/>
                  <a:pt x="7403" y="1396"/>
                  <a:pt x="7512" y="1688"/>
                </a:cubicBezTo>
                <a:cubicBezTo>
                  <a:pt x="7512" y="1688"/>
                  <a:pt x="8063" y="2709"/>
                  <a:pt x="7926" y="3310"/>
                </a:cubicBezTo>
                <a:cubicBezTo>
                  <a:pt x="7837" y="3703"/>
                  <a:pt x="7904" y="4946"/>
                  <a:pt x="6218" y="5135"/>
                </a:cubicBezTo>
                <a:cubicBezTo>
                  <a:pt x="5752" y="5188"/>
                  <a:pt x="5327" y="4932"/>
                  <a:pt x="5018" y="4604"/>
                </a:cubicBezTo>
                <a:cubicBezTo>
                  <a:pt x="5009" y="4602"/>
                  <a:pt x="5000" y="4602"/>
                  <a:pt x="4991" y="4600"/>
                </a:cubicBezTo>
                <a:cubicBezTo>
                  <a:pt x="5214" y="6253"/>
                  <a:pt x="4846" y="7549"/>
                  <a:pt x="3835" y="8175"/>
                </a:cubicBezTo>
                <a:cubicBezTo>
                  <a:pt x="3057" y="8564"/>
                  <a:pt x="1662" y="8170"/>
                  <a:pt x="1662" y="8170"/>
                </a:cubicBezTo>
                <a:cubicBezTo>
                  <a:pt x="1662" y="8170"/>
                  <a:pt x="3252" y="9037"/>
                  <a:pt x="3447" y="9405"/>
                </a:cubicBezTo>
                <a:cubicBezTo>
                  <a:pt x="3642" y="9774"/>
                  <a:pt x="3739" y="10487"/>
                  <a:pt x="3611" y="11024"/>
                </a:cubicBezTo>
                <a:cubicBezTo>
                  <a:pt x="3469" y="11466"/>
                  <a:pt x="3110" y="11975"/>
                  <a:pt x="2194" y="11735"/>
                </a:cubicBezTo>
                <a:cubicBezTo>
                  <a:pt x="2194" y="11735"/>
                  <a:pt x="-293" y="11137"/>
                  <a:pt x="29" y="13686"/>
                </a:cubicBezTo>
                <a:cubicBezTo>
                  <a:pt x="29" y="13686"/>
                  <a:pt x="572" y="16056"/>
                  <a:pt x="2540" y="14422"/>
                </a:cubicBezTo>
                <a:cubicBezTo>
                  <a:pt x="3229" y="13850"/>
                  <a:pt x="3466" y="13680"/>
                  <a:pt x="3758" y="13817"/>
                </a:cubicBezTo>
                <a:cubicBezTo>
                  <a:pt x="4891" y="14598"/>
                  <a:pt x="5317" y="15680"/>
                  <a:pt x="4758" y="17390"/>
                </a:cubicBezTo>
                <a:cubicBezTo>
                  <a:pt x="7376" y="16540"/>
                  <a:pt x="8461" y="17351"/>
                  <a:pt x="8474" y="18455"/>
                </a:cubicBezTo>
                <a:cubicBezTo>
                  <a:pt x="8487" y="19560"/>
                  <a:pt x="8015" y="19973"/>
                  <a:pt x="8015" y="19973"/>
                </a:cubicBezTo>
                <a:cubicBezTo>
                  <a:pt x="7078" y="21279"/>
                  <a:pt x="8131" y="21539"/>
                  <a:pt x="8131" y="21539"/>
                </a:cubicBezTo>
                <a:cubicBezTo>
                  <a:pt x="8923" y="21597"/>
                  <a:pt x="8788" y="20282"/>
                  <a:pt x="8788" y="20282"/>
                </a:cubicBezTo>
                <a:cubicBezTo>
                  <a:pt x="8765" y="19731"/>
                  <a:pt x="8951" y="18719"/>
                  <a:pt x="9193" y="18402"/>
                </a:cubicBezTo>
                <a:cubicBezTo>
                  <a:pt x="9719" y="17713"/>
                  <a:pt x="12920" y="16968"/>
                  <a:pt x="13661" y="20186"/>
                </a:cubicBezTo>
                <a:cubicBezTo>
                  <a:pt x="13940" y="17526"/>
                  <a:pt x="16095" y="16040"/>
                  <a:pt x="16894" y="17208"/>
                </a:cubicBezTo>
                <a:cubicBezTo>
                  <a:pt x="17606" y="18250"/>
                  <a:pt x="17592" y="18779"/>
                  <a:pt x="18341" y="19048"/>
                </a:cubicBezTo>
                <a:cubicBezTo>
                  <a:pt x="18817" y="19219"/>
                  <a:pt x="19267" y="18578"/>
                  <a:pt x="19121" y="18094"/>
                </a:cubicBezTo>
                <a:cubicBezTo>
                  <a:pt x="18976" y="17610"/>
                  <a:pt x="18406" y="17609"/>
                  <a:pt x="17445" y="16640"/>
                </a:cubicBezTo>
                <a:cubicBezTo>
                  <a:pt x="16491" y="15680"/>
                  <a:pt x="17449" y="12361"/>
                  <a:pt x="18805" y="12812"/>
                </a:cubicBezTo>
                <a:cubicBezTo>
                  <a:pt x="19049" y="12893"/>
                  <a:pt x="19141" y="12986"/>
                  <a:pt x="19373" y="13014"/>
                </a:cubicBezTo>
                <a:cubicBezTo>
                  <a:pt x="19605" y="13043"/>
                  <a:pt x="19842" y="12954"/>
                  <a:pt x="19868" y="12752"/>
                </a:cubicBezTo>
                <a:cubicBezTo>
                  <a:pt x="19895" y="12550"/>
                  <a:pt x="19769" y="12416"/>
                  <a:pt x="19498" y="12345"/>
                </a:cubicBezTo>
                <a:cubicBezTo>
                  <a:pt x="19278" y="12287"/>
                  <a:pt x="19167" y="12369"/>
                  <a:pt x="18803" y="12220"/>
                </a:cubicBezTo>
                <a:cubicBezTo>
                  <a:pt x="17193" y="11564"/>
                  <a:pt x="17586" y="8705"/>
                  <a:pt x="19810" y="7865"/>
                </a:cubicBezTo>
                <a:cubicBezTo>
                  <a:pt x="17967" y="7771"/>
                  <a:pt x="16765" y="6843"/>
                  <a:pt x="16623" y="5495"/>
                </a:cubicBezTo>
                <a:cubicBezTo>
                  <a:pt x="16548" y="3927"/>
                  <a:pt x="18428" y="3479"/>
                  <a:pt x="18428" y="3479"/>
                </a:cubicBezTo>
                <a:cubicBezTo>
                  <a:pt x="21307" y="2438"/>
                  <a:pt x="19943" y="558"/>
                  <a:pt x="19943" y="558"/>
                </a:cubicBezTo>
                <a:cubicBezTo>
                  <a:pt x="19603" y="206"/>
                  <a:pt x="19290" y="41"/>
                  <a:pt x="19004" y="6"/>
                </a:cubicBezTo>
                <a:cubicBezTo>
                  <a:pt x="18927" y="-3"/>
                  <a:pt x="18851" y="-2"/>
                  <a:pt x="18778" y="6"/>
                </a:cubicBezTo>
                <a:close/>
              </a:path>
            </a:pathLst>
          </a:custGeom>
          <a:solidFill>
            <a:srgbClr val="649C8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23" name="Google Shape;223;p25"/>
          <p:cNvSpPr txBox="1"/>
          <p:nvPr/>
        </p:nvSpPr>
        <p:spPr>
          <a:xfrm>
            <a:off x="1792783" y="4919331"/>
            <a:ext cx="378000" cy="2325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700"/>
              <a:buFont typeface="Helvetica Neue"/>
              <a:buNone/>
            </a:pPr>
            <a:r>
              <a:rPr b="1" i="0" lang="es" sz="700" u="none" cap="none" strike="noStrike">
                <a:solidFill>
                  <a:srgbClr val="000000"/>
                </a:solidFill>
                <a:latin typeface="Helvetica Neue"/>
                <a:ea typeface="Helvetica Neue"/>
                <a:cs typeface="Helvetica Neue"/>
                <a:sym typeface="Helvetica Neue"/>
              </a:rPr>
              <a:t>Batches</a:t>
            </a:r>
            <a:endParaRPr sz="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000000"/>
              </a:buClr>
              <a:buSzPts val="3200"/>
              <a:buFont typeface="Helvetica Neue"/>
              <a:buNone/>
            </a:pPr>
            <a:r>
              <a:rPr b="1" lang="es" sz="2500">
                <a:solidFill>
                  <a:srgbClr val="000000"/>
                </a:solidFill>
              </a:rPr>
              <a:t>Benchmark Results</a:t>
            </a:r>
            <a:endParaRPr b="1" sz="2500"/>
          </a:p>
        </p:txBody>
      </p:sp>
      <p:sp>
        <p:nvSpPr>
          <p:cNvPr id="229" name="Google Shape;229;p26"/>
          <p:cNvSpPr/>
          <p:nvPr/>
        </p:nvSpPr>
        <p:spPr>
          <a:xfrm>
            <a:off x="8543768" y="152197"/>
            <a:ext cx="236628" cy="549058"/>
          </a:xfrm>
          <a:custGeom>
            <a:rect b="b" l="l" r="r" t="t"/>
            <a:pathLst>
              <a:path extrusionOk="0" h="21574" w="21600">
                <a:moveTo>
                  <a:pt x="10974" y="1"/>
                </a:moveTo>
                <a:cubicBezTo>
                  <a:pt x="9446" y="-26"/>
                  <a:pt x="8183" y="503"/>
                  <a:pt x="8183" y="1155"/>
                </a:cubicBezTo>
                <a:lnTo>
                  <a:pt x="8183" y="14352"/>
                </a:lnTo>
                <a:cubicBezTo>
                  <a:pt x="8183" y="14465"/>
                  <a:pt x="7968" y="14558"/>
                  <a:pt x="7705" y="14558"/>
                </a:cubicBezTo>
                <a:lnTo>
                  <a:pt x="6668" y="14558"/>
                </a:lnTo>
                <a:cubicBezTo>
                  <a:pt x="5953" y="14558"/>
                  <a:pt x="5376" y="14309"/>
                  <a:pt x="5376" y="14002"/>
                </a:cubicBezTo>
                <a:lnTo>
                  <a:pt x="5376" y="8809"/>
                </a:lnTo>
                <a:cubicBezTo>
                  <a:pt x="5376" y="8156"/>
                  <a:pt x="4124" y="7633"/>
                  <a:pt x="2596" y="7654"/>
                </a:cubicBezTo>
                <a:cubicBezTo>
                  <a:pt x="1130" y="7676"/>
                  <a:pt x="0" y="8210"/>
                  <a:pt x="0" y="8836"/>
                </a:cubicBezTo>
                <a:lnTo>
                  <a:pt x="0" y="14364"/>
                </a:lnTo>
                <a:cubicBezTo>
                  <a:pt x="0" y="15750"/>
                  <a:pt x="2606" y="16872"/>
                  <a:pt x="5826" y="16872"/>
                </a:cubicBezTo>
                <a:lnTo>
                  <a:pt x="7705" y="16872"/>
                </a:lnTo>
                <a:cubicBezTo>
                  <a:pt x="7968" y="16872"/>
                  <a:pt x="8183" y="16962"/>
                  <a:pt x="8183" y="17076"/>
                </a:cubicBezTo>
                <a:lnTo>
                  <a:pt x="8183" y="21380"/>
                </a:lnTo>
                <a:cubicBezTo>
                  <a:pt x="8183" y="21488"/>
                  <a:pt x="8382" y="21574"/>
                  <a:pt x="8633" y="21574"/>
                </a:cubicBezTo>
                <a:lnTo>
                  <a:pt x="13104" y="21574"/>
                </a:lnTo>
                <a:cubicBezTo>
                  <a:pt x="13355" y="21574"/>
                  <a:pt x="13558" y="21488"/>
                  <a:pt x="13558" y="21380"/>
                </a:cubicBezTo>
                <a:lnTo>
                  <a:pt x="13558" y="14050"/>
                </a:lnTo>
                <a:cubicBezTo>
                  <a:pt x="13558" y="13937"/>
                  <a:pt x="13769" y="13845"/>
                  <a:pt x="14032" y="13845"/>
                </a:cubicBezTo>
                <a:lnTo>
                  <a:pt x="15774" y="13845"/>
                </a:lnTo>
                <a:cubicBezTo>
                  <a:pt x="18994" y="13845"/>
                  <a:pt x="21600" y="12723"/>
                  <a:pt x="21600" y="11337"/>
                </a:cubicBezTo>
                <a:lnTo>
                  <a:pt x="21600" y="6694"/>
                </a:lnTo>
                <a:cubicBezTo>
                  <a:pt x="21600" y="6041"/>
                  <a:pt x="20333" y="5519"/>
                  <a:pt x="18805" y="5546"/>
                </a:cubicBezTo>
                <a:cubicBezTo>
                  <a:pt x="17339" y="5567"/>
                  <a:pt x="16213" y="6100"/>
                  <a:pt x="16213" y="6726"/>
                </a:cubicBezTo>
                <a:lnTo>
                  <a:pt x="16213" y="10981"/>
                </a:lnTo>
                <a:cubicBezTo>
                  <a:pt x="16213" y="11289"/>
                  <a:pt x="15635" y="11537"/>
                  <a:pt x="14921" y="11537"/>
                </a:cubicBezTo>
                <a:lnTo>
                  <a:pt x="14032" y="11537"/>
                </a:lnTo>
                <a:cubicBezTo>
                  <a:pt x="13769" y="11537"/>
                  <a:pt x="13558" y="11445"/>
                  <a:pt x="13558" y="11332"/>
                </a:cubicBezTo>
                <a:lnTo>
                  <a:pt x="13558" y="1187"/>
                </a:lnTo>
                <a:cubicBezTo>
                  <a:pt x="13558" y="556"/>
                  <a:pt x="12428" y="23"/>
                  <a:pt x="10974" y="1"/>
                </a:cubicBezTo>
                <a:close/>
              </a:path>
            </a:pathLst>
          </a:custGeom>
          <a:solidFill>
            <a:srgbClr val="D11875">
              <a:alpha val="6118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pic>
        <p:nvPicPr>
          <p:cNvPr descr="image (5).png" id="230" name="Google Shape;230;p26"/>
          <p:cNvPicPr preferRelativeResize="0"/>
          <p:nvPr/>
        </p:nvPicPr>
        <p:blipFill rotWithShape="1">
          <a:blip r:embed="rId3">
            <a:alphaModFix/>
          </a:blip>
          <a:srcRect b="0" l="0" r="43965" t="0"/>
          <a:stretch/>
        </p:blipFill>
        <p:spPr>
          <a:xfrm>
            <a:off x="3323447" y="896950"/>
            <a:ext cx="3399384" cy="4194496"/>
          </a:xfrm>
          <a:prstGeom prst="rect">
            <a:avLst/>
          </a:prstGeom>
          <a:noFill/>
          <a:ln>
            <a:noFill/>
          </a:ln>
        </p:spPr>
      </p:pic>
      <p:sp>
        <p:nvSpPr>
          <p:cNvPr id="231" name="Google Shape;231;p26"/>
          <p:cNvSpPr/>
          <p:nvPr/>
        </p:nvSpPr>
        <p:spPr>
          <a:xfrm>
            <a:off x="2518407" y="1242895"/>
            <a:ext cx="378075" cy="544428"/>
          </a:xfrm>
          <a:custGeom>
            <a:rect b="b" l="l" r="r" t="t"/>
            <a:pathLst>
              <a:path extrusionOk="0" h="21600" w="21294">
                <a:moveTo>
                  <a:pt x="7609" y="0"/>
                </a:moveTo>
                <a:cubicBezTo>
                  <a:pt x="7178" y="0"/>
                  <a:pt x="6826" y="248"/>
                  <a:pt x="6826" y="552"/>
                </a:cubicBezTo>
                <a:cubicBezTo>
                  <a:pt x="6826" y="856"/>
                  <a:pt x="7178" y="1104"/>
                  <a:pt x="7609" y="1104"/>
                </a:cubicBezTo>
                <a:lnTo>
                  <a:pt x="7978" y="1104"/>
                </a:lnTo>
                <a:lnTo>
                  <a:pt x="7978" y="5587"/>
                </a:lnTo>
                <a:lnTo>
                  <a:pt x="53" y="20785"/>
                </a:lnTo>
                <a:cubicBezTo>
                  <a:pt x="-153" y="21181"/>
                  <a:pt x="264" y="21600"/>
                  <a:pt x="863" y="21600"/>
                </a:cubicBezTo>
                <a:lnTo>
                  <a:pt x="20433" y="21600"/>
                </a:lnTo>
                <a:cubicBezTo>
                  <a:pt x="21032" y="21600"/>
                  <a:pt x="21447" y="21181"/>
                  <a:pt x="21241" y="20785"/>
                </a:cubicBezTo>
                <a:lnTo>
                  <a:pt x="13318" y="5587"/>
                </a:lnTo>
                <a:lnTo>
                  <a:pt x="13318" y="1104"/>
                </a:lnTo>
                <a:lnTo>
                  <a:pt x="13687" y="1104"/>
                </a:lnTo>
                <a:cubicBezTo>
                  <a:pt x="14119" y="1104"/>
                  <a:pt x="14470" y="856"/>
                  <a:pt x="14470" y="552"/>
                </a:cubicBezTo>
                <a:cubicBezTo>
                  <a:pt x="14470" y="248"/>
                  <a:pt x="14119" y="0"/>
                  <a:pt x="13687" y="0"/>
                </a:cubicBezTo>
                <a:lnTo>
                  <a:pt x="7609" y="0"/>
                </a:lnTo>
                <a:close/>
                <a:moveTo>
                  <a:pt x="9109" y="7347"/>
                </a:moveTo>
                <a:lnTo>
                  <a:pt x="12202" y="7347"/>
                </a:lnTo>
                <a:lnTo>
                  <a:pt x="12202" y="7725"/>
                </a:lnTo>
                <a:lnTo>
                  <a:pt x="9109" y="7725"/>
                </a:lnTo>
                <a:lnTo>
                  <a:pt x="9109" y="7347"/>
                </a:lnTo>
                <a:close/>
                <a:moveTo>
                  <a:pt x="10498" y="8383"/>
                </a:moveTo>
                <a:lnTo>
                  <a:pt x="12199" y="8383"/>
                </a:lnTo>
                <a:lnTo>
                  <a:pt x="12199" y="8761"/>
                </a:lnTo>
                <a:lnTo>
                  <a:pt x="10498" y="8761"/>
                </a:lnTo>
                <a:lnTo>
                  <a:pt x="10498" y="8383"/>
                </a:lnTo>
                <a:close/>
                <a:moveTo>
                  <a:pt x="10498" y="9420"/>
                </a:moveTo>
                <a:lnTo>
                  <a:pt x="12199" y="9420"/>
                </a:lnTo>
                <a:lnTo>
                  <a:pt x="12199" y="9798"/>
                </a:lnTo>
                <a:lnTo>
                  <a:pt x="10498" y="9798"/>
                </a:lnTo>
                <a:lnTo>
                  <a:pt x="10498" y="9420"/>
                </a:lnTo>
                <a:close/>
                <a:moveTo>
                  <a:pt x="10496" y="10457"/>
                </a:moveTo>
                <a:lnTo>
                  <a:pt x="12197" y="10457"/>
                </a:lnTo>
                <a:lnTo>
                  <a:pt x="12197" y="10834"/>
                </a:lnTo>
                <a:lnTo>
                  <a:pt x="10496" y="10834"/>
                </a:lnTo>
                <a:lnTo>
                  <a:pt x="10496" y="10457"/>
                </a:lnTo>
                <a:close/>
                <a:moveTo>
                  <a:pt x="9104" y="11494"/>
                </a:moveTo>
                <a:lnTo>
                  <a:pt x="12197" y="11494"/>
                </a:lnTo>
                <a:lnTo>
                  <a:pt x="12197" y="11870"/>
                </a:lnTo>
                <a:lnTo>
                  <a:pt x="9104" y="11870"/>
                </a:lnTo>
                <a:lnTo>
                  <a:pt x="9104" y="11494"/>
                </a:lnTo>
                <a:close/>
                <a:moveTo>
                  <a:pt x="10494" y="12530"/>
                </a:moveTo>
                <a:lnTo>
                  <a:pt x="12195" y="12530"/>
                </a:lnTo>
                <a:lnTo>
                  <a:pt x="12195" y="12906"/>
                </a:lnTo>
                <a:lnTo>
                  <a:pt x="10494" y="12906"/>
                </a:lnTo>
                <a:lnTo>
                  <a:pt x="10494" y="12530"/>
                </a:lnTo>
                <a:close/>
                <a:moveTo>
                  <a:pt x="10494" y="13566"/>
                </a:moveTo>
                <a:lnTo>
                  <a:pt x="12195" y="13566"/>
                </a:lnTo>
                <a:lnTo>
                  <a:pt x="12195" y="13944"/>
                </a:lnTo>
                <a:lnTo>
                  <a:pt x="10494" y="13944"/>
                </a:lnTo>
                <a:lnTo>
                  <a:pt x="10494" y="13566"/>
                </a:lnTo>
                <a:close/>
                <a:moveTo>
                  <a:pt x="10491" y="14602"/>
                </a:moveTo>
                <a:lnTo>
                  <a:pt x="12195" y="14602"/>
                </a:lnTo>
                <a:lnTo>
                  <a:pt x="12192" y="14980"/>
                </a:lnTo>
                <a:lnTo>
                  <a:pt x="10491" y="14980"/>
                </a:lnTo>
                <a:lnTo>
                  <a:pt x="10491" y="14602"/>
                </a:lnTo>
                <a:close/>
                <a:moveTo>
                  <a:pt x="9099" y="15638"/>
                </a:moveTo>
                <a:lnTo>
                  <a:pt x="12192" y="15638"/>
                </a:lnTo>
                <a:lnTo>
                  <a:pt x="12192" y="16016"/>
                </a:lnTo>
                <a:lnTo>
                  <a:pt x="9099" y="16016"/>
                </a:lnTo>
                <a:lnTo>
                  <a:pt x="9099" y="15638"/>
                </a:lnTo>
                <a:close/>
                <a:moveTo>
                  <a:pt x="10489" y="16674"/>
                </a:moveTo>
                <a:lnTo>
                  <a:pt x="12192" y="16674"/>
                </a:lnTo>
                <a:lnTo>
                  <a:pt x="12190" y="17052"/>
                </a:lnTo>
                <a:lnTo>
                  <a:pt x="10489" y="17052"/>
                </a:lnTo>
                <a:lnTo>
                  <a:pt x="10489" y="16674"/>
                </a:lnTo>
                <a:close/>
                <a:moveTo>
                  <a:pt x="10489" y="17710"/>
                </a:moveTo>
                <a:lnTo>
                  <a:pt x="12190" y="17710"/>
                </a:lnTo>
                <a:lnTo>
                  <a:pt x="12190" y="18088"/>
                </a:lnTo>
                <a:lnTo>
                  <a:pt x="10489" y="18088"/>
                </a:lnTo>
                <a:lnTo>
                  <a:pt x="10489" y="17710"/>
                </a:lnTo>
                <a:close/>
                <a:moveTo>
                  <a:pt x="10489" y="18746"/>
                </a:moveTo>
                <a:lnTo>
                  <a:pt x="12190" y="18746"/>
                </a:lnTo>
                <a:lnTo>
                  <a:pt x="12187" y="19124"/>
                </a:lnTo>
                <a:lnTo>
                  <a:pt x="10486" y="19124"/>
                </a:lnTo>
                <a:lnTo>
                  <a:pt x="10489" y="18746"/>
                </a:lnTo>
                <a:close/>
                <a:moveTo>
                  <a:pt x="9095" y="19783"/>
                </a:moveTo>
                <a:lnTo>
                  <a:pt x="12187" y="19783"/>
                </a:lnTo>
                <a:lnTo>
                  <a:pt x="12187" y="20161"/>
                </a:lnTo>
                <a:lnTo>
                  <a:pt x="9095" y="20161"/>
                </a:lnTo>
                <a:lnTo>
                  <a:pt x="9095" y="19783"/>
                </a:lnTo>
                <a:close/>
              </a:path>
            </a:pathLst>
          </a:custGeom>
          <a:solidFill>
            <a:srgbClr val="DA81AB">
              <a:alpha val="7725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32" name="Google Shape;232;p26"/>
          <p:cNvSpPr/>
          <p:nvPr/>
        </p:nvSpPr>
        <p:spPr>
          <a:xfrm>
            <a:off x="2421170" y="4224600"/>
            <a:ext cx="572562" cy="198504"/>
          </a:xfrm>
          <a:custGeom>
            <a:rect b="b" l="l" r="r" t="t"/>
            <a:pathLst>
              <a:path extrusionOk="0" h="21600" w="21600">
                <a:moveTo>
                  <a:pt x="0" y="0"/>
                </a:moveTo>
                <a:lnTo>
                  <a:pt x="0" y="3728"/>
                </a:lnTo>
                <a:cubicBezTo>
                  <a:pt x="292" y="3728"/>
                  <a:pt x="665" y="4209"/>
                  <a:pt x="1059" y="4708"/>
                </a:cubicBezTo>
                <a:cubicBezTo>
                  <a:pt x="1551" y="5332"/>
                  <a:pt x="2109" y="6053"/>
                  <a:pt x="2703" y="6053"/>
                </a:cubicBezTo>
                <a:cubicBezTo>
                  <a:pt x="3287" y="6053"/>
                  <a:pt x="3802" y="5365"/>
                  <a:pt x="4256" y="4757"/>
                </a:cubicBezTo>
                <a:cubicBezTo>
                  <a:pt x="4656" y="4226"/>
                  <a:pt x="5034" y="3728"/>
                  <a:pt x="5402" y="3728"/>
                </a:cubicBezTo>
                <a:cubicBezTo>
                  <a:pt x="5769" y="3728"/>
                  <a:pt x="6142" y="4226"/>
                  <a:pt x="6542" y="4757"/>
                </a:cubicBezTo>
                <a:cubicBezTo>
                  <a:pt x="6996" y="5365"/>
                  <a:pt x="7516" y="6053"/>
                  <a:pt x="8105" y="6053"/>
                </a:cubicBezTo>
                <a:cubicBezTo>
                  <a:pt x="8689" y="6053"/>
                  <a:pt x="9186" y="5380"/>
                  <a:pt x="9624" y="4771"/>
                </a:cubicBezTo>
                <a:cubicBezTo>
                  <a:pt x="10019" y="4225"/>
                  <a:pt x="10392" y="3728"/>
                  <a:pt x="10803" y="3728"/>
                </a:cubicBezTo>
                <a:cubicBezTo>
                  <a:pt x="11187" y="3728"/>
                  <a:pt x="11512" y="4178"/>
                  <a:pt x="11885" y="4708"/>
                </a:cubicBezTo>
                <a:cubicBezTo>
                  <a:pt x="12328" y="5332"/>
                  <a:pt x="12837" y="6053"/>
                  <a:pt x="13502" y="6053"/>
                </a:cubicBezTo>
                <a:cubicBezTo>
                  <a:pt x="14172" y="6053"/>
                  <a:pt x="14690" y="5333"/>
                  <a:pt x="15144" y="4693"/>
                </a:cubicBezTo>
                <a:cubicBezTo>
                  <a:pt x="15517" y="4179"/>
                  <a:pt x="15836" y="3728"/>
                  <a:pt x="16198" y="3728"/>
                </a:cubicBezTo>
                <a:cubicBezTo>
                  <a:pt x="16566" y="3728"/>
                  <a:pt x="16902" y="4182"/>
                  <a:pt x="17291" y="4727"/>
                </a:cubicBezTo>
                <a:cubicBezTo>
                  <a:pt x="17746" y="5351"/>
                  <a:pt x="18264" y="6053"/>
                  <a:pt x="18902" y="6053"/>
                </a:cubicBezTo>
                <a:cubicBezTo>
                  <a:pt x="19556" y="6053"/>
                  <a:pt x="20113" y="5319"/>
                  <a:pt x="20605" y="4664"/>
                </a:cubicBezTo>
                <a:cubicBezTo>
                  <a:pt x="20972" y="4181"/>
                  <a:pt x="21319" y="3728"/>
                  <a:pt x="21600" y="3728"/>
                </a:cubicBezTo>
                <a:lnTo>
                  <a:pt x="21600" y="0"/>
                </a:lnTo>
                <a:cubicBezTo>
                  <a:pt x="21038" y="0"/>
                  <a:pt x="20547" y="653"/>
                  <a:pt x="20071" y="1277"/>
                </a:cubicBezTo>
                <a:cubicBezTo>
                  <a:pt x="19655" y="1807"/>
                  <a:pt x="19270" y="2325"/>
                  <a:pt x="18897" y="2325"/>
                </a:cubicBezTo>
                <a:cubicBezTo>
                  <a:pt x="18551" y="2325"/>
                  <a:pt x="18221" y="1870"/>
                  <a:pt x="17842" y="1355"/>
                </a:cubicBezTo>
                <a:cubicBezTo>
                  <a:pt x="17377" y="715"/>
                  <a:pt x="16853" y="0"/>
                  <a:pt x="16198" y="0"/>
                </a:cubicBezTo>
                <a:cubicBezTo>
                  <a:pt x="15544" y="0"/>
                  <a:pt x="15037" y="716"/>
                  <a:pt x="14583" y="1340"/>
                </a:cubicBezTo>
                <a:cubicBezTo>
                  <a:pt x="14205" y="1871"/>
                  <a:pt x="13875" y="2325"/>
                  <a:pt x="13502" y="2325"/>
                </a:cubicBezTo>
                <a:cubicBezTo>
                  <a:pt x="13134" y="2325"/>
                  <a:pt x="12820" y="1870"/>
                  <a:pt x="12452" y="1355"/>
                </a:cubicBezTo>
                <a:cubicBezTo>
                  <a:pt x="11998" y="715"/>
                  <a:pt x="11485" y="0"/>
                  <a:pt x="10803" y="0"/>
                </a:cubicBezTo>
                <a:cubicBezTo>
                  <a:pt x="10106" y="0"/>
                  <a:pt x="9554" y="749"/>
                  <a:pt x="9073" y="1404"/>
                </a:cubicBezTo>
                <a:cubicBezTo>
                  <a:pt x="8711" y="1903"/>
                  <a:pt x="8402" y="2325"/>
                  <a:pt x="8105" y="2325"/>
                </a:cubicBezTo>
                <a:cubicBezTo>
                  <a:pt x="7802" y="2325"/>
                  <a:pt x="7467" y="1889"/>
                  <a:pt x="7083" y="1374"/>
                </a:cubicBezTo>
                <a:cubicBezTo>
                  <a:pt x="6602" y="735"/>
                  <a:pt x="6050" y="0"/>
                  <a:pt x="5402" y="0"/>
                </a:cubicBezTo>
                <a:cubicBezTo>
                  <a:pt x="4747" y="0"/>
                  <a:pt x="4202" y="735"/>
                  <a:pt x="3715" y="1374"/>
                </a:cubicBezTo>
                <a:cubicBezTo>
                  <a:pt x="3348" y="1858"/>
                  <a:pt x="3001" y="2325"/>
                  <a:pt x="2703" y="2325"/>
                </a:cubicBezTo>
                <a:cubicBezTo>
                  <a:pt x="2384" y="2325"/>
                  <a:pt x="1996" y="1827"/>
                  <a:pt x="1585" y="1296"/>
                </a:cubicBezTo>
                <a:cubicBezTo>
                  <a:pt x="1082" y="657"/>
                  <a:pt x="568" y="0"/>
                  <a:pt x="0" y="0"/>
                </a:cubicBezTo>
                <a:close/>
                <a:moveTo>
                  <a:pt x="0" y="7769"/>
                </a:moveTo>
                <a:lnTo>
                  <a:pt x="0" y="11492"/>
                </a:lnTo>
                <a:cubicBezTo>
                  <a:pt x="292" y="11492"/>
                  <a:pt x="665" y="11977"/>
                  <a:pt x="1059" y="12477"/>
                </a:cubicBezTo>
                <a:cubicBezTo>
                  <a:pt x="1551" y="13100"/>
                  <a:pt x="2109" y="13817"/>
                  <a:pt x="2703" y="13817"/>
                </a:cubicBezTo>
                <a:cubicBezTo>
                  <a:pt x="3287" y="13817"/>
                  <a:pt x="3802" y="13133"/>
                  <a:pt x="4256" y="12525"/>
                </a:cubicBezTo>
                <a:cubicBezTo>
                  <a:pt x="4656" y="11995"/>
                  <a:pt x="5034" y="11492"/>
                  <a:pt x="5402" y="11492"/>
                </a:cubicBezTo>
                <a:cubicBezTo>
                  <a:pt x="5769" y="11492"/>
                  <a:pt x="6142" y="11995"/>
                  <a:pt x="6542" y="12525"/>
                </a:cubicBezTo>
                <a:cubicBezTo>
                  <a:pt x="6996" y="13133"/>
                  <a:pt x="7516" y="13817"/>
                  <a:pt x="8105" y="13817"/>
                </a:cubicBezTo>
                <a:cubicBezTo>
                  <a:pt x="8689" y="13817"/>
                  <a:pt x="9186" y="13148"/>
                  <a:pt x="9624" y="12540"/>
                </a:cubicBezTo>
                <a:cubicBezTo>
                  <a:pt x="10019" y="11994"/>
                  <a:pt x="10392" y="11492"/>
                  <a:pt x="10803" y="11492"/>
                </a:cubicBezTo>
                <a:cubicBezTo>
                  <a:pt x="11187" y="11492"/>
                  <a:pt x="11512" y="11946"/>
                  <a:pt x="11885" y="12477"/>
                </a:cubicBezTo>
                <a:cubicBezTo>
                  <a:pt x="12328" y="13100"/>
                  <a:pt x="12837" y="13817"/>
                  <a:pt x="13502" y="13817"/>
                </a:cubicBezTo>
                <a:cubicBezTo>
                  <a:pt x="14172" y="13817"/>
                  <a:pt x="14690" y="13101"/>
                  <a:pt x="15144" y="12462"/>
                </a:cubicBezTo>
                <a:cubicBezTo>
                  <a:pt x="15517" y="11947"/>
                  <a:pt x="15836" y="11492"/>
                  <a:pt x="16198" y="11492"/>
                </a:cubicBezTo>
                <a:cubicBezTo>
                  <a:pt x="16566" y="11492"/>
                  <a:pt x="16902" y="11945"/>
                  <a:pt x="17291" y="12491"/>
                </a:cubicBezTo>
                <a:cubicBezTo>
                  <a:pt x="17746" y="13115"/>
                  <a:pt x="18264" y="13817"/>
                  <a:pt x="18902" y="13817"/>
                </a:cubicBezTo>
                <a:cubicBezTo>
                  <a:pt x="19556" y="13817"/>
                  <a:pt x="20113" y="13083"/>
                  <a:pt x="20605" y="12428"/>
                </a:cubicBezTo>
                <a:cubicBezTo>
                  <a:pt x="20972" y="11944"/>
                  <a:pt x="21319" y="11492"/>
                  <a:pt x="21600" y="11492"/>
                </a:cubicBezTo>
                <a:lnTo>
                  <a:pt x="21600" y="7769"/>
                </a:lnTo>
                <a:cubicBezTo>
                  <a:pt x="21038" y="7769"/>
                  <a:pt x="20547" y="8422"/>
                  <a:pt x="20071" y="9045"/>
                </a:cubicBezTo>
                <a:cubicBezTo>
                  <a:pt x="19655" y="9591"/>
                  <a:pt x="19270" y="10088"/>
                  <a:pt x="18897" y="10088"/>
                </a:cubicBezTo>
                <a:cubicBezTo>
                  <a:pt x="18551" y="10088"/>
                  <a:pt x="18221" y="9638"/>
                  <a:pt x="17842" y="9123"/>
                </a:cubicBezTo>
                <a:cubicBezTo>
                  <a:pt x="17377" y="8484"/>
                  <a:pt x="16853" y="7769"/>
                  <a:pt x="16198" y="7769"/>
                </a:cubicBezTo>
                <a:cubicBezTo>
                  <a:pt x="15544" y="7769"/>
                  <a:pt x="15037" y="8485"/>
                  <a:pt x="14583" y="9109"/>
                </a:cubicBezTo>
                <a:cubicBezTo>
                  <a:pt x="14205" y="9639"/>
                  <a:pt x="13875" y="10088"/>
                  <a:pt x="13502" y="10088"/>
                </a:cubicBezTo>
                <a:cubicBezTo>
                  <a:pt x="13134" y="10088"/>
                  <a:pt x="12820" y="9638"/>
                  <a:pt x="12452" y="9123"/>
                </a:cubicBezTo>
                <a:cubicBezTo>
                  <a:pt x="11998" y="8484"/>
                  <a:pt x="11485" y="7769"/>
                  <a:pt x="10803" y="7769"/>
                </a:cubicBezTo>
                <a:cubicBezTo>
                  <a:pt x="10106" y="7769"/>
                  <a:pt x="9554" y="8517"/>
                  <a:pt x="9073" y="9172"/>
                </a:cubicBezTo>
                <a:cubicBezTo>
                  <a:pt x="8711" y="9671"/>
                  <a:pt x="8402" y="10088"/>
                  <a:pt x="8105" y="10088"/>
                </a:cubicBezTo>
                <a:cubicBezTo>
                  <a:pt x="7802" y="10088"/>
                  <a:pt x="7467" y="9653"/>
                  <a:pt x="7083" y="9138"/>
                </a:cubicBezTo>
                <a:cubicBezTo>
                  <a:pt x="6602" y="8499"/>
                  <a:pt x="6050" y="7769"/>
                  <a:pt x="5402" y="7769"/>
                </a:cubicBezTo>
                <a:cubicBezTo>
                  <a:pt x="4747" y="7769"/>
                  <a:pt x="4202" y="8499"/>
                  <a:pt x="3715" y="9138"/>
                </a:cubicBezTo>
                <a:cubicBezTo>
                  <a:pt x="3348" y="9622"/>
                  <a:pt x="3001" y="10088"/>
                  <a:pt x="2703" y="10088"/>
                </a:cubicBezTo>
                <a:cubicBezTo>
                  <a:pt x="2384" y="10088"/>
                  <a:pt x="1996" y="9590"/>
                  <a:pt x="1585" y="9060"/>
                </a:cubicBezTo>
                <a:cubicBezTo>
                  <a:pt x="1082" y="8421"/>
                  <a:pt x="568" y="7769"/>
                  <a:pt x="0" y="7769"/>
                </a:cubicBezTo>
                <a:close/>
                <a:moveTo>
                  <a:pt x="0" y="15547"/>
                </a:moveTo>
                <a:lnTo>
                  <a:pt x="0" y="19275"/>
                </a:lnTo>
                <a:cubicBezTo>
                  <a:pt x="292" y="19275"/>
                  <a:pt x="665" y="19761"/>
                  <a:pt x="1059" y="20260"/>
                </a:cubicBezTo>
                <a:cubicBezTo>
                  <a:pt x="1551" y="20884"/>
                  <a:pt x="2109" y="21600"/>
                  <a:pt x="2703" y="21600"/>
                </a:cubicBezTo>
                <a:cubicBezTo>
                  <a:pt x="3287" y="21600"/>
                  <a:pt x="3802" y="20912"/>
                  <a:pt x="4256" y="20304"/>
                </a:cubicBezTo>
                <a:cubicBezTo>
                  <a:pt x="4656" y="19773"/>
                  <a:pt x="5034" y="19275"/>
                  <a:pt x="5402" y="19275"/>
                </a:cubicBezTo>
                <a:cubicBezTo>
                  <a:pt x="5769" y="19275"/>
                  <a:pt x="6142" y="19773"/>
                  <a:pt x="6542" y="20304"/>
                </a:cubicBezTo>
                <a:cubicBezTo>
                  <a:pt x="6996" y="20912"/>
                  <a:pt x="7516" y="21600"/>
                  <a:pt x="8105" y="21600"/>
                </a:cubicBezTo>
                <a:cubicBezTo>
                  <a:pt x="8689" y="21600"/>
                  <a:pt x="9186" y="20931"/>
                  <a:pt x="9624" y="20323"/>
                </a:cubicBezTo>
                <a:cubicBezTo>
                  <a:pt x="10019" y="19777"/>
                  <a:pt x="10392" y="19275"/>
                  <a:pt x="10803" y="19275"/>
                </a:cubicBezTo>
                <a:cubicBezTo>
                  <a:pt x="11187" y="19275"/>
                  <a:pt x="11512" y="19729"/>
                  <a:pt x="11885" y="20260"/>
                </a:cubicBezTo>
                <a:cubicBezTo>
                  <a:pt x="12328" y="20884"/>
                  <a:pt x="12837" y="21600"/>
                  <a:pt x="13502" y="21600"/>
                </a:cubicBezTo>
                <a:cubicBezTo>
                  <a:pt x="14172" y="21600"/>
                  <a:pt x="14690" y="20885"/>
                  <a:pt x="15144" y="20245"/>
                </a:cubicBezTo>
                <a:cubicBezTo>
                  <a:pt x="15517" y="19730"/>
                  <a:pt x="15836" y="19275"/>
                  <a:pt x="16198" y="19275"/>
                </a:cubicBezTo>
                <a:cubicBezTo>
                  <a:pt x="16566" y="19275"/>
                  <a:pt x="16902" y="19729"/>
                  <a:pt x="17291" y="20274"/>
                </a:cubicBezTo>
                <a:cubicBezTo>
                  <a:pt x="17746" y="20898"/>
                  <a:pt x="18264" y="21600"/>
                  <a:pt x="18902" y="21600"/>
                </a:cubicBezTo>
                <a:cubicBezTo>
                  <a:pt x="19556" y="21600"/>
                  <a:pt x="20113" y="20866"/>
                  <a:pt x="20605" y="20211"/>
                </a:cubicBezTo>
                <a:cubicBezTo>
                  <a:pt x="20972" y="19728"/>
                  <a:pt x="21319" y="19275"/>
                  <a:pt x="21600" y="19275"/>
                </a:cubicBezTo>
                <a:lnTo>
                  <a:pt x="21600" y="15547"/>
                </a:lnTo>
                <a:cubicBezTo>
                  <a:pt x="21038" y="15547"/>
                  <a:pt x="20547" y="16205"/>
                  <a:pt x="20071" y="16829"/>
                </a:cubicBezTo>
                <a:cubicBezTo>
                  <a:pt x="19655" y="17359"/>
                  <a:pt x="19270" y="17872"/>
                  <a:pt x="18897" y="17872"/>
                </a:cubicBezTo>
                <a:cubicBezTo>
                  <a:pt x="18551" y="17872"/>
                  <a:pt x="18221" y="17421"/>
                  <a:pt x="17842" y="16907"/>
                </a:cubicBezTo>
                <a:cubicBezTo>
                  <a:pt x="17377" y="16267"/>
                  <a:pt x="16853" y="15547"/>
                  <a:pt x="16198" y="15547"/>
                </a:cubicBezTo>
                <a:cubicBezTo>
                  <a:pt x="15544" y="15547"/>
                  <a:pt x="15037" y="16268"/>
                  <a:pt x="14583" y="16892"/>
                </a:cubicBezTo>
                <a:cubicBezTo>
                  <a:pt x="14205" y="17422"/>
                  <a:pt x="13875" y="17872"/>
                  <a:pt x="13502" y="17872"/>
                </a:cubicBezTo>
                <a:cubicBezTo>
                  <a:pt x="13134" y="17872"/>
                  <a:pt x="12820" y="17421"/>
                  <a:pt x="12452" y="16907"/>
                </a:cubicBezTo>
                <a:cubicBezTo>
                  <a:pt x="11998" y="16267"/>
                  <a:pt x="11485" y="15547"/>
                  <a:pt x="10803" y="15547"/>
                </a:cubicBezTo>
                <a:cubicBezTo>
                  <a:pt x="10106" y="15547"/>
                  <a:pt x="9554" y="16296"/>
                  <a:pt x="9073" y="16951"/>
                </a:cubicBezTo>
                <a:cubicBezTo>
                  <a:pt x="8711" y="17450"/>
                  <a:pt x="8402" y="17872"/>
                  <a:pt x="8105" y="17872"/>
                </a:cubicBezTo>
                <a:cubicBezTo>
                  <a:pt x="7802" y="17872"/>
                  <a:pt x="7467" y="17436"/>
                  <a:pt x="7083" y="16921"/>
                </a:cubicBezTo>
                <a:cubicBezTo>
                  <a:pt x="6602" y="16282"/>
                  <a:pt x="6050" y="15547"/>
                  <a:pt x="5402" y="15547"/>
                </a:cubicBezTo>
                <a:cubicBezTo>
                  <a:pt x="4747" y="15547"/>
                  <a:pt x="4202" y="16282"/>
                  <a:pt x="3715" y="16921"/>
                </a:cubicBezTo>
                <a:cubicBezTo>
                  <a:pt x="3348" y="17405"/>
                  <a:pt x="3001" y="17872"/>
                  <a:pt x="2703" y="17872"/>
                </a:cubicBezTo>
                <a:cubicBezTo>
                  <a:pt x="2384" y="17872"/>
                  <a:pt x="1996" y="17374"/>
                  <a:pt x="1585" y="16843"/>
                </a:cubicBezTo>
                <a:cubicBezTo>
                  <a:pt x="1082" y="16204"/>
                  <a:pt x="568" y="15547"/>
                  <a:pt x="0" y="15547"/>
                </a:cubicBezTo>
                <a:close/>
              </a:path>
            </a:pathLst>
          </a:custGeom>
          <a:solidFill>
            <a:srgbClr val="DA81AB">
              <a:alpha val="7725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33" name="Google Shape;233;p26"/>
          <p:cNvSpPr/>
          <p:nvPr/>
        </p:nvSpPr>
        <p:spPr>
          <a:xfrm>
            <a:off x="2471464" y="2679243"/>
            <a:ext cx="471974" cy="480492"/>
          </a:xfrm>
          <a:custGeom>
            <a:rect b="b" l="l" r="r" t="t"/>
            <a:pathLst>
              <a:path extrusionOk="0" h="21600" w="21468">
                <a:moveTo>
                  <a:pt x="4660" y="0"/>
                </a:moveTo>
                <a:cubicBezTo>
                  <a:pt x="4486" y="0"/>
                  <a:pt x="4333" y="77"/>
                  <a:pt x="4229" y="199"/>
                </a:cubicBezTo>
                <a:lnTo>
                  <a:pt x="3737" y="123"/>
                </a:lnTo>
                <a:cubicBezTo>
                  <a:pt x="3611" y="103"/>
                  <a:pt x="3497" y="199"/>
                  <a:pt x="3497" y="325"/>
                </a:cubicBezTo>
                <a:lnTo>
                  <a:pt x="3497" y="356"/>
                </a:lnTo>
                <a:lnTo>
                  <a:pt x="3192" y="356"/>
                </a:lnTo>
                <a:cubicBezTo>
                  <a:pt x="2222" y="356"/>
                  <a:pt x="1316" y="783"/>
                  <a:pt x="707" y="1529"/>
                </a:cubicBezTo>
                <a:cubicBezTo>
                  <a:pt x="99" y="2274"/>
                  <a:pt x="-132" y="3240"/>
                  <a:pt x="73" y="4176"/>
                </a:cubicBezTo>
                <a:lnTo>
                  <a:pt x="1323" y="9889"/>
                </a:lnTo>
                <a:cubicBezTo>
                  <a:pt x="1244" y="9911"/>
                  <a:pt x="1177" y="9959"/>
                  <a:pt x="1132" y="10027"/>
                </a:cubicBezTo>
                <a:cubicBezTo>
                  <a:pt x="1084" y="10102"/>
                  <a:pt x="1067" y="10189"/>
                  <a:pt x="1086" y="10275"/>
                </a:cubicBezTo>
                <a:lnTo>
                  <a:pt x="1696" y="13068"/>
                </a:lnTo>
                <a:cubicBezTo>
                  <a:pt x="2020" y="14547"/>
                  <a:pt x="3366" y="15619"/>
                  <a:pt x="4897" y="15619"/>
                </a:cubicBezTo>
                <a:lnTo>
                  <a:pt x="5236" y="15619"/>
                </a:lnTo>
                <a:lnTo>
                  <a:pt x="5236" y="18509"/>
                </a:lnTo>
                <a:cubicBezTo>
                  <a:pt x="5236" y="20214"/>
                  <a:pt x="6701" y="21600"/>
                  <a:pt x="8502" y="21600"/>
                </a:cubicBezTo>
                <a:cubicBezTo>
                  <a:pt x="9813" y="21600"/>
                  <a:pt x="10992" y="20863"/>
                  <a:pt x="11506" y="19721"/>
                </a:cubicBezTo>
                <a:lnTo>
                  <a:pt x="11522" y="19689"/>
                </a:lnTo>
                <a:lnTo>
                  <a:pt x="14654" y="8875"/>
                </a:lnTo>
                <a:cubicBezTo>
                  <a:pt x="14936" y="8011"/>
                  <a:pt x="15813" y="7407"/>
                  <a:pt x="16787" y="7407"/>
                </a:cubicBezTo>
                <a:cubicBezTo>
                  <a:pt x="18016" y="7407"/>
                  <a:pt x="19016" y="8335"/>
                  <a:pt x="19016" y="9475"/>
                </a:cubicBezTo>
                <a:lnTo>
                  <a:pt x="19016" y="12151"/>
                </a:lnTo>
                <a:cubicBezTo>
                  <a:pt x="18200" y="12375"/>
                  <a:pt x="17601" y="13113"/>
                  <a:pt x="17601" y="13991"/>
                </a:cubicBezTo>
                <a:cubicBezTo>
                  <a:pt x="17601" y="15047"/>
                  <a:pt x="18466" y="15902"/>
                  <a:pt x="19534" y="15902"/>
                </a:cubicBezTo>
                <a:cubicBezTo>
                  <a:pt x="20602" y="15902"/>
                  <a:pt x="21468" y="15047"/>
                  <a:pt x="21468" y="13991"/>
                </a:cubicBezTo>
                <a:cubicBezTo>
                  <a:pt x="21468" y="13113"/>
                  <a:pt x="20869" y="12375"/>
                  <a:pt x="20053" y="12151"/>
                </a:cubicBezTo>
                <a:lnTo>
                  <a:pt x="20053" y="9475"/>
                </a:lnTo>
                <a:cubicBezTo>
                  <a:pt x="20053" y="7770"/>
                  <a:pt x="18588" y="6382"/>
                  <a:pt x="16787" y="6382"/>
                </a:cubicBezTo>
                <a:cubicBezTo>
                  <a:pt x="15341" y="6382"/>
                  <a:pt x="14085" y="7261"/>
                  <a:pt x="13663" y="8570"/>
                </a:cubicBezTo>
                <a:lnTo>
                  <a:pt x="10545" y="19335"/>
                </a:lnTo>
                <a:cubicBezTo>
                  <a:pt x="10189" y="20090"/>
                  <a:pt x="9392" y="20575"/>
                  <a:pt x="8502" y="20575"/>
                </a:cubicBezTo>
                <a:cubicBezTo>
                  <a:pt x="7273" y="20575"/>
                  <a:pt x="6273" y="19649"/>
                  <a:pt x="6273" y="18509"/>
                </a:cubicBezTo>
                <a:lnTo>
                  <a:pt x="6273" y="15619"/>
                </a:lnTo>
                <a:lnTo>
                  <a:pt x="6612" y="15619"/>
                </a:lnTo>
                <a:cubicBezTo>
                  <a:pt x="8143" y="15619"/>
                  <a:pt x="9489" y="14547"/>
                  <a:pt x="9813" y="13068"/>
                </a:cubicBezTo>
                <a:lnTo>
                  <a:pt x="10423" y="10275"/>
                </a:lnTo>
                <a:cubicBezTo>
                  <a:pt x="10442" y="10189"/>
                  <a:pt x="10426" y="10102"/>
                  <a:pt x="10377" y="10027"/>
                </a:cubicBezTo>
                <a:cubicBezTo>
                  <a:pt x="10333" y="9959"/>
                  <a:pt x="10265" y="9911"/>
                  <a:pt x="10186" y="9889"/>
                </a:cubicBezTo>
                <a:lnTo>
                  <a:pt x="11438" y="4176"/>
                </a:lnTo>
                <a:cubicBezTo>
                  <a:pt x="11643" y="3240"/>
                  <a:pt x="11411" y="2274"/>
                  <a:pt x="10802" y="1529"/>
                </a:cubicBezTo>
                <a:cubicBezTo>
                  <a:pt x="10193" y="783"/>
                  <a:pt x="9287" y="356"/>
                  <a:pt x="8318" y="356"/>
                </a:cubicBezTo>
                <a:lnTo>
                  <a:pt x="8014" y="356"/>
                </a:lnTo>
                <a:lnTo>
                  <a:pt x="8014" y="325"/>
                </a:lnTo>
                <a:cubicBezTo>
                  <a:pt x="8014" y="199"/>
                  <a:pt x="7898" y="103"/>
                  <a:pt x="7772" y="123"/>
                </a:cubicBezTo>
                <a:lnTo>
                  <a:pt x="7281" y="199"/>
                </a:lnTo>
                <a:cubicBezTo>
                  <a:pt x="7177" y="77"/>
                  <a:pt x="7025" y="0"/>
                  <a:pt x="6851" y="0"/>
                </a:cubicBezTo>
                <a:cubicBezTo>
                  <a:pt x="6382" y="0"/>
                  <a:pt x="6382" y="1121"/>
                  <a:pt x="6851" y="1121"/>
                </a:cubicBezTo>
                <a:cubicBezTo>
                  <a:pt x="7025" y="1121"/>
                  <a:pt x="7177" y="1042"/>
                  <a:pt x="7281" y="920"/>
                </a:cubicBezTo>
                <a:lnTo>
                  <a:pt x="7772" y="998"/>
                </a:lnTo>
                <a:cubicBezTo>
                  <a:pt x="7898" y="1018"/>
                  <a:pt x="8014" y="920"/>
                  <a:pt x="8014" y="794"/>
                </a:cubicBezTo>
                <a:lnTo>
                  <a:pt x="8014" y="765"/>
                </a:lnTo>
                <a:lnTo>
                  <a:pt x="8318" y="765"/>
                </a:lnTo>
                <a:cubicBezTo>
                  <a:pt x="9161" y="765"/>
                  <a:pt x="9950" y="1137"/>
                  <a:pt x="10480" y="1786"/>
                </a:cubicBezTo>
                <a:cubicBezTo>
                  <a:pt x="11009" y="2435"/>
                  <a:pt x="11211" y="3274"/>
                  <a:pt x="11032" y="4088"/>
                </a:cubicBezTo>
                <a:lnTo>
                  <a:pt x="9782" y="9801"/>
                </a:lnTo>
                <a:cubicBezTo>
                  <a:pt x="9609" y="9775"/>
                  <a:pt x="9441" y="9886"/>
                  <a:pt x="9404" y="10058"/>
                </a:cubicBezTo>
                <a:lnTo>
                  <a:pt x="8793" y="12848"/>
                </a:lnTo>
                <a:cubicBezTo>
                  <a:pt x="8573" y="13856"/>
                  <a:pt x="7656" y="14588"/>
                  <a:pt x="6612" y="14588"/>
                </a:cubicBezTo>
                <a:lnTo>
                  <a:pt x="4899" y="14588"/>
                </a:lnTo>
                <a:cubicBezTo>
                  <a:pt x="3855" y="14588"/>
                  <a:pt x="2937" y="13856"/>
                  <a:pt x="2716" y="12848"/>
                </a:cubicBezTo>
                <a:lnTo>
                  <a:pt x="2106" y="10058"/>
                </a:lnTo>
                <a:cubicBezTo>
                  <a:pt x="2087" y="9971"/>
                  <a:pt x="2036" y="9897"/>
                  <a:pt x="1961" y="9849"/>
                </a:cubicBezTo>
                <a:cubicBezTo>
                  <a:pt x="1891" y="9805"/>
                  <a:pt x="1808" y="9789"/>
                  <a:pt x="1727" y="9801"/>
                </a:cubicBezTo>
                <a:lnTo>
                  <a:pt x="477" y="4088"/>
                </a:lnTo>
                <a:cubicBezTo>
                  <a:pt x="299" y="3274"/>
                  <a:pt x="502" y="2435"/>
                  <a:pt x="1031" y="1786"/>
                </a:cubicBezTo>
                <a:cubicBezTo>
                  <a:pt x="1561" y="1137"/>
                  <a:pt x="2348" y="765"/>
                  <a:pt x="3192" y="765"/>
                </a:cubicBezTo>
                <a:lnTo>
                  <a:pt x="3497" y="765"/>
                </a:lnTo>
                <a:lnTo>
                  <a:pt x="3497" y="794"/>
                </a:lnTo>
                <a:cubicBezTo>
                  <a:pt x="3497" y="920"/>
                  <a:pt x="3611" y="1018"/>
                  <a:pt x="3737" y="998"/>
                </a:cubicBezTo>
                <a:lnTo>
                  <a:pt x="4229" y="920"/>
                </a:lnTo>
                <a:cubicBezTo>
                  <a:pt x="4333" y="1042"/>
                  <a:pt x="4486" y="1121"/>
                  <a:pt x="4660" y="1121"/>
                </a:cubicBezTo>
                <a:cubicBezTo>
                  <a:pt x="5129" y="1121"/>
                  <a:pt x="5129" y="0"/>
                  <a:pt x="4660" y="0"/>
                </a:cubicBezTo>
                <a:close/>
                <a:moveTo>
                  <a:pt x="19016" y="12768"/>
                </a:moveTo>
                <a:lnTo>
                  <a:pt x="19016" y="13314"/>
                </a:lnTo>
                <a:cubicBezTo>
                  <a:pt x="18817" y="13467"/>
                  <a:pt x="18688" y="13705"/>
                  <a:pt x="18688" y="13973"/>
                </a:cubicBezTo>
                <a:cubicBezTo>
                  <a:pt x="18688" y="14433"/>
                  <a:pt x="19068" y="14808"/>
                  <a:pt x="19534" y="14808"/>
                </a:cubicBezTo>
                <a:cubicBezTo>
                  <a:pt x="20001" y="14808"/>
                  <a:pt x="20380" y="14433"/>
                  <a:pt x="20380" y="13973"/>
                </a:cubicBezTo>
                <a:cubicBezTo>
                  <a:pt x="20380" y="13705"/>
                  <a:pt x="20251" y="13467"/>
                  <a:pt x="20053" y="13314"/>
                </a:cubicBezTo>
                <a:lnTo>
                  <a:pt x="20053" y="12768"/>
                </a:lnTo>
                <a:cubicBezTo>
                  <a:pt x="20526" y="12967"/>
                  <a:pt x="20857" y="13432"/>
                  <a:pt x="20857" y="13973"/>
                </a:cubicBezTo>
                <a:cubicBezTo>
                  <a:pt x="20857" y="14694"/>
                  <a:pt x="20265" y="15282"/>
                  <a:pt x="19534" y="15282"/>
                </a:cubicBezTo>
                <a:cubicBezTo>
                  <a:pt x="18804" y="15282"/>
                  <a:pt x="18209" y="14694"/>
                  <a:pt x="18209" y="13973"/>
                </a:cubicBezTo>
                <a:cubicBezTo>
                  <a:pt x="18209" y="13432"/>
                  <a:pt x="18542" y="12967"/>
                  <a:pt x="19016" y="12768"/>
                </a:cubicBezTo>
                <a:close/>
              </a:path>
            </a:pathLst>
          </a:custGeom>
          <a:solidFill>
            <a:srgbClr val="DA81AB">
              <a:alpha val="7725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7"/>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000000"/>
              </a:buClr>
              <a:buSzPts val="3200"/>
              <a:buFont typeface="Helvetica Neue"/>
              <a:buNone/>
            </a:pPr>
            <a:r>
              <a:rPr b="1" lang="es" sz="2500">
                <a:solidFill>
                  <a:srgbClr val="000000"/>
                </a:solidFill>
              </a:rPr>
              <a:t>Benchmark Results</a:t>
            </a:r>
            <a:endParaRPr b="1" sz="2500"/>
          </a:p>
        </p:txBody>
      </p:sp>
      <p:sp>
        <p:nvSpPr>
          <p:cNvPr id="239" name="Google Shape;239;p27"/>
          <p:cNvSpPr/>
          <p:nvPr/>
        </p:nvSpPr>
        <p:spPr>
          <a:xfrm>
            <a:off x="8402664" y="209710"/>
            <a:ext cx="378075" cy="544428"/>
          </a:xfrm>
          <a:custGeom>
            <a:rect b="b" l="l" r="r" t="t"/>
            <a:pathLst>
              <a:path extrusionOk="0" h="21600" w="21294">
                <a:moveTo>
                  <a:pt x="7609" y="0"/>
                </a:moveTo>
                <a:cubicBezTo>
                  <a:pt x="7178" y="0"/>
                  <a:pt x="6826" y="248"/>
                  <a:pt x="6826" y="552"/>
                </a:cubicBezTo>
                <a:cubicBezTo>
                  <a:pt x="6826" y="856"/>
                  <a:pt x="7178" y="1104"/>
                  <a:pt x="7609" y="1104"/>
                </a:cubicBezTo>
                <a:lnTo>
                  <a:pt x="7978" y="1104"/>
                </a:lnTo>
                <a:lnTo>
                  <a:pt x="7978" y="5587"/>
                </a:lnTo>
                <a:lnTo>
                  <a:pt x="53" y="20785"/>
                </a:lnTo>
                <a:cubicBezTo>
                  <a:pt x="-153" y="21181"/>
                  <a:pt x="264" y="21600"/>
                  <a:pt x="863" y="21600"/>
                </a:cubicBezTo>
                <a:lnTo>
                  <a:pt x="20433" y="21600"/>
                </a:lnTo>
                <a:cubicBezTo>
                  <a:pt x="21032" y="21600"/>
                  <a:pt x="21447" y="21181"/>
                  <a:pt x="21241" y="20785"/>
                </a:cubicBezTo>
                <a:lnTo>
                  <a:pt x="13318" y="5587"/>
                </a:lnTo>
                <a:lnTo>
                  <a:pt x="13318" y="1104"/>
                </a:lnTo>
                <a:lnTo>
                  <a:pt x="13687" y="1104"/>
                </a:lnTo>
                <a:cubicBezTo>
                  <a:pt x="14119" y="1104"/>
                  <a:pt x="14470" y="856"/>
                  <a:pt x="14470" y="552"/>
                </a:cubicBezTo>
                <a:cubicBezTo>
                  <a:pt x="14470" y="248"/>
                  <a:pt x="14119" y="0"/>
                  <a:pt x="13687" y="0"/>
                </a:cubicBezTo>
                <a:lnTo>
                  <a:pt x="7609" y="0"/>
                </a:lnTo>
                <a:close/>
                <a:moveTo>
                  <a:pt x="9109" y="7347"/>
                </a:moveTo>
                <a:lnTo>
                  <a:pt x="12202" y="7347"/>
                </a:lnTo>
                <a:lnTo>
                  <a:pt x="12202" y="7725"/>
                </a:lnTo>
                <a:lnTo>
                  <a:pt x="9109" y="7725"/>
                </a:lnTo>
                <a:lnTo>
                  <a:pt x="9109" y="7347"/>
                </a:lnTo>
                <a:close/>
                <a:moveTo>
                  <a:pt x="10498" y="8383"/>
                </a:moveTo>
                <a:lnTo>
                  <a:pt x="12199" y="8383"/>
                </a:lnTo>
                <a:lnTo>
                  <a:pt x="12199" y="8761"/>
                </a:lnTo>
                <a:lnTo>
                  <a:pt x="10498" y="8761"/>
                </a:lnTo>
                <a:lnTo>
                  <a:pt x="10498" y="8383"/>
                </a:lnTo>
                <a:close/>
                <a:moveTo>
                  <a:pt x="10498" y="9420"/>
                </a:moveTo>
                <a:lnTo>
                  <a:pt x="12199" y="9420"/>
                </a:lnTo>
                <a:lnTo>
                  <a:pt x="12199" y="9798"/>
                </a:lnTo>
                <a:lnTo>
                  <a:pt x="10498" y="9798"/>
                </a:lnTo>
                <a:lnTo>
                  <a:pt x="10498" y="9420"/>
                </a:lnTo>
                <a:close/>
                <a:moveTo>
                  <a:pt x="10496" y="10457"/>
                </a:moveTo>
                <a:lnTo>
                  <a:pt x="12197" y="10457"/>
                </a:lnTo>
                <a:lnTo>
                  <a:pt x="12197" y="10834"/>
                </a:lnTo>
                <a:lnTo>
                  <a:pt x="10496" y="10834"/>
                </a:lnTo>
                <a:lnTo>
                  <a:pt x="10496" y="10457"/>
                </a:lnTo>
                <a:close/>
                <a:moveTo>
                  <a:pt x="9104" y="11494"/>
                </a:moveTo>
                <a:lnTo>
                  <a:pt x="12197" y="11494"/>
                </a:lnTo>
                <a:lnTo>
                  <a:pt x="12197" y="11870"/>
                </a:lnTo>
                <a:lnTo>
                  <a:pt x="9104" y="11870"/>
                </a:lnTo>
                <a:lnTo>
                  <a:pt x="9104" y="11494"/>
                </a:lnTo>
                <a:close/>
                <a:moveTo>
                  <a:pt x="10494" y="12530"/>
                </a:moveTo>
                <a:lnTo>
                  <a:pt x="12195" y="12530"/>
                </a:lnTo>
                <a:lnTo>
                  <a:pt x="12195" y="12906"/>
                </a:lnTo>
                <a:lnTo>
                  <a:pt x="10494" y="12906"/>
                </a:lnTo>
                <a:lnTo>
                  <a:pt x="10494" y="12530"/>
                </a:lnTo>
                <a:close/>
                <a:moveTo>
                  <a:pt x="10494" y="13566"/>
                </a:moveTo>
                <a:lnTo>
                  <a:pt x="12195" y="13566"/>
                </a:lnTo>
                <a:lnTo>
                  <a:pt x="12195" y="13944"/>
                </a:lnTo>
                <a:lnTo>
                  <a:pt x="10494" y="13944"/>
                </a:lnTo>
                <a:lnTo>
                  <a:pt x="10494" y="13566"/>
                </a:lnTo>
                <a:close/>
                <a:moveTo>
                  <a:pt x="10491" y="14602"/>
                </a:moveTo>
                <a:lnTo>
                  <a:pt x="12195" y="14602"/>
                </a:lnTo>
                <a:lnTo>
                  <a:pt x="12192" y="14980"/>
                </a:lnTo>
                <a:lnTo>
                  <a:pt x="10491" y="14980"/>
                </a:lnTo>
                <a:lnTo>
                  <a:pt x="10491" y="14602"/>
                </a:lnTo>
                <a:close/>
                <a:moveTo>
                  <a:pt x="9099" y="15638"/>
                </a:moveTo>
                <a:lnTo>
                  <a:pt x="12192" y="15638"/>
                </a:lnTo>
                <a:lnTo>
                  <a:pt x="12192" y="16016"/>
                </a:lnTo>
                <a:lnTo>
                  <a:pt x="9099" y="16016"/>
                </a:lnTo>
                <a:lnTo>
                  <a:pt x="9099" y="15638"/>
                </a:lnTo>
                <a:close/>
                <a:moveTo>
                  <a:pt x="10489" y="16674"/>
                </a:moveTo>
                <a:lnTo>
                  <a:pt x="12192" y="16674"/>
                </a:lnTo>
                <a:lnTo>
                  <a:pt x="12190" y="17052"/>
                </a:lnTo>
                <a:lnTo>
                  <a:pt x="10489" y="17052"/>
                </a:lnTo>
                <a:lnTo>
                  <a:pt x="10489" y="16674"/>
                </a:lnTo>
                <a:close/>
                <a:moveTo>
                  <a:pt x="10489" y="17710"/>
                </a:moveTo>
                <a:lnTo>
                  <a:pt x="12190" y="17710"/>
                </a:lnTo>
                <a:lnTo>
                  <a:pt x="12190" y="18088"/>
                </a:lnTo>
                <a:lnTo>
                  <a:pt x="10489" y="18088"/>
                </a:lnTo>
                <a:lnTo>
                  <a:pt x="10489" y="17710"/>
                </a:lnTo>
                <a:close/>
                <a:moveTo>
                  <a:pt x="10489" y="18746"/>
                </a:moveTo>
                <a:lnTo>
                  <a:pt x="12190" y="18746"/>
                </a:lnTo>
                <a:lnTo>
                  <a:pt x="12187" y="19124"/>
                </a:lnTo>
                <a:lnTo>
                  <a:pt x="10486" y="19124"/>
                </a:lnTo>
                <a:lnTo>
                  <a:pt x="10489" y="18746"/>
                </a:lnTo>
                <a:close/>
                <a:moveTo>
                  <a:pt x="9095" y="19783"/>
                </a:moveTo>
                <a:lnTo>
                  <a:pt x="12187" y="19783"/>
                </a:lnTo>
                <a:lnTo>
                  <a:pt x="12187" y="20161"/>
                </a:lnTo>
                <a:lnTo>
                  <a:pt x="9095" y="20161"/>
                </a:lnTo>
                <a:lnTo>
                  <a:pt x="9095" y="19783"/>
                </a:lnTo>
                <a:close/>
              </a:path>
            </a:pathLst>
          </a:custGeom>
          <a:solidFill>
            <a:srgbClr val="DA81AB">
              <a:alpha val="7725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pic>
        <p:nvPicPr>
          <p:cNvPr descr="pasted-movie.png" id="240" name="Google Shape;240;p27"/>
          <p:cNvPicPr preferRelativeResize="0"/>
          <p:nvPr/>
        </p:nvPicPr>
        <p:blipFill rotWithShape="1">
          <a:blip r:embed="rId3">
            <a:alphaModFix/>
          </a:blip>
          <a:srcRect b="0" l="0" r="0" t="0"/>
          <a:stretch/>
        </p:blipFill>
        <p:spPr>
          <a:xfrm>
            <a:off x="1186506" y="1356617"/>
            <a:ext cx="6770986" cy="324960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Ready for Integration</a:t>
            </a:r>
            <a:endParaRPr b="1"/>
          </a:p>
        </p:txBody>
      </p:sp>
      <p:pic>
        <p:nvPicPr>
          <p:cNvPr descr="pasted-movie.png" id="246" name="Google Shape;246;p28"/>
          <p:cNvPicPr preferRelativeResize="0"/>
          <p:nvPr/>
        </p:nvPicPr>
        <p:blipFill rotWithShape="1">
          <a:blip r:embed="rId3">
            <a:alphaModFix/>
          </a:blip>
          <a:srcRect b="50867" l="0" r="76404" t="0"/>
          <a:stretch/>
        </p:blipFill>
        <p:spPr>
          <a:xfrm>
            <a:off x="513200" y="1787148"/>
            <a:ext cx="3021501" cy="3019525"/>
          </a:xfrm>
          <a:prstGeom prst="rect">
            <a:avLst/>
          </a:prstGeom>
          <a:noFill/>
          <a:ln>
            <a:noFill/>
          </a:ln>
        </p:spPr>
      </p:pic>
      <p:grpSp>
        <p:nvGrpSpPr>
          <p:cNvPr id="247" name="Google Shape;247;p28"/>
          <p:cNvGrpSpPr/>
          <p:nvPr/>
        </p:nvGrpSpPr>
        <p:grpSpPr>
          <a:xfrm>
            <a:off x="5061450" y="1459400"/>
            <a:ext cx="3846325" cy="3188072"/>
            <a:chOff x="5061450" y="1459400"/>
            <a:chExt cx="3846325" cy="3188072"/>
          </a:xfrm>
        </p:grpSpPr>
        <p:pic>
          <p:nvPicPr>
            <p:cNvPr descr="pasted-movie.png" id="248" name="Google Shape;248;p28"/>
            <p:cNvPicPr preferRelativeResize="0"/>
            <p:nvPr/>
          </p:nvPicPr>
          <p:blipFill rotWithShape="1">
            <a:blip r:embed="rId3">
              <a:alphaModFix/>
            </a:blip>
            <a:srcRect b="0" l="71583" r="0" t="49441"/>
            <a:stretch/>
          </p:blipFill>
          <p:spPr>
            <a:xfrm>
              <a:off x="5061450" y="1787153"/>
              <a:ext cx="3349901" cy="2860320"/>
            </a:xfrm>
            <a:prstGeom prst="rect">
              <a:avLst/>
            </a:prstGeom>
            <a:noFill/>
            <a:ln>
              <a:noFill/>
            </a:ln>
          </p:spPr>
        </p:pic>
        <p:sp>
          <p:nvSpPr>
            <p:cNvPr id="249" name="Google Shape;249;p28"/>
            <p:cNvSpPr/>
            <p:nvPr/>
          </p:nvSpPr>
          <p:spPr>
            <a:xfrm>
              <a:off x="7688575" y="1459400"/>
              <a:ext cx="1219200" cy="80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50" name="Google Shape;250;p28"/>
          <p:cNvSpPr txBox="1"/>
          <p:nvPr/>
        </p:nvSpPr>
        <p:spPr>
          <a:xfrm>
            <a:off x="1301100" y="1204623"/>
            <a:ext cx="121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800">
                <a:solidFill>
                  <a:schemeClr val="dk2"/>
                </a:solidFill>
              </a:rPr>
              <a:t>Before</a:t>
            </a:r>
            <a:endParaRPr b="1" sz="1800">
              <a:solidFill>
                <a:schemeClr val="dk2"/>
              </a:solidFill>
            </a:endParaRPr>
          </a:p>
        </p:txBody>
      </p:sp>
      <p:sp>
        <p:nvSpPr>
          <p:cNvPr id="251" name="Google Shape;251;p28"/>
          <p:cNvSpPr txBox="1"/>
          <p:nvPr/>
        </p:nvSpPr>
        <p:spPr>
          <a:xfrm>
            <a:off x="5846525" y="1204623"/>
            <a:ext cx="121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800">
                <a:solidFill>
                  <a:schemeClr val="dk2"/>
                </a:solidFill>
              </a:rPr>
              <a:t>After</a:t>
            </a:r>
            <a:endParaRPr b="1" sz="1800">
              <a:solidFill>
                <a:schemeClr val="dk2"/>
              </a:solidFill>
            </a:endParaRPr>
          </a:p>
        </p:txBody>
      </p:sp>
      <p:sp>
        <p:nvSpPr>
          <p:cNvPr id="252" name="Google Shape;252;p28"/>
          <p:cNvSpPr/>
          <p:nvPr/>
        </p:nvSpPr>
        <p:spPr>
          <a:xfrm>
            <a:off x="3922500" y="2838725"/>
            <a:ext cx="649500" cy="4617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9"/>
          <p:cNvSpPr txBox="1"/>
          <p:nvPr>
            <p:ph type="title"/>
          </p:nvPr>
        </p:nvSpPr>
        <p:spPr>
          <a:xfrm>
            <a:off x="2980200" y="2285400"/>
            <a:ext cx="3183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Vertical Integration</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Method: Similarity Network Fusion (SNF)</a:t>
            </a:r>
            <a:endParaRPr b="1"/>
          </a:p>
        </p:txBody>
      </p:sp>
      <p:sp>
        <p:nvSpPr>
          <p:cNvPr id="263" name="Google Shape;263;p30"/>
          <p:cNvSpPr txBox="1"/>
          <p:nvPr>
            <p:ph idx="1" type="body"/>
          </p:nvPr>
        </p:nvSpPr>
        <p:spPr>
          <a:xfrm>
            <a:off x="311700" y="1152475"/>
            <a:ext cx="7821900" cy="19620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s"/>
              <a:t>A </a:t>
            </a:r>
            <a:r>
              <a:rPr b="1" lang="es"/>
              <a:t>network-based method</a:t>
            </a:r>
            <a:r>
              <a:rPr lang="es"/>
              <a:t> to find sample subtypes</a:t>
            </a:r>
            <a:endParaRPr/>
          </a:p>
          <a:p>
            <a:pPr indent="0" lvl="0" marL="0" rtl="0" algn="l">
              <a:spcBef>
                <a:spcPts val="1200"/>
              </a:spcBef>
              <a:spcAft>
                <a:spcPts val="0"/>
              </a:spcAft>
              <a:buNone/>
            </a:pPr>
            <a:r>
              <a:rPr b="1" lang="es"/>
              <a:t>Step 1</a:t>
            </a:r>
            <a:r>
              <a:rPr lang="es"/>
              <a:t> Builds a </a:t>
            </a:r>
            <a:r>
              <a:rPr b="1" lang="es"/>
              <a:t>patient similarity network</a:t>
            </a:r>
            <a:r>
              <a:rPr lang="es"/>
              <a:t> for each omic data type (e.g., a gene expression network, a methylation network).</a:t>
            </a:r>
            <a:endParaRPr/>
          </a:p>
          <a:p>
            <a:pPr indent="0" lvl="0" marL="0" rtl="0" algn="l">
              <a:spcBef>
                <a:spcPts val="1200"/>
              </a:spcBef>
              <a:spcAft>
                <a:spcPts val="0"/>
              </a:spcAft>
              <a:buNone/>
            </a:pPr>
            <a:r>
              <a:rPr b="1" lang="es"/>
              <a:t>Step 2</a:t>
            </a:r>
            <a:r>
              <a:rPr lang="es"/>
              <a:t> Iteratively </a:t>
            </a:r>
            <a:r>
              <a:rPr b="1" lang="es"/>
              <a:t>fuses</a:t>
            </a:r>
            <a:r>
              <a:rPr lang="es"/>
              <a:t> these networks into a </a:t>
            </a:r>
            <a:r>
              <a:rPr b="1" lang="es"/>
              <a:t>single, comprehensive patient network</a:t>
            </a:r>
            <a:r>
              <a:rPr lang="es"/>
              <a:t>.</a:t>
            </a:r>
            <a:endParaRPr/>
          </a:p>
          <a:p>
            <a:pPr indent="0" lvl="0" marL="0" rtl="0" algn="l">
              <a:spcBef>
                <a:spcPts val="1200"/>
              </a:spcBef>
              <a:spcAft>
                <a:spcPts val="1200"/>
              </a:spcAft>
              <a:buNone/>
            </a:pPr>
            <a:r>
              <a:t/>
            </a:r>
            <a:endParaRPr/>
          </a:p>
        </p:txBody>
      </p:sp>
      <p:sp>
        <p:nvSpPr>
          <p:cNvPr id="264" name="Google Shape;264;p30"/>
          <p:cNvSpPr txBox="1"/>
          <p:nvPr/>
        </p:nvSpPr>
        <p:spPr>
          <a:xfrm>
            <a:off x="6015575" y="45279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3"/>
              </a:rPr>
              <a:t>https://www.nature.com/articles/nmeth.2810</a:t>
            </a:r>
            <a:endParaRPr/>
          </a:p>
        </p:txBody>
      </p:sp>
      <p:pic>
        <p:nvPicPr>
          <p:cNvPr id="265" name="Google Shape;265;p30"/>
          <p:cNvPicPr preferRelativeResize="0"/>
          <p:nvPr/>
        </p:nvPicPr>
        <p:blipFill>
          <a:blip r:embed="rId4">
            <a:alphaModFix/>
          </a:blip>
          <a:stretch>
            <a:fillRect/>
          </a:stretch>
        </p:blipFill>
        <p:spPr>
          <a:xfrm>
            <a:off x="1607762" y="2756650"/>
            <a:ext cx="5229775" cy="1771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The f</a:t>
            </a:r>
            <a:r>
              <a:rPr b="1" lang="es"/>
              <a:t>usion process</a:t>
            </a:r>
            <a:r>
              <a:rPr lang="es"/>
              <a:t> finds </a:t>
            </a:r>
            <a:r>
              <a:rPr b="1" lang="es"/>
              <a:t>strong similarities</a:t>
            </a:r>
            <a:r>
              <a:rPr lang="es"/>
              <a:t> found </a:t>
            </a:r>
            <a:r>
              <a:rPr b="1" lang="es"/>
              <a:t>in multiple omics layers</a:t>
            </a:r>
            <a:r>
              <a:rPr lang="es"/>
              <a:t> and filters out weak, "noisy" connections.</a:t>
            </a:r>
            <a:endParaRPr/>
          </a:p>
          <a:p>
            <a:pPr indent="0" lvl="0" marL="0" rtl="0" algn="l">
              <a:spcBef>
                <a:spcPts val="1200"/>
              </a:spcBef>
              <a:spcAft>
                <a:spcPts val="0"/>
              </a:spcAft>
              <a:buNone/>
            </a:pPr>
            <a:r>
              <a:rPr lang="es"/>
              <a:t>The final </a:t>
            </a:r>
            <a:r>
              <a:rPr b="1" lang="es"/>
              <a:t>fused network</a:t>
            </a:r>
            <a:r>
              <a:rPr lang="es"/>
              <a:t> represents a </a:t>
            </a:r>
            <a:r>
              <a:rPr b="1" lang="es"/>
              <a:t>robust measure of patient similarity</a:t>
            </a:r>
            <a:r>
              <a:rPr lang="es"/>
              <a:t> which is then used for </a:t>
            </a:r>
            <a:r>
              <a:rPr b="1" lang="es"/>
              <a:t>clustering</a:t>
            </a:r>
            <a:r>
              <a:rPr lang="es"/>
              <a:t>.</a:t>
            </a:r>
            <a:endParaRPr/>
          </a:p>
          <a:p>
            <a:pPr indent="0" lvl="0" marL="0" rtl="0" algn="l">
              <a:spcBef>
                <a:spcPts val="1200"/>
              </a:spcBef>
              <a:spcAft>
                <a:spcPts val="0"/>
              </a:spcAft>
              <a:buNone/>
            </a:pPr>
            <a:r>
              <a:rPr b="1" lang="es"/>
              <a:t>Pro</a:t>
            </a:r>
            <a:r>
              <a:rPr lang="es"/>
              <a:t> Tolerates noise and data heterogeneity well.</a:t>
            </a:r>
            <a:endParaRPr/>
          </a:p>
          <a:p>
            <a:pPr indent="0" lvl="0" marL="0" rtl="0" algn="l">
              <a:spcBef>
                <a:spcPts val="1200"/>
              </a:spcBef>
              <a:spcAft>
                <a:spcPts val="1200"/>
              </a:spcAft>
              <a:buNone/>
            </a:pPr>
            <a:r>
              <a:rPr b="1" lang="es"/>
              <a:t>Con</a:t>
            </a:r>
            <a:r>
              <a:rPr lang="es"/>
              <a:t> Does not identify the specific features (genes) driving the clusters.</a:t>
            </a:r>
            <a:endParaRPr/>
          </a:p>
        </p:txBody>
      </p:sp>
      <p:sp>
        <p:nvSpPr>
          <p:cNvPr id="271" name="Google Shape;27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Method: Similarity Network Fusion (SNF)</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Method: Multi-Omics Factor Analysis (MOFA)</a:t>
            </a:r>
            <a:endParaRPr b="1"/>
          </a:p>
        </p:txBody>
      </p:sp>
      <p:sp>
        <p:nvSpPr>
          <p:cNvPr id="277" name="Google Shape;277;p32"/>
          <p:cNvSpPr txBox="1"/>
          <p:nvPr/>
        </p:nvSpPr>
        <p:spPr>
          <a:xfrm>
            <a:off x="6144000" y="45279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3"/>
              </a:rPr>
              <a:t>https://www.embopress.org/doi/full/10.15252/msb.20178124</a:t>
            </a:r>
            <a:endParaRPr/>
          </a:p>
        </p:txBody>
      </p:sp>
      <p:pic>
        <p:nvPicPr>
          <p:cNvPr id="278" name="Google Shape;278;p32"/>
          <p:cNvPicPr preferRelativeResize="0"/>
          <p:nvPr/>
        </p:nvPicPr>
        <p:blipFill>
          <a:blip r:embed="rId4">
            <a:alphaModFix/>
          </a:blip>
          <a:stretch>
            <a:fillRect/>
          </a:stretch>
        </p:blipFill>
        <p:spPr>
          <a:xfrm>
            <a:off x="4372847" y="1017725"/>
            <a:ext cx="4771152" cy="3504625"/>
          </a:xfrm>
          <a:prstGeom prst="rect">
            <a:avLst/>
          </a:prstGeom>
          <a:noFill/>
          <a:ln>
            <a:noFill/>
          </a:ln>
        </p:spPr>
      </p:pic>
      <p:sp>
        <p:nvSpPr>
          <p:cNvPr id="279" name="Google Shape;279;p32"/>
          <p:cNvSpPr txBox="1"/>
          <p:nvPr>
            <p:ph idx="1" type="body"/>
          </p:nvPr>
        </p:nvSpPr>
        <p:spPr>
          <a:xfrm>
            <a:off x="311700" y="1152475"/>
            <a:ext cx="4217700" cy="3416400"/>
          </a:xfrm>
          <a:prstGeom prst="rect">
            <a:avLst/>
          </a:prstGeom>
        </p:spPr>
        <p:txBody>
          <a:bodyPr anchorCtr="0" anchor="t" bIns="91425" lIns="91425" spcFirstLastPara="1" rIns="91425" wrap="square" tIns="91425">
            <a:normAutofit fontScale="77500" lnSpcReduction="10000"/>
          </a:bodyPr>
          <a:lstStyle/>
          <a:p>
            <a:pPr indent="0" lvl="0" marL="0" rtl="0" algn="l">
              <a:lnSpc>
                <a:spcPct val="150000"/>
              </a:lnSpc>
              <a:spcBef>
                <a:spcPts val="1400"/>
              </a:spcBef>
              <a:spcAft>
                <a:spcPts val="0"/>
              </a:spcAft>
              <a:buClr>
                <a:schemeClr val="dk1"/>
              </a:buClr>
              <a:buSzPct val="81481"/>
              <a:buFont typeface="Arial"/>
              <a:buNone/>
            </a:pPr>
            <a:r>
              <a:rPr lang="es" sz="1350">
                <a:solidFill>
                  <a:srgbClr val="1E293B"/>
                </a:solidFill>
              </a:rPr>
              <a:t>An </a:t>
            </a:r>
            <a:r>
              <a:rPr b="1" lang="es" sz="1350">
                <a:solidFill>
                  <a:srgbClr val="1E293B"/>
                </a:solidFill>
              </a:rPr>
              <a:t>unsupervised integration method</a:t>
            </a:r>
            <a:r>
              <a:rPr lang="es" sz="1350">
                <a:solidFill>
                  <a:srgbClr val="1E293B"/>
                </a:solidFill>
              </a:rPr>
              <a:t>, often described as a </a:t>
            </a:r>
            <a:r>
              <a:rPr b="1" lang="es" sz="1350">
                <a:solidFill>
                  <a:srgbClr val="1E293B"/>
                </a:solidFill>
              </a:rPr>
              <a:t>generalization of PCA for multi-omics</a:t>
            </a:r>
            <a:r>
              <a:rPr lang="es" sz="1350">
                <a:solidFill>
                  <a:srgbClr val="1E293B"/>
                </a:solidFill>
              </a:rPr>
              <a:t>. The primary difference is the integration of </a:t>
            </a:r>
            <a:r>
              <a:rPr b="1" lang="es" sz="1350">
                <a:solidFill>
                  <a:srgbClr val="1E293B"/>
                </a:solidFill>
              </a:rPr>
              <a:t>probabilistic structure and sparsity priors</a:t>
            </a:r>
            <a:r>
              <a:rPr lang="es" sz="1350">
                <a:solidFill>
                  <a:srgbClr val="1E293B"/>
                </a:solidFill>
              </a:rPr>
              <a:t>.</a:t>
            </a:r>
            <a:endParaRPr sz="1350">
              <a:solidFill>
                <a:srgbClr val="1E293B"/>
              </a:solidFill>
            </a:endParaRPr>
          </a:p>
          <a:p>
            <a:pPr indent="0" lvl="0" marL="0" rtl="0" algn="l">
              <a:lnSpc>
                <a:spcPct val="150000"/>
              </a:lnSpc>
              <a:spcBef>
                <a:spcPts val="1400"/>
              </a:spcBef>
              <a:spcAft>
                <a:spcPts val="0"/>
              </a:spcAft>
              <a:buNone/>
            </a:pPr>
            <a:r>
              <a:rPr lang="es" sz="1350">
                <a:solidFill>
                  <a:srgbClr val="1E293B"/>
                </a:solidFill>
              </a:rPr>
              <a:t>It </a:t>
            </a:r>
            <a:r>
              <a:rPr b="1" lang="es" sz="1350">
                <a:solidFill>
                  <a:srgbClr val="1E293B"/>
                </a:solidFill>
              </a:rPr>
              <a:t>decomposes all omics data</a:t>
            </a:r>
            <a:r>
              <a:rPr lang="es" sz="1350">
                <a:solidFill>
                  <a:srgbClr val="1E293B"/>
                </a:solidFill>
              </a:rPr>
              <a:t> into a set of </a:t>
            </a:r>
            <a:r>
              <a:rPr b="1" lang="es" sz="1350">
                <a:solidFill>
                  <a:srgbClr val="1E293B"/>
                </a:solidFill>
              </a:rPr>
              <a:t>hidden factors</a:t>
            </a:r>
            <a:r>
              <a:rPr lang="es" sz="1350">
                <a:solidFill>
                  <a:srgbClr val="1E293B"/>
                </a:solidFill>
              </a:rPr>
              <a:t> (a latent space).</a:t>
            </a:r>
            <a:endParaRPr sz="1350">
              <a:solidFill>
                <a:srgbClr val="1E293B"/>
              </a:solidFill>
            </a:endParaRPr>
          </a:p>
          <a:p>
            <a:pPr indent="0" lvl="0" marL="0" rtl="0" algn="l">
              <a:lnSpc>
                <a:spcPct val="150000"/>
              </a:lnSpc>
              <a:spcBef>
                <a:spcPts val="1400"/>
              </a:spcBef>
              <a:spcAft>
                <a:spcPts val="0"/>
              </a:spcAft>
              <a:buNone/>
            </a:pPr>
            <a:r>
              <a:rPr lang="es" sz="1350">
                <a:solidFill>
                  <a:srgbClr val="1E293B"/>
                </a:solidFill>
              </a:rPr>
              <a:t>It shows which factors are </a:t>
            </a:r>
            <a:r>
              <a:rPr b="1" lang="es" sz="1350">
                <a:solidFill>
                  <a:srgbClr val="1E293B"/>
                </a:solidFill>
              </a:rPr>
              <a:t>shared</a:t>
            </a:r>
            <a:r>
              <a:rPr lang="es" sz="1350">
                <a:solidFill>
                  <a:srgbClr val="1E293B"/>
                </a:solidFill>
              </a:rPr>
              <a:t> (capture variance across all omics) and which are </a:t>
            </a:r>
            <a:r>
              <a:rPr b="1" lang="es" sz="1350">
                <a:solidFill>
                  <a:srgbClr val="1E293B"/>
                </a:solidFill>
              </a:rPr>
              <a:t>specific</a:t>
            </a:r>
            <a:r>
              <a:rPr lang="es" sz="1350">
                <a:solidFill>
                  <a:srgbClr val="1E293B"/>
                </a:solidFill>
              </a:rPr>
              <a:t> (capture variance in only one omic).</a:t>
            </a:r>
            <a:endParaRPr sz="1350">
              <a:solidFill>
                <a:srgbClr val="1E293B"/>
              </a:solidFill>
            </a:endParaRPr>
          </a:p>
          <a:p>
            <a:pPr indent="0" lvl="0" marL="0" rtl="0" algn="l">
              <a:lnSpc>
                <a:spcPct val="150000"/>
              </a:lnSpc>
              <a:spcBef>
                <a:spcPts val="1400"/>
              </a:spcBef>
              <a:spcAft>
                <a:spcPts val="0"/>
              </a:spcAft>
              <a:buNone/>
            </a:pPr>
            <a:r>
              <a:rPr lang="es" sz="1350">
                <a:solidFill>
                  <a:srgbClr val="1E293B"/>
                </a:solidFill>
              </a:rPr>
              <a:t>These factors can then be </a:t>
            </a:r>
            <a:r>
              <a:rPr b="1" lang="es" sz="1350">
                <a:solidFill>
                  <a:srgbClr val="1E293B"/>
                </a:solidFill>
              </a:rPr>
              <a:t>visualized</a:t>
            </a:r>
            <a:r>
              <a:rPr lang="es" sz="1350">
                <a:solidFill>
                  <a:srgbClr val="1E293B"/>
                </a:solidFill>
              </a:rPr>
              <a:t>, </a:t>
            </a:r>
            <a:r>
              <a:rPr b="1" lang="es" sz="1350">
                <a:solidFill>
                  <a:srgbClr val="1E293B"/>
                </a:solidFill>
              </a:rPr>
              <a:t>correlated</a:t>
            </a:r>
            <a:r>
              <a:rPr lang="es" sz="1350">
                <a:solidFill>
                  <a:srgbClr val="1E293B"/>
                </a:solidFill>
              </a:rPr>
              <a:t> with </a:t>
            </a:r>
            <a:r>
              <a:rPr b="1" lang="es" sz="1350">
                <a:solidFill>
                  <a:srgbClr val="1E293B"/>
                </a:solidFill>
              </a:rPr>
              <a:t>clinical data</a:t>
            </a:r>
            <a:r>
              <a:rPr lang="es" sz="1350">
                <a:solidFill>
                  <a:srgbClr val="1E293B"/>
                </a:solidFill>
              </a:rPr>
              <a:t>, or used for clustering and imputation.</a:t>
            </a:r>
            <a:endParaRPr sz="1350">
              <a:solidFill>
                <a:srgbClr val="1E293B"/>
              </a:solidFill>
            </a:endParaRPr>
          </a:p>
          <a:p>
            <a:pPr indent="0" lvl="0" marL="0" rtl="0" algn="l">
              <a:lnSpc>
                <a:spcPct val="150000"/>
              </a:lnSpc>
              <a:spcBef>
                <a:spcPts val="1400"/>
              </a:spcBef>
              <a:spcAft>
                <a:spcPts val="1400"/>
              </a:spcAft>
              <a:buNone/>
            </a:pPr>
            <a:r>
              <a:rPr lang="es" sz="1350">
                <a:solidFill>
                  <a:srgbClr val="1E293B"/>
                </a:solidFill>
              </a:rPr>
              <a:t>MOFA achieves a structured </a:t>
            </a:r>
            <a:r>
              <a:rPr b="1" lang="es" sz="1350">
                <a:solidFill>
                  <a:srgbClr val="1E293B"/>
                </a:solidFill>
              </a:rPr>
              <a:t>dimensionality reduction</a:t>
            </a:r>
            <a:r>
              <a:rPr lang="es" sz="1350">
                <a:solidFill>
                  <a:srgbClr val="1E293B"/>
                </a:solidFill>
              </a:rPr>
              <a:t> that is both </a:t>
            </a:r>
            <a:r>
              <a:rPr b="1" lang="es" sz="1350">
                <a:solidFill>
                  <a:srgbClr val="1E293B"/>
                </a:solidFill>
              </a:rPr>
              <a:t>statistically rigorous</a:t>
            </a:r>
            <a:r>
              <a:rPr lang="es" sz="1350">
                <a:solidFill>
                  <a:srgbClr val="1E293B"/>
                </a:solidFill>
              </a:rPr>
              <a:t> and </a:t>
            </a:r>
            <a:r>
              <a:rPr b="1" lang="es" sz="1350">
                <a:solidFill>
                  <a:srgbClr val="1E293B"/>
                </a:solidFill>
              </a:rPr>
              <a:t>interpretable</a:t>
            </a:r>
            <a:r>
              <a:rPr lang="es" sz="1350">
                <a:solidFill>
                  <a:srgbClr val="1E293B"/>
                </a:solidFill>
              </a:rPr>
              <a:t>.</a:t>
            </a:r>
            <a:endParaRPr sz="1350">
              <a:solidFill>
                <a:srgbClr val="1E293B"/>
              </a:solidFill>
            </a:endParaRPr>
          </a:p>
        </p:txBody>
      </p:sp>
      <p:pic>
        <p:nvPicPr>
          <p:cNvPr id="280" name="Google Shape;280;p32" title="Screenshot 2025-11-14 at 06.44.55.png"/>
          <p:cNvPicPr preferRelativeResize="0"/>
          <p:nvPr/>
        </p:nvPicPr>
        <p:blipFill>
          <a:blip r:embed="rId5">
            <a:alphaModFix/>
          </a:blip>
          <a:stretch>
            <a:fillRect/>
          </a:stretch>
        </p:blipFill>
        <p:spPr>
          <a:xfrm>
            <a:off x="7830925" y="828000"/>
            <a:ext cx="1152900" cy="324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s" sz="2420"/>
              <a:t>Method: Weighted Gene Coexpression Network Analysis</a:t>
            </a:r>
            <a:endParaRPr b="1" sz="2420"/>
          </a:p>
        </p:txBody>
      </p:sp>
      <p:sp>
        <p:nvSpPr>
          <p:cNvPr id="286" name="Google Shape;286;p33"/>
          <p:cNvSpPr txBox="1"/>
          <p:nvPr>
            <p:ph idx="1" type="body"/>
          </p:nvPr>
        </p:nvSpPr>
        <p:spPr>
          <a:xfrm>
            <a:off x="311700" y="1152475"/>
            <a:ext cx="5776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WGCNA’s</a:t>
            </a:r>
            <a:r>
              <a:rPr lang="es"/>
              <a:t> primary goal is to find </a:t>
            </a:r>
            <a:r>
              <a:rPr b="1" lang="es"/>
              <a:t>modules</a:t>
            </a:r>
            <a:r>
              <a:rPr lang="es"/>
              <a:t> of </a:t>
            </a:r>
            <a:r>
              <a:rPr b="1" lang="es"/>
              <a:t>highly correlated features</a:t>
            </a:r>
            <a:r>
              <a:rPr lang="es"/>
              <a:t> (e.g., co-expressed genes).</a:t>
            </a:r>
            <a:endParaRPr/>
          </a:p>
          <a:p>
            <a:pPr indent="0" lvl="0" marL="0" rtl="0" algn="l">
              <a:lnSpc>
                <a:spcPct val="150000"/>
              </a:lnSpc>
              <a:spcBef>
                <a:spcPts val="1400"/>
              </a:spcBef>
              <a:spcAft>
                <a:spcPts val="0"/>
              </a:spcAft>
              <a:buClr>
                <a:schemeClr val="dk1"/>
              </a:buClr>
              <a:buSzPts val="1100"/>
              <a:buFont typeface="Arial"/>
              <a:buNone/>
            </a:pPr>
            <a:r>
              <a:rPr lang="es" sz="1350">
                <a:solidFill>
                  <a:srgbClr val="1E293B"/>
                </a:solidFill>
              </a:rPr>
              <a:t>WGCNA is used to build </a:t>
            </a:r>
            <a:r>
              <a:rPr b="1" lang="es" sz="1350">
                <a:solidFill>
                  <a:srgbClr val="1E293B"/>
                </a:solidFill>
              </a:rPr>
              <a:t>multi-omic correlation networks</a:t>
            </a:r>
            <a:r>
              <a:rPr lang="es" sz="1350">
                <a:solidFill>
                  <a:srgbClr val="1E293B"/>
                </a:solidFill>
              </a:rPr>
              <a:t> to identify for instance </a:t>
            </a:r>
            <a:r>
              <a:rPr b="1" lang="es" sz="1350">
                <a:solidFill>
                  <a:srgbClr val="1E293B"/>
                </a:solidFill>
              </a:rPr>
              <a:t>modules of genes</a:t>
            </a:r>
            <a:r>
              <a:rPr lang="es" sz="1350">
                <a:solidFill>
                  <a:srgbClr val="1E293B"/>
                </a:solidFill>
              </a:rPr>
              <a:t> (from transcriptomics) that are highly </a:t>
            </a:r>
            <a:r>
              <a:rPr b="1" lang="es" sz="1350">
                <a:solidFill>
                  <a:srgbClr val="1E293B"/>
                </a:solidFill>
              </a:rPr>
              <a:t>correlated</a:t>
            </a:r>
            <a:r>
              <a:rPr lang="es" sz="1350">
                <a:solidFill>
                  <a:srgbClr val="1E293B"/>
                </a:solidFill>
              </a:rPr>
              <a:t> with </a:t>
            </a:r>
            <a:r>
              <a:rPr b="1" lang="es" sz="1350">
                <a:solidFill>
                  <a:srgbClr val="1E293B"/>
                </a:solidFill>
              </a:rPr>
              <a:t>modules of metabolites</a:t>
            </a:r>
            <a:r>
              <a:rPr lang="es" sz="1350">
                <a:solidFill>
                  <a:srgbClr val="1E293B"/>
                </a:solidFill>
              </a:rPr>
              <a:t> (from metabolomics).</a:t>
            </a:r>
            <a:endParaRPr sz="1350">
              <a:solidFill>
                <a:srgbClr val="1E293B"/>
              </a:solidFill>
            </a:endParaRPr>
          </a:p>
          <a:p>
            <a:pPr indent="0" lvl="0" marL="0" rtl="0" algn="l">
              <a:lnSpc>
                <a:spcPct val="150000"/>
              </a:lnSpc>
              <a:spcBef>
                <a:spcPts val="1400"/>
              </a:spcBef>
              <a:spcAft>
                <a:spcPts val="1400"/>
              </a:spcAft>
              <a:buNone/>
            </a:pPr>
            <a:r>
              <a:rPr lang="es" sz="1350">
                <a:solidFill>
                  <a:srgbClr val="1E293B"/>
                </a:solidFill>
              </a:rPr>
              <a:t>This allows researchers to find </a:t>
            </a:r>
            <a:r>
              <a:rPr b="1" lang="es" sz="1350">
                <a:solidFill>
                  <a:srgbClr val="1E293B"/>
                </a:solidFill>
              </a:rPr>
              <a:t>key genes</a:t>
            </a:r>
            <a:r>
              <a:rPr lang="es" sz="1350">
                <a:solidFill>
                  <a:srgbClr val="1E293B"/>
                </a:solidFill>
              </a:rPr>
              <a:t> that may be </a:t>
            </a:r>
            <a:r>
              <a:rPr b="1" lang="es" sz="1350">
                <a:solidFill>
                  <a:srgbClr val="1E293B"/>
                </a:solidFill>
              </a:rPr>
              <a:t>regulators of specific metabolic pathways</a:t>
            </a:r>
            <a:r>
              <a:rPr lang="es" sz="1350">
                <a:solidFill>
                  <a:srgbClr val="1E293B"/>
                </a:solidFill>
              </a:rPr>
              <a:t>.</a:t>
            </a:r>
            <a:endParaRPr/>
          </a:p>
        </p:txBody>
      </p:sp>
      <p:sp>
        <p:nvSpPr>
          <p:cNvPr id="287" name="Google Shape;287;p33"/>
          <p:cNvSpPr txBox="1"/>
          <p:nvPr/>
        </p:nvSpPr>
        <p:spPr>
          <a:xfrm>
            <a:off x="0" y="4312200"/>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3"/>
              </a:rPr>
              <a:t>https://bmcbioinformatics.biomedcentral.com/articles/10.1186/1471-2105-9-559</a:t>
            </a:r>
            <a:endParaRPr/>
          </a:p>
        </p:txBody>
      </p:sp>
      <p:pic>
        <p:nvPicPr>
          <p:cNvPr id="288" name="Google Shape;288;p33"/>
          <p:cNvPicPr preferRelativeResize="0"/>
          <p:nvPr/>
        </p:nvPicPr>
        <p:blipFill>
          <a:blip r:embed="rId4">
            <a:alphaModFix/>
          </a:blip>
          <a:stretch>
            <a:fillRect/>
          </a:stretch>
        </p:blipFill>
        <p:spPr>
          <a:xfrm>
            <a:off x="6087925" y="929850"/>
            <a:ext cx="2873175" cy="40392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Other Integration Methods</a:t>
            </a:r>
            <a:endParaRPr b="1"/>
          </a:p>
        </p:txBody>
      </p:sp>
      <p:sp>
        <p:nvSpPr>
          <p:cNvPr id="294" name="Google Shape;294;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s" u="sng">
                <a:solidFill>
                  <a:schemeClr val="hlink"/>
                </a:solidFill>
                <a:hlinkClick r:id="rId3"/>
              </a:rPr>
              <a:t>DIABLO (mixOmics)</a:t>
            </a:r>
            <a:endParaRPr b="1"/>
          </a:p>
          <a:p>
            <a:pPr indent="0" lvl="0" marL="0" rtl="0" algn="l">
              <a:spcBef>
                <a:spcPts val="1200"/>
              </a:spcBef>
              <a:spcAft>
                <a:spcPts val="0"/>
              </a:spcAft>
              <a:buNone/>
            </a:pPr>
            <a:r>
              <a:rPr lang="es"/>
              <a:t>A supervised method (based on PLS/CCA) that finds correlated features between omic layers.</a:t>
            </a:r>
            <a:endParaRPr/>
          </a:p>
          <a:p>
            <a:pPr indent="0" lvl="0" marL="0" rtl="0" algn="l">
              <a:spcBef>
                <a:spcPts val="1200"/>
              </a:spcBef>
              <a:spcAft>
                <a:spcPts val="0"/>
              </a:spcAft>
              <a:buNone/>
            </a:pPr>
            <a:r>
              <a:rPr b="1" lang="es" u="sng">
                <a:solidFill>
                  <a:schemeClr val="hlink"/>
                </a:solidFill>
                <a:hlinkClick r:id="rId4"/>
              </a:rPr>
              <a:t>iCluster</a:t>
            </a:r>
            <a:endParaRPr b="1"/>
          </a:p>
          <a:p>
            <a:pPr indent="0" lvl="0" marL="0" rtl="0" algn="l">
              <a:spcBef>
                <a:spcPts val="1200"/>
              </a:spcBef>
              <a:spcAft>
                <a:spcPts val="0"/>
              </a:spcAft>
              <a:buNone/>
            </a:pPr>
            <a:r>
              <a:rPr lang="es"/>
              <a:t>A latent variable model (matrix factorization) that simultaneously clusters samples based on multiple data types.</a:t>
            </a:r>
            <a:endParaRPr/>
          </a:p>
          <a:p>
            <a:pPr indent="0" lvl="0" marL="0" rtl="0" algn="l">
              <a:spcBef>
                <a:spcPts val="1200"/>
              </a:spcBef>
              <a:spcAft>
                <a:spcPts val="0"/>
              </a:spcAft>
              <a:buNone/>
            </a:pPr>
            <a:r>
              <a:rPr b="1" lang="es" u="sng">
                <a:solidFill>
                  <a:schemeClr val="hlink"/>
                </a:solidFill>
                <a:hlinkClick r:id="rId5"/>
              </a:rPr>
              <a:t>MOVE (Multi-Omics Variational autoEncoder)</a:t>
            </a:r>
            <a:endParaRPr b="1"/>
          </a:p>
          <a:p>
            <a:pPr indent="0" lvl="0" marL="0" rtl="0" algn="l">
              <a:spcBef>
                <a:spcPts val="1200"/>
              </a:spcBef>
              <a:spcAft>
                <a:spcPts val="1200"/>
              </a:spcAft>
              <a:buNone/>
            </a:pPr>
            <a:r>
              <a:rPr lang="es"/>
              <a:t>Variational Autoencoder model that learns a compressed, non-linear representation of omics and clinical data.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When to Add Another 'Omic' Layer?</a:t>
            </a:r>
            <a:endParaRPr b="1"/>
          </a:p>
        </p:txBody>
      </p:sp>
      <p:sp>
        <p:nvSpPr>
          <p:cNvPr id="300" name="Google Shape;300;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s"/>
              <a:t>When your </a:t>
            </a:r>
            <a:r>
              <a:rPr b="1" lang="es" sz="3000"/>
              <a:t>research question</a:t>
            </a:r>
            <a:r>
              <a:rPr lang="es"/>
              <a:t> </a:t>
            </a:r>
            <a:r>
              <a:rPr lang="es" u="sng"/>
              <a:t>cannot</a:t>
            </a:r>
            <a:r>
              <a:rPr lang="es"/>
              <a:t> be answered by a single omic layer.</a:t>
            </a:r>
            <a:endParaRPr/>
          </a:p>
          <a:p>
            <a:pPr indent="0" lvl="0" marL="0" rtl="0" algn="l">
              <a:spcBef>
                <a:spcPts val="1200"/>
              </a:spcBef>
              <a:spcAft>
                <a:spcPts val="0"/>
              </a:spcAft>
              <a:buNone/>
            </a:pPr>
            <a:r>
              <a:rPr lang="es"/>
              <a:t>To </a:t>
            </a:r>
            <a:r>
              <a:rPr b="1" lang="es"/>
              <a:t>increase predictive power</a:t>
            </a:r>
            <a:r>
              <a:rPr lang="es"/>
              <a:t> and </a:t>
            </a:r>
            <a:r>
              <a:rPr b="1" lang="es"/>
              <a:t>provide a more complete, systems-level view</a:t>
            </a:r>
            <a:r>
              <a:rPr lang="es"/>
              <a:t>.</a:t>
            </a:r>
            <a:endParaRPr/>
          </a:p>
          <a:p>
            <a:pPr indent="0" lvl="0" marL="0" rtl="0" algn="l">
              <a:spcBef>
                <a:spcPts val="1200"/>
              </a:spcBef>
              <a:spcAft>
                <a:spcPts val="0"/>
              </a:spcAft>
              <a:buNone/>
            </a:pPr>
            <a:r>
              <a:rPr lang="es"/>
              <a:t>The Trade-Off (The "Cost")</a:t>
            </a:r>
            <a:endParaRPr/>
          </a:p>
          <a:p>
            <a:pPr indent="0" lvl="0" marL="0" rtl="0" algn="l">
              <a:spcBef>
                <a:spcPts val="1200"/>
              </a:spcBef>
              <a:spcAft>
                <a:spcPts val="0"/>
              </a:spcAft>
              <a:buNone/>
            </a:pPr>
            <a:r>
              <a:rPr b="1" lang="es" sz="2643"/>
              <a:t>Adding layers is not always better.</a:t>
            </a:r>
            <a:r>
              <a:rPr lang="es"/>
              <a:t> It increases costs, computational complexity, and data storage needs.</a:t>
            </a:r>
            <a:endParaRPr/>
          </a:p>
          <a:p>
            <a:pPr indent="0" lvl="0" marL="0" rtl="0" algn="l">
              <a:spcBef>
                <a:spcPts val="1200"/>
              </a:spcBef>
              <a:spcAft>
                <a:spcPts val="0"/>
              </a:spcAft>
              <a:buNone/>
            </a:pPr>
            <a:r>
              <a:rPr lang="es"/>
              <a:t>Introduces more </a:t>
            </a:r>
            <a:r>
              <a:rPr b="1" lang="es"/>
              <a:t>challenges</a:t>
            </a:r>
            <a:r>
              <a:rPr lang="es"/>
              <a:t> with </a:t>
            </a:r>
            <a:r>
              <a:rPr b="1" lang="es"/>
              <a:t>batch effects</a:t>
            </a:r>
            <a:r>
              <a:rPr lang="es"/>
              <a:t>, </a:t>
            </a:r>
            <a:r>
              <a:rPr b="1" lang="es"/>
              <a:t>noise</a:t>
            </a:r>
            <a:r>
              <a:rPr lang="es"/>
              <a:t>, and </a:t>
            </a:r>
            <a:r>
              <a:rPr b="1" lang="es"/>
              <a:t>missing data</a:t>
            </a:r>
            <a:r>
              <a:rPr lang="es"/>
              <a:t>.</a:t>
            </a:r>
            <a:endParaRPr/>
          </a:p>
          <a:p>
            <a:pPr indent="0" lvl="0" marL="0" rtl="0" algn="l">
              <a:spcBef>
                <a:spcPts val="1200"/>
              </a:spcBef>
              <a:spcAft>
                <a:spcPts val="1200"/>
              </a:spcAft>
              <a:buNone/>
            </a:pPr>
            <a:r>
              <a:rPr b="1" lang="es"/>
              <a:t>Decision</a:t>
            </a:r>
            <a:r>
              <a:rPr lang="es"/>
              <a:t> must be a strategic, hypothesis-driven choice where the potential for deeper insight outweighs the costs and challenges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6"/>
          <p:cNvSpPr txBox="1"/>
          <p:nvPr>
            <p:ph idx="1" type="body"/>
          </p:nvPr>
        </p:nvSpPr>
        <p:spPr>
          <a:xfrm>
            <a:off x="311700" y="1755300"/>
            <a:ext cx="8520600" cy="16329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s"/>
              <a:t>Multi-omics integration is moving biology from a reductionist to a systems-level perspective. While computationally challenging, it offers unprecedented power to understand the complexity of life and disease.</a:t>
            </a:r>
            <a:endParaRPr b="1"/>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 name="Shape 309"/>
        <p:cNvGrpSpPr/>
        <p:nvPr/>
      </p:nvGrpSpPr>
      <p:grpSpPr>
        <a:xfrm>
          <a:off x="0" y="0"/>
          <a:ext cx="0" cy="0"/>
          <a:chOff x="0" y="0"/>
          <a:chExt cx="0" cy="0"/>
        </a:xfrm>
      </p:grpSpPr>
      <p:pic>
        <p:nvPicPr>
          <p:cNvPr id="310" name="Google Shape;310;p37"/>
          <p:cNvPicPr preferRelativeResize="0"/>
          <p:nvPr/>
        </p:nvPicPr>
        <p:blipFill>
          <a:blip r:embed="rId3">
            <a:alphaModFix/>
          </a:blip>
          <a:stretch>
            <a:fillRect/>
          </a:stretch>
        </p:blipFill>
        <p:spPr>
          <a:xfrm>
            <a:off x="152400" y="152400"/>
            <a:ext cx="4162425" cy="4076700"/>
          </a:xfrm>
          <a:prstGeom prst="rect">
            <a:avLst/>
          </a:prstGeom>
          <a:noFill/>
          <a:ln>
            <a:noFill/>
          </a:ln>
        </p:spPr>
      </p:pic>
      <p:pic>
        <p:nvPicPr>
          <p:cNvPr descr="pasted-movie.png" id="311" name="Google Shape;311;p37"/>
          <p:cNvPicPr preferRelativeResize="0"/>
          <p:nvPr/>
        </p:nvPicPr>
        <p:blipFill rotWithShape="1">
          <a:blip r:embed="rId4">
            <a:alphaModFix/>
          </a:blip>
          <a:srcRect b="0" l="0" r="0" t="0"/>
          <a:stretch/>
        </p:blipFill>
        <p:spPr>
          <a:xfrm>
            <a:off x="5345061" y="152401"/>
            <a:ext cx="3293974" cy="4076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