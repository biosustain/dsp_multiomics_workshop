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71" r:id="rId12"/>
    <p:sldId id="272" r:id="rId13"/>
    <p:sldId id="273" r:id="rId14"/>
    <p:sldId id="274" r:id="rId15"/>
    <p:sldId id="275" r:id="rId16"/>
    <p:sldId id="276" r:id="rId17"/>
    <p:sldId id="277" r:id="rId18"/>
    <p:sldId id="278" r:id="rId19"/>
    <p:sldId id="279" r:id="rId2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75"/>
  </p:normalViewPr>
  <p:slideViewPr>
    <p:cSldViewPr snapToGrid="0">
      <p:cViewPr varScale="1">
        <p:scale>
          <a:sx n="159" d="100"/>
          <a:sy n="159" d="100"/>
        </p:scale>
        <p:origin x="472"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90d080a095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90d080a095_1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90d080a095_1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90d080a095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390d080a095_1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390d080a095_1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90d080a095_1_3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0" name="Google Shape;90;g390d080a095_1_3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fa18ea7343_0_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1" name="Google Shape;121;g3fa18ea7343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90d080a095_1_4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3" name="Google Shape;133;g390d080a095_1_4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390d080a095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 name="Google Shape;148;g390d080a095_1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90d080a095_1_3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90d080a095_1_3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90d080a095_1_7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90d080a095_1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fa18ea7343_0_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g3fa18ea7343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90d080a095_1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390d080a095_1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90d080a095_1_3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390d080a095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390d080a095_1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390d080a095_1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90d080a095_1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390d080a095_1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90d080a095_1_3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1" name="Google Shape;291;g390d080a095_1_3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90d080a095_1_3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390d080a095_1_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390d080a095_1_3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390d080a095_1_3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390d85f33b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390d85f33b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mp; Bullets">
  <p:cSld name="Title &amp; Bullets 4">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2438" y="404813"/>
            <a:ext cx="8239200" cy="537300"/>
          </a:xfrm>
          <a:prstGeom prst="rect">
            <a:avLst/>
          </a:prstGeom>
          <a:noFill/>
          <a:ln>
            <a:noFill/>
          </a:ln>
        </p:spPr>
        <p:txBody>
          <a:bodyPr spcFirstLastPara="1" wrap="square" lIns="19050" tIns="19050" rIns="19050" bIns="19050" anchor="t" anchorCtr="0">
            <a:normAutofit/>
          </a:bodyPr>
          <a:lstStyle>
            <a:lvl1pPr lvl="0" algn="l">
              <a:lnSpc>
                <a:spcPct val="80000"/>
              </a:lnSpc>
              <a:spcBef>
                <a:spcPts val="0"/>
              </a:spcBef>
              <a:spcAft>
                <a:spcPts val="0"/>
              </a:spcAft>
              <a:buClr>
                <a:srgbClr val="000000"/>
              </a:buClr>
              <a:buSzPts val="3200"/>
              <a:buFont typeface="Helvetica Neue"/>
              <a:buNone/>
              <a:defRPr>
                <a:solidFill>
                  <a:srgbClr val="000000"/>
                </a:solidFill>
              </a:defRPr>
            </a:lvl1pPr>
            <a:lvl2pPr lvl="1" algn="l">
              <a:lnSpc>
                <a:spcPct val="80000"/>
              </a:lnSpc>
              <a:spcBef>
                <a:spcPts val="0"/>
              </a:spcBef>
              <a:spcAft>
                <a:spcPts val="0"/>
              </a:spcAft>
              <a:buClr>
                <a:srgbClr val="5E5E5E"/>
              </a:buClr>
              <a:buSzPts val="700"/>
              <a:buNone/>
              <a:defRPr/>
            </a:lvl2pPr>
            <a:lvl3pPr lvl="2" algn="l">
              <a:lnSpc>
                <a:spcPct val="80000"/>
              </a:lnSpc>
              <a:spcBef>
                <a:spcPts val="0"/>
              </a:spcBef>
              <a:spcAft>
                <a:spcPts val="0"/>
              </a:spcAft>
              <a:buClr>
                <a:srgbClr val="5E5E5E"/>
              </a:buClr>
              <a:buSzPts val="700"/>
              <a:buNone/>
              <a:defRPr/>
            </a:lvl3pPr>
            <a:lvl4pPr lvl="3" algn="l">
              <a:lnSpc>
                <a:spcPct val="80000"/>
              </a:lnSpc>
              <a:spcBef>
                <a:spcPts val="0"/>
              </a:spcBef>
              <a:spcAft>
                <a:spcPts val="0"/>
              </a:spcAft>
              <a:buClr>
                <a:srgbClr val="5E5E5E"/>
              </a:buClr>
              <a:buSzPts val="700"/>
              <a:buNone/>
              <a:defRPr/>
            </a:lvl4pPr>
            <a:lvl5pPr lvl="4" algn="l">
              <a:lnSpc>
                <a:spcPct val="80000"/>
              </a:lnSpc>
              <a:spcBef>
                <a:spcPts val="0"/>
              </a:spcBef>
              <a:spcAft>
                <a:spcPts val="0"/>
              </a:spcAft>
              <a:buClr>
                <a:srgbClr val="5E5E5E"/>
              </a:buClr>
              <a:buSzPts val="700"/>
              <a:buNone/>
              <a:defRPr/>
            </a:lvl5pPr>
            <a:lvl6pPr lvl="5" algn="l">
              <a:lnSpc>
                <a:spcPct val="80000"/>
              </a:lnSpc>
              <a:spcBef>
                <a:spcPts val="0"/>
              </a:spcBef>
              <a:spcAft>
                <a:spcPts val="0"/>
              </a:spcAft>
              <a:buClr>
                <a:srgbClr val="5E5E5E"/>
              </a:buClr>
              <a:buSzPts val="700"/>
              <a:buNone/>
              <a:defRPr/>
            </a:lvl6pPr>
            <a:lvl7pPr lvl="6" algn="l">
              <a:lnSpc>
                <a:spcPct val="80000"/>
              </a:lnSpc>
              <a:spcBef>
                <a:spcPts val="0"/>
              </a:spcBef>
              <a:spcAft>
                <a:spcPts val="0"/>
              </a:spcAft>
              <a:buClr>
                <a:srgbClr val="5E5E5E"/>
              </a:buClr>
              <a:buSzPts val="700"/>
              <a:buNone/>
              <a:defRPr/>
            </a:lvl7pPr>
            <a:lvl8pPr lvl="7" algn="l">
              <a:lnSpc>
                <a:spcPct val="80000"/>
              </a:lnSpc>
              <a:spcBef>
                <a:spcPts val="0"/>
              </a:spcBef>
              <a:spcAft>
                <a:spcPts val="0"/>
              </a:spcAft>
              <a:buClr>
                <a:srgbClr val="5E5E5E"/>
              </a:buClr>
              <a:buSzPts val="700"/>
              <a:buNone/>
              <a:defRPr/>
            </a:lvl8pPr>
            <a:lvl9pPr lvl="8" algn="l">
              <a:lnSpc>
                <a:spcPct val="80000"/>
              </a:lnSpc>
              <a:spcBef>
                <a:spcPts val="0"/>
              </a:spcBef>
              <a:spcAft>
                <a:spcPts val="0"/>
              </a:spcAft>
              <a:buClr>
                <a:srgbClr val="5E5E5E"/>
              </a:buClr>
              <a:buSzPts val="700"/>
              <a:buNone/>
              <a:defRPr/>
            </a:lvl9pPr>
          </a:lstStyle>
          <a:p>
            <a:endParaRPr/>
          </a:p>
        </p:txBody>
      </p:sp>
      <p:sp>
        <p:nvSpPr>
          <p:cNvPr id="52" name="Google Shape;52;p13"/>
          <p:cNvSpPr txBox="1">
            <a:spLocks noGrp="1"/>
          </p:cNvSpPr>
          <p:nvPr>
            <p:ph type="body" idx="1"/>
          </p:nvPr>
        </p:nvSpPr>
        <p:spPr>
          <a:xfrm>
            <a:off x="452438" y="889861"/>
            <a:ext cx="8239200" cy="350700"/>
          </a:xfrm>
          <a:prstGeom prst="rect">
            <a:avLst/>
          </a:prstGeom>
          <a:noFill/>
          <a:ln>
            <a:noFill/>
          </a:ln>
        </p:spPr>
        <p:txBody>
          <a:bodyPr spcFirstLastPara="1" wrap="square" lIns="17150" tIns="17150" rIns="17150" bIns="17150" anchor="t" anchorCtr="0">
            <a:normAutofit/>
          </a:bodyPr>
          <a:lstStyle>
            <a:lvl1pPr marL="457200" lvl="0" indent="-228600" algn="l">
              <a:lnSpc>
                <a:spcPct val="100000"/>
              </a:lnSpc>
              <a:spcBef>
                <a:spcPts val="0"/>
              </a:spcBef>
              <a:spcAft>
                <a:spcPts val="0"/>
              </a:spcAft>
              <a:buClr>
                <a:srgbClr val="929292"/>
              </a:buClr>
              <a:buSzPts val="2100"/>
              <a:buFont typeface="Helvetica Neue"/>
              <a:buNone/>
              <a:defRPr sz="2100" b="1">
                <a:solidFill>
                  <a:srgbClr val="929292"/>
                </a:solidFill>
              </a:defRPr>
            </a:lvl1pPr>
            <a:lvl2pPr marL="914400" lvl="1" indent="-279400" algn="l">
              <a:lnSpc>
                <a:spcPct val="90000"/>
              </a:lnSpc>
              <a:spcBef>
                <a:spcPts val="1700"/>
              </a:spcBef>
              <a:spcAft>
                <a:spcPts val="0"/>
              </a:spcAft>
              <a:buClr>
                <a:srgbClr val="000000"/>
              </a:buClr>
              <a:buSzPts val="800"/>
              <a:buChar char="○"/>
              <a:defRPr/>
            </a:lvl2pPr>
            <a:lvl3pPr marL="1371600" lvl="2" indent="-279400" algn="l">
              <a:lnSpc>
                <a:spcPct val="90000"/>
              </a:lnSpc>
              <a:spcBef>
                <a:spcPts val="1700"/>
              </a:spcBef>
              <a:spcAft>
                <a:spcPts val="0"/>
              </a:spcAft>
              <a:buClr>
                <a:srgbClr val="000000"/>
              </a:buClr>
              <a:buSzPts val="800"/>
              <a:buChar char="■"/>
              <a:defRPr/>
            </a:lvl3pPr>
            <a:lvl4pPr marL="1828800" lvl="3" indent="-279400" algn="l">
              <a:lnSpc>
                <a:spcPct val="90000"/>
              </a:lnSpc>
              <a:spcBef>
                <a:spcPts val="1700"/>
              </a:spcBef>
              <a:spcAft>
                <a:spcPts val="0"/>
              </a:spcAft>
              <a:buClr>
                <a:srgbClr val="000000"/>
              </a:buClr>
              <a:buSzPts val="800"/>
              <a:buChar char="●"/>
              <a:defRPr/>
            </a:lvl4pPr>
            <a:lvl5pPr marL="2286000" lvl="4" indent="-279400" algn="l">
              <a:lnSpc>
                <a:spcPct val="90000"/>
              </a:lnSpc>
              <a:spcBef>
                <a:spcPts val="1700"/>
              </a:spcBef>
              <a:spcAft>
                <a:spcPts val="0"/>
              </a:spcAft>
              <a:buClr>
                <a:srgbClr val="000000"/>
              </a:buClr>
              <a:buSzPts val="800"/>
              <a:buChar char="○"/>
              <a:defRPr/>
            </a:lvl5pPr>
            <a:lvl6pPr marL="2743200" lvl="5" indent="-279400" algn="l">
              <a:lnSpc>
                <a:spcPct val="90000"/>
              </a:lnSpc>
              <a:spcBef>
                <a:spcPts val="1700"/>
              </a:spcBef>
              <a:spcAft>
                <a:spcPts val="0"/>
              </a:spcAft>
              <a:buClr>
                <a:srgbClr val="000000"/>
              </a:buClr>
              <a:buSzPts val="800"/>
              <a:buChar char="■"/>
              <a:defRPr/>
            </a:lvl6pPr>
            <a:lvl7pPr marL="3200400" lvl="6" indent="-279400" algn="l">
              <a:lnSpc>
                <a:spcPct val="90000"/>
              </a:lnSpc>
              <a:spcBef>
                <a:spcPts val="1700"/>
              </a:spcBef>
              <a:spcAft>
                <a:spcPts val="0"/>
              </a:spcAft>
              <a:buClr>
                <a:srgbClr val="000000"/>
              </a:buClr>
              <a:buSzPts val="800"/>
              <a:buChar char="●"/>
              <a:defRPr/>
            </a:lvl7pPr>
            <a:lvl8pPr marL="3657600" lvl="7" indent="-279400" algn="l">
              <a:lnSpc>
                <a:spcPct val="90000"/>
              </a:lnSpc>
              <a:spcBef>
                <a:spcPts val="1700"/>
              </a:spcBef>
              <a:spcAft>
                <a:spcPts val="0"/>
              </a:spcAft>
              <a:buClr>
                <a:srgbClr val="000000"/>
              </a:buClr>
              <a:buSzPts val="800"/>
              <a:buChar char="○"/>
              <a:defRPr/>
            </a:lvl8pPr>
            <a:lvl9pPr marL="4114800" lvl="8" indent="-279400" algn="l">
              <a:lnSpc>
                <a:spcPct val="90000"/>
              </a:lnSpc>
              <a:spcBef>
                <a:spcPts val="1700"/>
              </a:spcBef>
              <a:spcAft>
                <a:spcPts val="0"/>
              </a:spcAft>
              <a:buClr>
                <a:srgbClr val="000000"/>
              </a:buClr>
              <a:buSzPts val="800"/>
              <a:buChar char="■"/>
              <a:defRPr/>
            </a:lvl9pPr>
          </a:lstStyle>
          <a:p>
            <a:endParaRPr/>
          </a:p>
        </p:txBody>
      </p:sp>
      <p:sp>
        <p:nvSpPr>
          <p:cNvPr id="53" name="Google Shape;53;p13"/>
          <p:cNvSpPr txBox="1">
            <a:spLocks noGrp="1"/>
          </p:cNvSpPr>
          <p:nvPr>
            <p:ph type="body" idx="2"/>
          </p:nvPr>
        </p:nvSpPr>
        <p:spPr>
          <a:xfrm>
            <a:off x="452438" y="1593189"/>
            <a:ext cx="8239200" cy="3096000"/>
          </a:xfrm>
          <a:prstGeom prst="rect">
            <a:avLst/>
          </a:prstGeom>
          <a:noFill/>
          <a:ln>
            <a:noFill/>
          </a:ln>
        </p:spPr>
        <p:txBody>
          <a:bodyPr spcFirstLastPara="1" wrap="square" lIns="19050" tIns="19050" rIns="19050" bIns="19050" anchor="t" anchorCtr="0">
            <a:normAutofit/>
          </a:bodyPr>
          <a:lstStyle>
            <a:lvl1pPr marL="457200" lvl="0" indent="-279400" algn="l">
              <a:lnSpc>
                <a:spcPct val="90000"/>
              </a:lnSpc>
              <a:spcBef>
                <a:spcPts val="1700"/>
              </a:spcBef>
              <a:spcAft>
                <a:spcPts val="0"/>
              </a:spcAft>
              <a:buClr>
                <a:srgbClr val="000000"/>
              </a:buClr>
              <a:buSzPts val="800"/>
              <a:buChar char="●"/>
              <a:defRPr/>
            </a:lvl1pPr>
            <a:lvl2pPr marL="914400" lvl="1" indent="-279400" algn="l">
              <a:lnSpc>
                <a:spcPct val="90000"/>
              </a:lnSpc>
              <a:spcBef>
                <a:spcPts val="1700"/>
              </a:spcBef>
              <a:spcAft>
                <a:spcPts val="0"/>
              </a:spcAft>
              <a:buClr>
                <a:srgbClr val="000000"/>
              </a:buClr>
              <a:buSzPts val="800"/>
              <a:buChar char="○"/>
              <a:defRPr/>
            </a:lvl2pPr>
            <a:lvl3pPr marL="1371600" lvl="2" indent="-279400" algn="l">
              <a:lnSpc>
                <a:spcPct val="90000"/>
              </a:lnSpc>
              <a:spcBef>
                <a:spcPts val="1700"/>
              </a:spcBef>
              <a:spcAft>
                <a:spcPts val="0"/>
              </a:spcAft>
              <a:buClr>
                <a:srgbClr val="000000"/>
              </a:buClr>
              <a:buSzPts val="800"/>
              <a:buChar char="■"/>
              <a:defRPr/>
            </a:lvl3pPr>
            <a:lvl4pPr marL="1828800" lvl="3" indent="-279400" algn="l">
              <a:lnSpc>
                <a:spcPct val="90000"/>
              </a:lnSpc>
              <a:spcBef>
                <a:spcPts val="1700"/>
              </a:spcBef>
              <a:spcAft>
                <a:spcPts val="0"/>
              </a:spcAft>
              <a:buClr>
                <a:srgbClr val="000000"/>
              </a:buClr>
              <a:buSzPts val="800"/>
              <a:buChar char="●"/>
              <a:defRPr/>
            </a:lvl4pPr>
            <a:lvl5pPr marL="2286000" lvl="4" indent="-279400" algn="l">
              <a:lnSpc>
                <a:spcPct val="90000"/>
              </a:lnSpc>
              <a:spcBef>
                <a:spcPts val="1700"/>
              </a:spcBef>
              <a:spcAft>
                <a:spcPts val="0"/>
              </a:spcAft>
              <a:buClr>
                <a:srgbClr val="000000"/>
              </a:buClr>
              <a:buSzPts val="800"/>
              <a:buChar char="○"/>
              <a:defRPr/>
            </a:lvl5pPr>
            <a:lvl6pPr marL="2743200" lvl="5" indent="-279400" algn="l">
              <a:lnSpc>
                <a:spcPct val="90000"/>
              </a:lnSpc>
              <a:spcBef>
                <a:spcPts val="1700"/>
              </a:spcBef>
              <a:spcAft>
                <a:spcPts val="0"/>
              </a:spcAft>
              <a:buClr>
                <a:srgbClr val="000000"/>
              </a:buClr>
              <a:buSzPts val="800"/>
              <a:buChar char="■"/>
              <a:defRPr/>
            </a:lvl6pPr>
            <a:lvl7pPr marL="3200400" lvl="6" indent="-279400" algn="l">
              <a:lnSpc>
                <a:spcPct val="90000"/>
              </a:lnSpc>
              <a:spcBef>
                <a:spcPts val="1700"/>
              </a:spcBef>
              <a:spcAft>
                <a:spcPts val="0"/>
              </a:spcAft>
              <a:buClr>
                <a:srgbClr val="000000"/>
              </a:buClr>
              <a:buSzPts val="800"/>
              <a:buChar char="●"/>
              <a:defRPr/>
            </a:lvl7pPr>
            <a:lvl8pPr marL="3657600" lvl="7" indent="-279400" algn="l">
              <a:lnSpc>
                <a:spcPct val="90000"/>
              </a:lnSpc>
              <a:spcBef>
                <a:spcPts val="1700"/>
              </a:spcBef>
              <a:spcAft>
                <a:spcPts val="0"/>
              </a:spcAft>
              <a:buClr>
                <a:srgbClr val="000000"/>
              </a:buClr>
              <a:buSzPts val="800"/>
              <a:buChar char="○"/>
              <a:defRPr/>
            </a:lvl8pPr>
            <a:lvl9pPr marL="4114800" lvl="8" indent="-279400" algn="l">
              <a:lnSpc>
                <a:spcPct val="90000"/>
              </a:lnSpc>
              <a:spcBef>
                <a:spcPts val="1700"/>
              </a:spcBef>
              <a:spcAft>
                <a:spcPts val="0"/>
              </a:spcAft>
              <a:buClr>
                <a:srgbClr val="000000"/>
              </a:buClr>
              <a:buSzPts val="800"/>
              <a:buChar char="■"/>
              <a:defRPr/>
            </a:lvl9pPr>
          </a:lstStyle>
          <a:p>
            <a:endParaRPr/>
          </a:p>
        </p:txBody>
      </p:sp>
      <p:sp>
        <p:nvSpPr>
          <p:cNvPr id="54" name="Google Shape;54;p13"/>
          <p:cNvSpPr txBox="1">
            <a:spLocks noGrp="1"/>
          </p:cNvSpPr>
          <p:nvPr>
            <p:ph type="sldNum" idx="12"/>
          </p:nvPr>
        </p:nvSpPr>
        <p:spPr>
          <a:xfrm>
            <a:off x="4500562" y="4905375"/>
            <a:ext cx="138300" cy="146100"/>
          </a:xfrm>
          <a:prstGeom prst="rect">
            <a:avLst/>
          </a:prstGeom>
          <a:noFill/>
          <a:ln>
            <a:noFill/>
          </a:ln>
        </p:spPr>
        <p:txBody>
          <a:bodyPr spcFirstLastPara="1" wrap="square" lIns="19050" tIns="19050" rIns="19050" bIns="19050" anchor="b" anchorCtr="0">
            <a:spAutoFit/>
          </a:bodyPr>
          <a:lstStyle>
            <a:lvl1pPr marL="0" lvl="0" indent="0" algn="ctr">
              <a:lnSpc>
                <a:spcPct val="100000"/>
              </a:lnSpc>
              <a:spcBef>
                <a:spcPts val="0"/>
              </a:spcBef>
              <a:spcAft>
                <a:spcPts val="0"/>
              </a:spcAft>
              <a:buClr>
                <a:srgbClr val="000000"/>
              </a:buClr>
              <a:buSzPts val="700"/>
              <a:buFont typeface="Helvetica Neue"/>
              <a:buNone/>
              <a:defRPr sz="700"/>
            </a:lvl1pPr>
            <a:lvl2pPr marL="0" lvl="1" indent="0" algn="ctr">
              <a:lnSpc>
                <a:spcPct val="100000"/>
              </a:lnSpc>
              <a:spcBef>
                <a:spcPts val="0"/>
              </a:spcBef>
              <a:spcAft>
                <a:spcPts val="0"/>
              </a:spcAft>
              <a:buClr>
                <a:srgbClr val="000000"/>
              </a:buClr>
              <a:buSzPts val="700"/>
              <a:buFont typeface="Helvetica Neue"/>
              <a:buNone/>
              <a:defRPr sz="700"/>
            </a:lvl2pPr>
            <a:lvl3pPr marL="0" lvl="2" indent="0" algn="ctr">
              <a:lnSpc>
                <a:spcPct val="100000"/>
              </a:lnSpc>
              <a:spcBef>
                <a:spcPts val="0"/>
              </a:spcBef>
              <a:spcAft>
                <a:spcPts val="0"/>
              </a:spcAft>
              <a:buClr>
                <a:srgbClr val="000000"/>
              </a:buClr>
              <a:buSzPts val="700"/>
              <a:buFont typeface="Helvetica Neue"/>
              <a:buNone/>
              <a:defRPr sz="700"/>
            </a:lvl3pPr>
            <a:lvl4pPr marL="0" lvl="3" indent="0" algn="ctr">
              <a:lnSpc>
                <a:spcPct val="100000"/>
              </a:lnSpc>
              <a:spcBef>
                <a:spcPts val="0"/>
              </a:spcBef>
              <a:spcAft>
                <a:spcPts val="0"/>
              </a:spcAft>
              <a:buClr>
                <a:srgbClr val="000000"/>
              </a:buClr>
              <a:buSzPts val="700"/>
              <a:buFont typeface="Helvetica Neue"/>
              <a:buNone/>
              <a:defRPr sz="700"/>
            </a:lvl4pPr>
            <a:lvl5pPr marL="0" lvl="4" indent="0" algn="ctr">
              <a:lnSpc>
                <a:spcPct val="100000"/>
              </a:lnSpc>
              <a:spcBef>
                <a:spcPts val="0"/>
              </a:spcBef>
              <a:spcAft>
                <a:spcPts val="0"/>
              </a:spcAft>
              <a:buClr>
                <a:srgbClr val="000000"/>
              </a:buClr>
              <a:buSzPts val="700"/>
              <a:buFont typeface="Helvetica Neue"/>
              <a:buNone/>
              <a:defRPr sz="700"/>
            </a:lvl5pPr>
            <a:lvl6pPr marL="0" lvl="5" indent="0" algn="ctr">
              <a:lnSpc>
                <a:spcPct val="100000"/>
              </a:lnSpc>
              <a:spcBef>
                <a:spcPts val="0"/>
              </a:spcBef>
              <a:spcAft>
                <a:spcPts val="0"/>
              </a:spcAft>
              <a:buClr>
                <a:srgbClr val="000000"/>
              </a:buClr>
              <a:buSzPts val="700"/>
              <a:buFont typeface="Helvetica Neue"/>
              <a:buNone/>
              <a:defRPr sz="700"/>
            </a:lvl6pPr>
            <a:lvl7pPr marL="0" lvl="6" indent="0" algn="ctr">
              <a:lnSpc>
                <a:spcPct val="100000"/>
              </a:lnSpc>
              <a:spcBef>
                <a:spcPts val="0"/>
              </a:spcBef>
              <a:spcAft>
                <a:spcPts val="0"/>
              </a:spcAft>
              <a:buClr>
                <a:srgbClr val="000000"/>
              </a:buClr>
              <a:buSzPts val="700"/>
              <a:buFont typeface="Helvetica Neue"/>
              <a:buNone/>
              <a:defRPr sz="700"/>
            </a:lvl7pPr>
            <a:lvl8pPr marL="0" lvl="7" indent="0" algn="ctr">
              <a:lnSpc>
                <a:spcPct val="100000"/>
              </a:lnSpc>
              <a:spcBef>
                <a:spcPts val="0"/>
              </a:spcBef>
              <a:spcAft>
                <a:spcPts val="0"/>
              </a:spcAft>
              <a:buClr>
                <a:srgbClr val="000000"/>
              </a:buClr>
              <a:buSzPts val="700"/>
              <a:buFont typeface="Helvetica Neue"/>
              <a:buNone/>
              <a:defRPr sz="700"/>
            </a:lvl8pPr>
            <a:lvl9pPr marL="0" lvl="8" indent="0" algn="ctr">
              <a:lnSpc>
                <a:spcPct val="100000"/>
              </a:lnSpc>
              <a:spcBef>
                <a:spcPts val="0"/>
              </a:spcBef>
              <a:spcAft>
                <a:spcPts val="0"/>
              </a:spcAft>
              <a:buClr>
                <a:srgbClr val="000000"/>
              </a:buClr>
              <a:buSzPts val="700"/>
              <a:buFont typeface="Helvetica Neue"/>
              <a:buNone/>
              <a:defRPr sz="700"/>
            </a:lvl9pPr>
          </a:lstStyle>
          <a:p>
            <a:pPr marL="0" lvl="0" indent="0" algn="ctr" rtl="0">
              <a:spcBef>
                <a:spcPts val="0"/>
              </a:spcBef>
              <a:spcAft>
                <a:spcPts val="0"/>
              </a:spcAft>
              <a:buNone/>
            </a:pPr>
            <a:fld id="{00000000-1234-1234-1234-123412341234}" type="slidenum">
              <a:rPr lang="es"/>
              <a:t>‹#›</a:t>
            </a:fld>
            <a:endParaRPr sz="10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7.jpg"/><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10.jp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13.png"/><Relationship Id="rId5" Type="http://schemas.openxmlformats.org/officeDocument/2006/relationships/image" Target="../media/image11.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hyperlink" Target="https://www.nature.com/articles/nmeth.2810" TargetMode="Externa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www.embopress.org/doi/full/10.15252/msb.20178124"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hyperlink" Target="https://bmcbioinformatics.biomedcentral.com/articles/10.1186/1471-2105-9-559" TargetMode="External"/><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hyperlink" Target="https://pubmed.ncbi.nlm.nih.gov/30657866/" TargetMode="External"/><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hyperlink" Target="https://www.nature.com/articles/s41587-022-01520-x" TargetMode="External"/><Relationship Id="rId4" Type="http://schemas.openxmlformats.org/officeDocument/2006/relationships/hyperlink" Target="https://journals.plos.org/plosone/article?id=10.1371/journal.pone.0035236"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s" b="1"/>
              <a:t>Multi-omics</a:t>
            </a:r>
            <a:endParaRPr b="1"/>
          </a:p>
        </p:txBody>
      </p:sp>
      <p:sp>
        <p:nvSpPr>
          <p:cNvPr id="60" name="Google Shape;60;p14"/>
          <p:cNvSpPr txBox="1"/>
          <p:nvPr/>
        </p:nvSpPr>
        <p:spPr>
          <a:xfrm>
            <a:off x="450503" y="4447448"/>
            <a:ext cx="8239200" cy="238800"/>
          </a:xfrm>
          <a:prstGeom prst="rect">
            <a:avLst/>
          </a:prstGeom>
          <a:noFill/>
          <a:ln>
            <a:noFill/>
          </a:ln>
        </p:spPr>
        <p:txBody>
          <a:bodyPr spcFirstLastPara="1" wrap="square" lIns="17150" tIns="17150" rIns="17150" bIns="17150" anchor="t" anchorCtr="0">
            <a:normAutofit lnSpcReduction="10000"/>
          </a:bodyPr>
          <a:lstStyle/>
          <a:p>
            <a:pPr marL="0" lvl="0" indent="0" algn="l" rtl="0">
              <a:spcBef>
                <a:spcPts val="0"/>
              </a:spcBef>
              <a:spcAft>
                <a:spcPts val="0"/>
              </a:spcAft>
              <a:buNone/>
            </a:pPr>
            <a:r>
              <a:rPr lang="es" b="1">
                <a:solidFill>
                  <a:srgbClr val="595959"/>
                </a:solidFill>
              </a:rPr>
              <a:t>Alberto Santos &amp; Yesid Cuesta-Astroz</a:t>
            </a:r>
            <a:endParaRPr b="1">
              <a:solidFill>
                <a:srgbClr val="595959"/>
              </a:solidFill>
            </a:endParaRPr>
          </a:p>
        </p:txBody>
      </p:sp>
      <p:pic>
        <p:nvPicPr>
          <p:cNvPr id="61" name="Google Shape;61;p14" descr="pasted-movie.png"/>
          <p:cNvPicPr preferRelativeResize="0"/>
          <p:nvPr/>
        </p:nvPicPr>
        <p:blipFill rotWithShape="1">
          <a:blip r:embed="rId3">
            <a:alphaModFix/>
          </a:blip>
          <a:srcRect/>
          <a:stretch/>
        </p:blipFill>
        <p:spPr>
          <a:xfrm>
            <a:off x="4869700" y="3604050"/>
            <a:ext cx="1085975" cy="1344050"/>
          </a:xfrm>
          <a:prstGeom prst="rect">
            <a:avLst/>
          </a:prstGeom>
          <a:noFill/>
          <a:ln>
            <a:noFill/>
          </a:ln>
        </p:spPr>
      </p:pic>
      <p:pic>
        <p:nvPicPr>
          <p:cNvPr id="62" name="Google Shape;62;p14"/>
          <p:cNvPicPr preferRelativeResize="0"/>
          <p:nvPr/>
        </p:nvPicPr>
        <p:blipFill>
          <a:blip r:embed="rId4">
            <a:alphaModFix/>
          </a:blip>
          <a:stretch>
            <a:fillRect/>
          </a:stretch>
        </p:blipFill>
        <p:spPr>
          <a:xfrm>
            <a:off x="5967840" y="4691876"/>
            <a:ext cx="3078375" cy="433142"/>
          </a:xfrm>
          <a:prstGeom prst="rect">
            <a:avLst/>
          </a:prstGeom>
          <a:noFill/>
          <a:ln>
            <a:noFill/>
          </a:ln>
        </p:spPr>
      </p:pic>
      <p:pic>
        <p:nvPicPr>
          <p:cNvPr id="63" name="Google Shape;63;p14"/>
          <p:cNvPicPr preferRelativeResize="0"/>
          <p:nvPr/>
        </p:nvPicPr>
        <p:blipFill rotWithShape="1">
          <a:blip r:embed="rId5">
            <a:alphaModFix/>
          </a:blip>
          <a:srcRect r="66067"/>
          <a:stretch/>
        </p:blipFill>
        <p:spPr>
          <a:xfrm>
            <a:off x="6065625" y="3660650"/>
            <a:ext cx="635026" cy="96837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t>Multi-omics</a:t>
            </a:r>
            <a:endParaRPr b="1"/>
          </a:p>
        </p:txBody>
      </p:sp>
      <p:sp>
        <p:nvSpPr>
          <p:cNvPr id="69" name="Google Shape;69;p15"/>
          <p:cNvSpPr txBox="1">
            <a:spLocks noGrp="1"/>
          </p:cNvSpPr>
          <p:nvPr>
            <p:ph type="body" idx="1"/>
          </p:nvPr>
        </p:nvSpPr>
        <p:spPr>
          <a:xfrm>
            <a:off x="311700" y="1152475"/>
            <a:ext cx="47952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s"/>
              <a:t>Multi-omics integration refers to the </a:t>
            </a:r>
            <a:r>
              <a:rPr lang="es" b="1"/>
              <a:t>computational methods</a:t>
            </a:r>
            <a:r>
              <a:rPr lang="es"/>
              <a:t> used to </a:t>
            </a:r>
            <a:r>
              <a:rPr lang="es" b="1"/>
              <a:t>combine and analyze</a:t>
            </a:r>
            <a:r>
              <a:rPr lang="es"/>
              <a:t> data from </a:t>
            </a:r>
            <a:r>
              <a:rPr lang="es" b="1"/>
              <a:t>two or more different 'omic' layers</a:t>
            </a:r>
            <a:r>
              <a:rPr lang="es"/>
              <a:t> (e.g., genomics, transcriptomics, proteomics, metabolomics).</a:t>
            </a:r>
            <a:endParaRPr/>
          </a:p>
          <a:p>
            <a:pPr marL="0" lvl="0" indent="0" algn="l" rtl="0">
              <a:spcBef>
                <a:spcPts val="1200"/>
              </a:spcBef>
              <a:spcAft>
                <a:spcPts val="0"/>
              </a:spcAft>
              <a:buNone/>
            </a:pPr>
            <a:r>
              <a:rPr lang="es"/>
              <a:t>The goal is to gain a </a:t>
            </a:r>
            <a:r>
              <a:rPr lang="es" b="1"/>
              <a:t>comprehensive</a:t>
            </a:r>
            <a:r>
              <a:rPr lang="es"/>
              <a:t>, </a:t>
            </a:r>
            <a:r>
              <a:rPr lang="es" b="1"/>
              <a:t>systems-level understanding</a:t>
            </a:r>
            <a:r>
              <a:rPr lang="es"/>
              <a:t> of a biological process or disease.</a:t>
            </a:r>
            <a:endParaRPr/>
          </a:p>
          <a:p>
            <a:pPr marL="0" lvl="0" indent="0" algn="l" rtl="0">
              <a:spcBef>
                <a:spcPts val="1200"/>
              </a:spcBef>
              <a:spcAft>
                <a:spcPts val="1200"/>
              </a:spcAft>
              <a:buNone/>
            </a:pPr>
            <a:r>
              <a:rPr lang="es"/>
              <a:t>It helps uncover the </a:t>
            </a:r>
            <a:r>
              <a:rPr lang="es" b="1"/>
              <a:t>complex interactions</a:t>
            </a:r>
            <a:r>
              <a:rPr lang="es"/>
              <a:t> and </a:t>
            </a:r>
            <a:r>
              <a:rPr lang="es" b="1"/>
              <a:t>information flow</a:t>
            </a:r>
            <a:r>
              <a:rPr lang="es"/>
              <a:t> from </a:t>
            </a:r>
            <a:r>
              <a:rPr lang="es" b="1"/>
              <a:t>one layer to the phenotype</a:t>
            </a:r>
            <a:r>
              <a:rPr lang="es"/>
              <a:t>.</a:t>
            </a:r>
            <a:endParaRPr/>
          </a:p>
        </p:txBody>
      </p:sp>
      <p:pic>
        <p:nvPicPr>
          <p:cNvPr id="70" name="Google Shape;70;p15"/>
          <p:cNvPicPr preferRelativeResize="0"/>
          <p:nvPr/>
        </p:nvPicPr>
        <p:blipFill>
          <a:blip r:embed="rId3">
            <a:alphaModFix/>
          </a:blip>
          <a:stretch>
            <a:fillRect/>
          </a:stretch>
        </p:blipFill>
        <p:spPr>
          <a:xfrm>
            <a:off x="5107025" y="1650675"/>
            <a:ext cx="3884575" cy="2727552"/>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t>Why is Multi-Omics Integration Key?</a:t>
            </a:r>
            <a:endParaRPr b="1"/>
          </a:p>
        </p:txBody>
      </p:sp>
      <p:sp>
        <p:nvSpPr>
          <p:cNvPr id="76" name="Google Shape;76;p16"/>
          <p:cNvSpPr txBox="1"/>
          <p:nvPr/>
        </p:nvSpPr>
        <p:spPr>
          <a:xfrm>
            <a:off x="412538" y="1985225"/>
            <a:ext cx="2520300" cy="243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r>
              <a:rPr lang="es" sz="1800" b="1">
                <a:solidFill>
                  <a:schemeClr val="accent1"/>
                </a:solidFill>
                <a:latin typeface="Merriweather"/>
                <a:ea typeface="Merriweather"/>
                <a:cs typeface="Merriweather"/>
                <a:sym typeface="Merriweather"/>
              </a:rPr>
              <a:t>Discover Mechanisms</a:t>
            </a:r>
            <a:endParaRPr sz="1800" b="1">
              <a:solidFill>
                <a:schemeClr val="accent1"/>
              </a:solidFill>
              <a:latin typeface="Merriweather"/>
              <a:ea typeface="Merriweather"/>
              <a:cs typeface="Merriweather"/>
              <a:sym typeface="Merriweather"/>
            </a:endParaRPr>
          </a:p>
          <a:p>
            <a:pPr marL="0" lvl="0" indent="0" algn="ctr" rtl="0">
              <a:lnSpc>
                <a:spcPct val="150000"/>
              </a:lnSpc>
              <a:spcBef>
                <a:spcPts val="1400"/>
              </a:spcBef>
              <a:spcAft>
                <a:spcPts val="0"/>
              </a:spcAft>
              <a:buClr>
                <a:schemeClr val="dk1"/>
              </a:buClr>
              <a:buSzPts val="1100"/>
              <a:buFont typeface="Arial"/>
              <a:buNone/>
            </a:pPr>
            <a:r>
              <a:rPr lang="es" sz="1350">
                <a:solidFill>
                  <a:srgbClr val="1E293B"/>
                </a:solidFill>
              </a:rPr>
              <a:t>Uncover </a:t>
            </a:r>
            <a:r>
              <a:rPr lang="es" sz="1350" b="1">
                <a:solidFill>
                  <a:srgbClr val="1E293B"/>
                </a:solidFill>
              </a:rPr>
              <a:t>complex</a:t>
            </a:r>
            <a:r>
              <a:rPr lang="es" sz="1350">
                <a:solidFill>
                  <a:srgbClr val="1E293B"/>
                </a:solidFill>
              </a:rPr>
              <a:t> </a:t>
            </a:r>
            <a:r>
              <a:rPr lang="es" sz="1350" b="1">
                <a:solidFill>
                  <a:srgbClr val="1E293B"/>
                </a:solidFill>
              </a:rPr>
              <a:t>molecular pathways</a:t>
            </a:r>
            <a:r>
              <a:rPr lang="es" sz="1350">
                <a:solidFill>
                  <a:srgbClr val="1E293B"/>
                </a:solidFill>
              </a:rPr>
              <a:t> and </a:t>
            </a:r>
            <a:r>
              <a:rPr lang="es" sz="1350" b="1">
                <a:solidFill>
                  <a:srgbClr val="1E293B"/>
                </a:solidFill>
              </a:rPr>
              <a:t>regulatory networks</a:t>
            </a:r>
            <a:r>
              <a:rPr lang="es" sz="1350">
                <a:solidFill>
                  <a:srgbClr val="1E293B"/>
                </a:solidFill>
              </a:rPr>
              <a:t> that are hidden to single-omic analysis.</a:t>
            </a:r>
            <a:endParaRPr sz="1350">
              <a:solidFill>
                <a:srgbClr val="1E293B"/>
              </a:solidFill>
            </a:endParaRPr>
          </a:p>
          <a:p>
            <a:pPr marL="0" lvl="0" indent="0" algn="l" rtl="0">
              <a:spcBef>
                <a:spcPts val="1400"/>
              </a:spcBef>
              <a:spcAft>
                <a:spcPts val="0"/>
              </a:spcAft>
              <a:buNone/>
            </a:pPr>
            <a:endParaRPr sz="1800">
              <a:solidFill>
                <a:schemeClr val="dk2"/>
              </a:solidFill>
            </a:endParaRPr>
          </a:p>
        </p:txBody>
      </p:sp>
      <p:sp>
        <p:nvSpPr>
          <p:cNvPr id="77" name="Google Shape;77;p16"/>
          <p:cNvSpPr txBox="1"/>
          <p:nvPr/>
        </p:nvSpPr>
        <p:spPr>
          <a:xfrm>
            <a:off x="3278388" y="1985225"/>
            <a:ext cx="2520300" cy="243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r>
              <a:rPr lang="es" sz="1800" b="1">
                <a:solidFill>
                  <a:schemeClr val="accent1"/>
                </a:solidFill>
                <a:latin typeface="Merriweather"/>
                <a:ea typeface="Merriweather"/>
                <a:cs typeface="Merriweather"/>
                <a:sym typeface="Merriweather"/>
              </a:rPr>
              <a:t>Refine Phenotypic Subtypes</a:t>
            </a:r>
            <a:endParaRPr sz="1800" b="1">
              <a:solidFill>
                <a:schemeClr val="accent1"/>
              </a:solidFill>
              <a:latin typeface="Merriweather"/>
              <a:ea typeface="Merriweather"/>
              <a:cs typeface="Merriweather"/>
              <a:sym typeface="Merriweather"/>
            </a:endParaRPr>
          </a:p>
          <a:p>
            <a:pPr marL="0" lvl="0" indent="0" algn="ctr" rtl="0">
              <a:lnSpc>
                <a:spcPct val="150000"/>
              </a:lnSpc>
              <a:spcBef>
                <a:spcPts val="1400"/>
              </a:spcBef>
              <a:spcAft>
                <a:spcPts val="0"/>
              </a:spcAft>
              <a:buClr>
                <a:schemeClr val="dk1"/>
              </a:buClr>
              <a:buSzPts val="1100"/>
              <a:buFont typeface="Arial"/>
              <a:buNone/>
            </a:pPr>
            <a:r>
              <a:rPr lang="es" sz="1350">
                <a:solidFill>
                  <a:srgbClr val="1E293B"/>
                </a:solidFill>
              </a:rPr>
              <a:t>Identify </a:t>
            </a:r>
            <a:r>
              <a:rPr lang="es" sz="1350" b="1">
                <a:solidFill>
                  <a:srgbClr val="1E293B"/>
                </a:solidFill>
              </a:rPr>
              <a:t>new, more precise subgroups</a:t>
            </a:r>
            <a:r>
              <a:rPr lang="es" sz="1350">
                <a:solidFill>
                  <a:srgbClr val="1E293B"/>
                </a:solidFill>
              </a:rPr>
              <a:t> based on their complete molecular profile, leading to more accurate analyses.</a:t>
            </a:r>
            <a:endParaRPr sz="1350">
              <a:solidFill>
                <a:srgbClr val="1E293B"/>
              </a:solidFill>
            </a:endParaRPr>
          </a:p>
          <a:p>
            <a:pPr marL="0" lvl="0" indent="0" algn="l" rtl="0">
              <a:spcBef>
                <a:spcPts val="1400"/>
              </a:spcBef>
              <a:spcAft>
                <a:spcPts val="0"/>
              </a:spcAft>
              <a:buNone/>
            </a:pPr>
            <a:endParaRPr sz="1800">
              <a:solidFill>
                <a:schemeClr val="dk2"/>
              </a:solidFill>
            </a:endParaRPr>
          </a:p>
        </p:txBody>
      </p:sp>
      <p:sp>
        <p:nvSpPr>
          <p:cNvPr id="78" name="Google Shape;78;p16"/>
          <p:cNvSpPr txBox="1"/>
          <p:nvPr/>
        </p:nvSpPr>
        <p:spPr>
          <a:xfrm>
            <a:off x="6211163" y="1985225"/>
            <a:ext cx="2520300" cy="243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r>
              <a:rPr lang="es" sz="1800" b="1">
                <a:solidFill>
                  <a:schemeClr val="accent1"/>
                </a:solidFill>
                <a:latin typeface="Merriweather"/>
                <a:ea typeface="Merriweather"/>
                <a:cs typeface="Merriweather"/>
                <a:sym typeface="Merriweather"/>
              </a:rPr>
              <a:t>Find Better Biomarkers</a:t>
            </a:r>
            <a:endParaRPr sz="1800" b="1">
              <a:solidFill>
                <a:schemeClr val="accent1"/>
              </a:solidFill>
              <a:latin typeface="Merriweather"/>
              <a:ea typeface="Merriweather"/>
              <a:cs typeface="Merriweather"/>
              <a:sym typeface="Merriweather"/>
            </a:endParaRPr>
          </a:p>
          <a:p>
            <a:pPr marL="0" lvl="0" indent="0" algn="ctr" rtl="0">
              <a:lnSpc>
                <a:spcPct val="150000"/>
              </a:lnSpc>
              <a:spcBef>
                <a:spcPts val="1400"/>
              </a:spcBef>
              <a:spcAft>
                <a:spcPts val="1400"/>
              </a:spcAft>
              <a:buNone/>
            </a:pPr>
            <a:r>
              <a:rPr lang="es" sz="1350">
                <a:solidFill>
                  <a:srgbClr val="1E293B"/>
                </a:solidFill>
              </a:rPr>
              <a:t>Discover robust biomarkers for disease diagnosis, prognosis, and prediction of treatment response.</a:t>
            </a:r>
            <a:endParaRPr sz="1800">
              <a:solidFill>
                <a:schemeClr val="dk2"/>
              </a:solidFill>
            </a:endParaRPr>
          </a:p>
        </p:txBody>
      </p:sp>
      <p:pic>
        <p:nvPicPr>
          <p:cNvPr id="79" name="Google Shape;79;p16" descr="Rotating gears line icon, technology concept, Cogwheel gear mechanism sign on white background, two gear wheels icon in outline style for mobile concept and web design. Vector graphics. (Provided by Getty Images)"/>
          <p:cNvPicPr preferRelativeResize="0"/>
          <p:nvPr/>
        </p:nvPicPr>
        <p:blipFill>
          <a:blip r:embed="rId3">
            <a:alphaModFix/>
          </a:blip>
          <a:stretch>
            <a:fillRect/>
          </a:stretch>
        </p:blipFill>
        <p:spPr>
          <a:xfrm>
            <a:off x="1300765" y="1234469"/>
            <a:ext cx="743849" cy="743849"/>
          </a:xfrm>
          <a:prstGeom prst="rect">
            <a:avLst/>
          </a:prstGeom>
          <a:noFill/>
          <a:ln>
            <a:noFill/>
          </a:ln>
        </p:spPr>
      </p:pic>
      <p:pic>
        <p:nvPicPr>
          <p:cNvPr id="80" name="Google Shape;80;p16" descr="Pencil choice icon vector. Isolated contour symbol illustration (Provided by Getty Images)"/>
          <p:cNvPicPr preferRelativeResize="0"/>
          <p:nvPr/>
        </p:nvPicPr>
        <p:blipFill>
          <a:blip r:embed="rId4">
            <a:alphaModFix/>
          </a:blip>
          <a:stretch>
            <a:fillRect/>
          </a:stretch>
        </p:blipFill>
        <p:spPr>
          <a:xfrm>
            <a:off x="4166613" y="1234475"/>
            <a:ext cx="743849" cy="743849"/>
          </a:xfrm>
          <a:prstGeom prst="rect">
            <a:avLst/>
          </a:prstGeom>
          <a:noFill/>
          <a:ln>
            <a:noFill/>
          </a:ln>
        </p:spPr>
      </p:pic>
      <p:pic>
        <p:nvPicPr>
          <p:cNvPr id="81" name="Google Shape;81;p16" descr="Continuous one line drawing light bulb symbol idea and creativity isolated on white background minimalism design. (Provided by Getty Images)"/>
          <p:cNvPicPr preferRelativeResize="0"/>
          <p:nvPr/>
        </p:nvPicPr>
        <p:blipFill>
          <a:blip r:embed="rId5">
            <a:alphaModFix/>
          </a:blip>
          <a:stretch>
            <a:fillRect/>
          </a:stretch>
        </p:blipFill>
        <p:spPr>
          <a:xfrm>
            <a:off x="7099388" y="1234476"/>
            <a:ext cx="743849" cy="743849"/>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t>Key Challenges</a:t>
            </a:r>
            <a:endParaRPr b="1"/>
          </a:p>
        </p:txBody>
      </p:sp>
      <p:sp>
        <p:nvSpPr>
          <p:cNvPr id="87" name="Google Shape;87;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s" b="1"/>
              <a:t>High Dimensionality</a:t>
            </a:r>
            <a:r>
              <a:rPr lang="es"/>
              <a:t> The "curse of dimensionality" (p &gt;&gt; n), where the number of features (genes, proteins) vastly exceeds the number of samples.</a:t>
            </a:r>
            <a:endParaRPr/>
          </a:p>
          <a:p>
            <a:pPr marL="0" lvl="0" indent="0" algn="l" rtl="0">
              <a:spcBef>
                <a:spcPts val="1200"/>
              </a:spcBef>
              <a:spcAft>
                <a:spcPts val="0"/>
              </a:spcAft>
              <a:buNone/>
            </a:pPr>
            <a:r>
              <a:rPr lang="es" b="1"/>
              <a:t>Data Heterogeneity</a:t>
            </a:r>
            <a:r>
              <a:rPr lang="es"/>
              <a:t> Integrating data of different types, scales, and statistical distributions (e.g., counts, binary, continuous).</a:t>
            </a:r>
            <a:endParaRPr/>
          </a:p>
          <a:p>
            <a:pPr marL="0" lvl="0" indent="0" algn="l" rtl="0">
              <a:spcBef>
                <a:spcPts val="1200"/>
              </a:spcBef>
              <a:spcAft>
                <a:spcPts val="0"/>
              </a:spcAft>
              <a:buNone/>
            </a:pPr>
            <a:r>
              <a:rPr lang="es" b="1"/>
              <a:t>Noise &amp; Batch Effects</a:t>
            </a:r>
            <a:r>
              <a:rPr lang="es"/>
              <a:t> Each omic layer introduces its own technical noise and batch effects that must be corrected.</a:t>
            </a:r>
            <a:endParaRPr/>
          </a:p>
          <a:p>
            <a:pPr marL="0" lvl="0" indent="0" algn="l" rtl="0">
              <a:spcBef>
                <a:spcPts val="1200"/>
              </a:spcBef>
              <a:spcAft>
                <a:spcPts val="0"/>
              </a:spcAft>
              <a:buNone/>
            </a:pPr>
            <a:r>
              <a:rPr lang="es" b="1"/>
              <a:t>Missing Data</a:t>
            </a:r>
            <a:r>
              <a:rPr lang="es"/>
              <a:t> Datasets are often incomplete, with different omics measured on only partially overlapping sets of samples.</a:t>
            </a:r>
            <a:endParaRPr/>
          </a:p>
          <a:p>
            <a:pPr marL="0" lvl="0" indent="0" algn="l" rtl="0">
              <a:spcBef>
                <a:spcPts val="1200"/>
              </a:spcBef>
              <a:spcAft>
                <a:spcPts val="1200"/>
              </a:spcAft>
              <a:buNone/>
            </a:pPr>
            <a:r>
              <a:rPr lang="es" b="1"/>
              <a:t>Interpretability</a:t>
            </a:r>
            <a:r>
              <a:rPr lang="es"/>
              <a:t> Building models that are not just predictive but also biologically interpretable.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452438" y="404813"/>
            <a:ext cx="8239200" cy="537300"/>
          </a:xfrm>
          <a:prstGeom prst="rect">
            <a:avLst/>
          </a:prstGeom>
          <a:noFill/>
          <a:ln>
            <a:noFill/>
          </a:ln>
        </p:spPr>
        <p:txBody>
          <a:bodyPr spcFirstLastPara="1" wrap="square" lIns="19050" tIns="19050" rIns="19050" bIns="19050" anchor="t" anchorCtr="0">
            <a:normAutofit/>
          </a:bodyPr>
          <a:lstStyle/>
          <a:p>
            <a:pPr marL="0" lvl="0" indent="0" algn="l" rtl="0">
              <a:lnSpc>
                <a:spcPct val="80000"/>
              </a:lnSpc>
              <a:spcBef>
                <a:spcPts val="0"/>
              </a:spcBef>
              <a:spcAft>
                <a:spcPts val="0"/>
              </a:spcAft>
              <a:buClr>
                <a:srgbClr val="000000"/>
              </a:buClr>
              <a:buSzPts val="3200"/>
              <a:buFont typeface="Helvetica Neue"/>
              <a:buNone/>
            </a:pPr>
            <a:r>
              <a:rPr lang="es" b="1">
                <a:solidFill>
                  <a:srgbClr val="000000"/>
                </a:solidFill>
              </a:rPr>
              <a:t>Data Integration</a:t>
            </a:r>
            <a:endParaRPr b="1"/>
          </a:p>
        </p:txBody>
      </p:sp>
      <p:grpSp>
        <p:nvGrpSpPr>
          <p:cNvPr id="93" name="Google Shape;93;p18"/>
          <p:cNvGrpSpPr/>
          <p:nvPr/>
        </p:nvGrpSpPr>
        <p:grpSpPr>
          <a:xfrm>
            <a:off x="887925" y="404825"/>
            <a:ext cx="7368150" cy="4805700"/>
            <a:chOff x="1726425" y="285475"/>
            <a:chExt cx="7368150" cy="4805700"/>
          </a:xfrm>
        </p:grpSpPr>
        <p:sp>
          <p:nvSpPr>
            <p:cNvPr id="94" name="Google Shape;94;p18"/>
            <p:cNvSpPr/>
            <p:nvPr/>
          </p:nvSpPr>
          <p:spPr>
            <a:xfrm>
              <a:off x="2814281" y="1556225"/>
              <a:ext cx="1334700" cy="900600"/>
            </a:xfrm>
            <a:prstGeom prst="rect">
              <a:avLst/>
            </a:prstGeom>
            <a:solidFill>
              <a:srgbClr val="07376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8"/>
            <p:cNvSpPr/>
            <p:nvPr/>
          </p:nvSpPr>
          <p:spPr>
            <a:xfrm>
              <a:off x="4333456" y="1556225"/>
              <a:ext cx="1334700" cy="900600"/>
            </a:xfrm>
            <a:prstGeom prst="rect">
              <a:avLst/>
            </a:prstGeom>
            <a:solidFill>
              <a:srgbClr val="0B539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6" name="Google Shape;96;p18"/>
            <p:cNvSpPr/>
            <p:nvPr/>
          </p:nvSpPr>
          <p:spPr>
            <a:xfrm>
              <a:off x="5972006" y="1556225"/>
              <a:ext cx="1334700" cy="900600"/>
            </a:xfrm>
            <a:prstGeom prst="rect">
              <a:avLst/>
            </a:prstGeom>
            <a:solidFill>
              <a:srgbClr val="6FA8D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7" name="Google Shape;97;p18"/>
            <p:cNvSpPr/>
            <p:nvPr/>
          </p:nvSpPr>
          <p:spPr>
            <a:xfrm>
              <a:off x="2814281" y="2769325"/>
              <a:ext cx="1334700" cy="900600"/>
            </a:xfrm>
            <a:prstGeom prst="rect">
              <a:avLst/>
            </a:prstGeom>
            <a:solidFill>
              <a:srgbClr val="351C75"/>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8" name="Google Shape;98;p18"/>
            <p:cNvSpPr/>
            <p:nvPr/>
          </p:nvSpPr>
          <p:spPr>
            <a:xfrm>
              <a:off x="4333456" y="2769325"/>
              <a:ext cx="1334700" cy="900600"/>
            </a:xfrm>
            <a:prstGeom prst="rect">
              <a:avLst/>
            </a:prstGeom>
            <a:solidFill>
              <a:srgbClr val="674EA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9" name="Google Shape;99;p18"/>
            <p:cNvSpPr/>
            <p:nvPr/>
          </p:nvSpPr>
          <p:spPr>
            <a:xfrm>
              <a:off x="5972006" y="2769325"/>
              <a:ext cx="1334700" cy="900600"/>
            </a:xfrm>
            <a:prstGeom prst="rect">
              <a:avLst/>
            </a:prstGeom>
            <a:solidFill>
              <a:srgbClr val="B4A7D6"/>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0" name="Google Shape;100;p18"/>
            <p:cNvSpPr/>
            <p:nvPr/>
          </p:nvSpPr>
          <p:spPr>
            <a:xfrm>
              <a:off x="2814281" y="4080075"/>
              <a:ext cx="1334700" cy="900600"/>
            </a:xfrm>
            <a:prstGeom prst="rect">
              <a:avLst/>
            </a:prstGeom>
            <a:solidFill>
              <a:srgbClr val="741B4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1" name="Google Shape;101;p18"/>
            <p:cNvSpPr/>
            <p:nvPr/>
          </p:nvSpPr>
          <p:spPr>
            <a:xfrm>
              <a:off x="4333456" y="4080075"/>
              <a:ext cx="1334700" cy="900600"/>
            </a:xfrm>
            <a:prstGeom prst="rect">
              <a:avLst/>
            </a:prstGeom>
            <a:solidFill>
              <a:srgbClr val="A64D7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2" name="Google Shape;102;p18"/>
            <p:cNvSpPr/>
            <p:nvPr/>
          </p:nvSpPr>
          <p:spPr>
            <a:xfrm>
              <a:off x="5972006" y="4080075"/>
              <a:ext cx="1334700" cy="900600"/>
            </a:xfrm>
            <a:prstGeom prst="rect">
              <a:avLst/>
            </a:prstGeom>
            <a:solidFill>
              <a:srgbClr val="D5A6B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3" name="Google Shape;103;p18"/>
            <p:cNvSpPr txBox="1"/>
            <p:nvPr/>
          </p:nvSpPr>
          <p:spPr>
            <a:xfrm>
              <a:off x="2990625" y="1094513"/>
              <a:ext cx="10200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700" b="1">
                  <a:solidFill>
                    <a:schemeClr val="dk2"/>
                  </a:solidFill>
                </a:rPr>
                <a:t>Study 1</a:t>
              </a:r>
              <a:endParaRPr sz="1700" b="1">
                <a:solidFill>
                  <a:schemeClr val="dk2"/>
                </a:solidFill>
              </a:endParaRPr>
            </a:p>
          </p:txBody>
        </p:sp>
        <p:sp>
          <p:nvSpPr>
            <p:cNvPr id="104" name="Google Shape;104;p18"/>
            <p:cNvSpPr txBox="1"/>
            <p:nvPr/>
          </p:nvSpPr>
          <p:spPr>
            <a:xfrm>
              <a:off x="6148338" y="1094513"/>
              <a:ext cx="10200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700" b="1">
                  <a:solidFill>
                    <a:schemeClr val="dk2"/>
                  </a:solidFill>
                </a:rPr>
                <a:t>Study n</a:t>
              </a:r>
              <a:endParaRPr sz="1700" b="1">
                <a:solidFill>
                  <a:schemeClr val="dk2"/>
                </a:solidFill>
              </a:endParaRPr>
            </a:p>
          </p:txBody>
        </p:sp>
        <p:sp>
          <p:nvSpPr>
            <p:cNvPr id="105" name="Google Shape;105;p18"/>
            <p:cNvSpPr txBox="1"/>
            <p:nvPr/>
          </p:nvSpPr>
          <p:spPr>
            <a:xfrm>
              <a:off x="4471813" y="1094513"/>
              <a:ext cx="10200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700" b="1">
                  <a:solidFill>
                    <a:schemeClr val="dk2"/>
                  </a:solidFill>
                </a:rPr>
                <a:t>Study 2</a:t>
              </a:r>
              <a:endParaRPr sz="1700" b="1">
                <a:solidFill>
                  <a:schemeClr val="dk2"/>
                </a:solidFill>
              </a:endParaRPr>
            </a:p>
          </p:txBody>
        </p:sp>
        <p:sp>
          <p:nvSpPr>
            <p:cNvPr id="106" name="Google Shape;106;p18"/>
            <p:cNvSpPr txBox="1"/>
            <p:nvPr/>
          </p:nvSpPr>
          <p:spPr>
            <a:xfrm>
              <a:off x="1726425" y="1775675"/>
              <a:ext cx="10692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700" b="1">
                  <a:solidFill>
                    <a:schemeClr val="dk2"/>
                  </a:solidFill>
                </a:rPr>
                <a:t>Omics 1</a:t>
              </a:r>
              <a:endParaRPr sz="1700" b="1">
                <a:solidFill>
                  <a:schemeClr val="dk2"/>
                </a:solidFill>
              </a:endParaRPr>
            </a:p>
          </p:txBody>
        </p:sp>
        <p:sp>
          <p:nvSpPr>
            <p:cNvPr id="107" name="Google Shape;107;p18"/>
            <p:cNvSpPr txBox="1"/>
            <p:nvPr/>
          </p:nvSpPr>
          <p:spPr>
            <a:xfrm>
              <a:off x="1726425" y="2956225"/>
              <a:ext cx="10692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700" b="1">
                  <a:solidFill>
                    <a:schemeClr val="dk2"/>
                  </a:solidFill>
                </a:rPr>
                <a:t>Omics 2</a:t>
              </a:r>
              <a:endParaRPr sz="1700" b="1">
                <a:solidFill>
                  <a:schemeClr val="dk2"/>
                </a:solidFill>
              </a:endParaRPr>
            </a:p>
          </p:txBody>
        </p:sp>
        <p:sp>
          <p:nvSpPr>
            <p:cNvPr id="108" name="Google Shape;108;p18"/>
            <p:cNvSpPr txBox="1"/>
            <p:nvPr/>
          </p:nvSpPr>
          <p:spPr>
            <a:xfrm>
              <a:off x="1726475" y="4299525"/>
              <a:ext cx="10692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700" b="1">
                  <a:solidFill>
                    <a:schemeClr val="dk2"/>
                  </a:solidFill>
                </a:rPr>
                <a:t>Omics n</a:t>
              </a:r>
              <a:endParaRPr sz="1700" b="1">
                <a:solidFill>
                  <a:schemeClr val="dk2"/>
                </a:solidFill>
              </a:endParaRPr>
            </a:p>
          </p:txBody>
        </p:sp>
        <p:sp>
          <p:nvSpPr>
            <p:cNvPr id="109" name="Google Shape;109;p18"/>
            <p:cNvSpPr/>
            <p:nvPr/>
          </p:nvSpPr>
          <p:spPr>
            <a:xfrm>
              <a:off x="5795725" y="19576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0" name="Google Shape;110;p18"/>
            <p:cNvSpPr/>
            <p:nvPr/>
          </p:nvSpPr>
          <p:spPr>
            <a:xfrm>
              <a:off x="5757750" y="31707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 name="Google Shape;111;p18"/>
            <p:cNvSpPr/>
            <p:nvPr/>
          </p:nvSpPr>
          <p:spPr>
            <a:xfrm>
              <a:off x="5795725" y="448147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2" name="Google Shape;112;p18"/>
            <p:cNvSpPr/>
            <p:nvPr/>
          </p:nvSpPr>
          <p:spPr>
            <a:xfrm>
              <a:off x="34193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3" name="Google Shape;113;p18"/>
            <p:cNvSpPr/>
            <p:nvPr/>
          </p:nvSpPr>
          <p:spPr>
            <a:xfrm>
              <a:off x="4938475" y="385865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 name="Google Shape;114;p18"/>
            <p:cNvSpPr/>
            <p:nvPr/>
          </p:nvSpPr>
          <p:spPr>
            <a:xfrm>
              <a:off x="66150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5" name="Google Shape;115;p18"/>
            <p:cNvSpPr txBox="1"/>
            <p:nvPr/>
          </p:nvSpPr>
          <p:spPr>
            <a:xfrm>
              <a:off x="6044025" y="285475"/>
              <a:ext cx="1694100" cy="65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800" b="1">
                  <a:solidFill>
                    <a:schemeClr val="dk2"/>
                  </a:solidFill>
                </a:rPr>
                <a:t>Horizontal Integration</a:t>
              </a:r>
              <a:endParaRPr sz="1800" b="1">
                <a:solidFill>
                  <a:schemeClr val="dk2"/>
                </a:solidFill>
              </a:endParaRPr>
            </a:p>
          </p:txBody>
        </p:sp>
        <p:cxnSp>
          <p:nvCxnSpPr>
            <p:cNvPr id="116" name="Google Shape;116;p18"/>
            <p:cNvCxnSpPr/>
            <p:nvPr/>
          </p:nvCxnSpPr>
          <p:spPr>
            <a:xfrm rot="10800000" flipH="1">
              <a:off x="2800700" y="1066350"/>
              <a:ext cx="4720500" cy="43200"/>
            </a:xfrm>
            <a:prstGeom prst="straightConnector1">
              <a:avLst/>
            </a:prstGeom>
            <a:noFill/>
            <a:ln w="38100" cap="flat" cmpd="sng">
              <a:solidFill>
                <a:srgbClr val="434343"/>
              </a:solidFill>
              <a:prstDash val="solid"/>
              <a:round/>
              <a:headEnd type="none" w="med" len="med"/>
              <a:tailEnd type="triangle" w="med" len="med"/>
            </a:ln>
          </p:spPr>
        </p:cxnSp>
        <p:cxnSp>
          <p:nvCxnSpPr>
            <p:cNvPr id="117" name="Google Shape;117;p18"/>
            <p:cNvCxnSpPr/>
            <p:nvPr/>
          </p:nvCxnSpPr>
          <p:spPr>
            <a:xfrm>
              <a:off x="7529175" y="1348075"/>
              <a:ext cx="32100" cy="3743100"/>
            </a:xfrm>
            <a:prstGeom prst="straightConnector1">
              <a:avLst/>
            </a:prstGeom>
            <a:noFill/>
            <a:ln w="38100" cap="flat" cmpd="sng">
              <a:solidFill>
                <a:srgbClr val="434343"/>
              </a:solidFill>
              <a:prstDash val="solid"/>
              <a:round/>
              <a:headEnd type="none" w="med" len="med"/>
              <a:tailEnd type="triangle" w="med" len="med"/>
            </a:ln>
          </p:spPr>
        </p:cxnSp>
        <p:sp>
          <p:nvSpPr>
            <p:cNvPr id="118" name="Google Shape;118;p18"/>
            <p:cNvSpPr txBox="1"/>
            <p:nvPr/>
          </p:nvSpPr>
          <p:spPr>
            <a:xfrm>
              <a:off x="7605375" y="4185050"/>
              <a:ext cx="1489200" cy="65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800" b="1">
                  <a:solidFill>
                    <a:schemeClr val="dk2"/>
                  </a:solidFill>
                </a:rPr>
                <a:t>Vertical Integration</a:t>
              </a:r>
              <a:endParaRPr sz="1800" b="1">
                <a:solidFill>
                  <a:schemeClr val="dk2"/>
                </a:solidFil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19"/>
          <p:cNvSpPr txBox="1">
            <a:spLocks noGrp="1"/>
          </p:cNvSpPr>
          <p:nvPr>
            <p:ph type="title"/>
          </p:nvPr>
        </p:nvSpPr>
        <p:spPr>
          <a:xfrm>
            <a:off x="452438" y="404813"/>
            <a:ext cx="8239200" cy="537300"/>
          </a:xfrm>
          <a:prstGeom prst="rect">
            <a:avLst/>
          </a:prstGeom>
          <a:noFill/>
          <a:ln>
            <a:noFill/>
          </a:ln>
        </p:spPr>
        <p:txBody>
          <a:bodyPr spcFirstLastPara="1" wrap="square" lIns="19050" tIns="19050" rIns="19050" bIns="19050" anchor="t" anchorCtr="0">
            <a:normAutofit/>
          </a:bodyPr>
          <a:lstStyle/>
          <a:p>
            <a:pPr marL="0" lvl="0" indent="0" algn="l" rtl="0">
              <a:lnSpc>
                <a:spcPct val="80000"/>
              </a:lnSpc>
              <a:spcBef>
                <a:spcPts val="0"/>
              </a:spcBef>
              <a:spcAft>
                <a:spcPts val="0"/>
              </a:spcAft>
              <a:buClr>
                <a:srgbClr val="000000"/>
              </a:buClr>
              <a:buSzPts val="3200"/>
              <a:buFont typeface="Helvetica Neue"/>
              <a:buNone/>
            </a:pPr>
            <a:r>
              <a:rPr lang="es" b="1">
                <a:solidFill>
                  <a:srgbClr val="000000"/>
                </a:solidFill>
              </a:rPr>
              <a:t>Horizontal Data Integration</a:t>
            </a:r>
            <a:endParaRPr b="1"/>
          </a:p>
        </p:txBody>
      </p:sp>
      <p:grpSp>
        <p:nvGrpSpPr>
          <p:cNvPr id="124" name="Google Shape;124;p19"/>
          <p:cNvGrpSpPr/>
          <p:nvPr/>
        </p:nvGrpSpPr>
        <p:grpSpPr>
          <a:xfrm>
            <a:off x="2395151" y="3271261"/>
            <a:ext cx="5867382" cy="1842235"/>
            <a:chOff x="0" y="0"/>
            <a:chExt cx="15646352" cy="4912625"/>
          </a:xfrm>
        </p:grpSpPr>
        <p:pic>
          <p:nvPicPr>
            <p:cNvPr id="125" name="Google Shape;125;p19" descr="unknown.png"/>
            <p:cNvPicPr preferRelativeResize="0"/>
            <p:nvPr/>
          </p:nvPicPr>
          <p:blipFill rotWithShape="1">
            <a:blip r:embed="rId3">
              <a:alphaModFix/>
            </a:blip>
            <a:srcRect l="50275" t="14072" r="29777" b="25818"/>
            <a:stretch/>
          </p:blipFill>
          <p:spPr>
            <a:xfrm>
              <a:off x="0" y="0"/>
              <a:ext cx="7004981" cy="4860514"/>
            </a:xfrm>
            <a:prstGeom prst="rect">
              <a:avLst/>
            </a:prstGeom>
            <a:noFill/>
            <a:ln>
              <a:noFill/>
            </a:ln>
          </p:spPr>
        </p:pic>
        <p:pic>
          <p:nvPicPr>
            <p:cNvPr id="126" name="Google Shape;126;p19" descr="Screenshot 2025-08-15 at 05.44.02.png"/>
            <p:cNvPicPr preferRelativeResize="0"/>
            <p:nvPr/>
          </p:nvPicPr>
          <p:blipFill rotWithShape="1">
            <a:blip r:embed="rId4">
              <a:alphaModFix/>
            </a:blip>
            <a:srcRect t="2118" b="748"/>
            <a:stretch/>
          </p:blipFill>
          <p:spPr>
            <a:xfrm>
              <a:off x="7365952" y="52137"/>
              <a:ext cx="8280400" cy="4860488"/>
            </a:xfrm>
            <a:prstGeom prst="rect">
              <a:avLst/>
            </a:prstGeom>
            <a:noFill/>
            <a:ln>
              <a:noFill/>
            </a:ln>
          </p:spPr>
        </p:pic>
      </p:grpSp>
      <p:pic>
        <p:nvPicPr>
          <p:cNvPr id="127" name="Google Shape;127;p19" descr="unknown.png"/>
          <p:cNvPicPr preferRelativeResize="0"/>
          <p:nvPr/>
        </p:nvPicPr>
        <p:blipFill rotWithShape="1">
          <a:blip r:embed="rId3">
            <a:alphaModFix/>
          </a:blip>
          <a:srcRect l="2895" t="33889" r="49329"/>
          <a:stretch/>
        </p:blipFill>
        <p:spPr>
          <a:xfrm>
            <a:off x="2275782" y="1168887"/>
            <a:ext cx="6106088" cy="1945453"/>
          </a:xfrm>
          <a:prstGeom prst="rect">
            <a:avLst/>
          </a:prstGeom>
          <a:noFill/>
          <a:ln>
            <a:noFill/>
          </a:ln>
        </p:spPr>
      </p:pic>
      <p:pic>
        <p:nvPicPr>
          <p:cNvPr id="128" name="Google Shape;128;p19" descr="unknown.jpeg"/>
          <p:cNvPicPr preferRelativeResize="0"/>
          <p:nvPr/>
        </p:nvPicPr>
        <p:blipFill rotWithShape="1">
          <a:blip r:embed="rId5">
            <a:alphaModFix/>
          </a:blip>
          <a:srcRect/>
          <a:stretch/>
        </p:blipFill>
        <p:spPr>
          <a:xfrm>
            <a:off x="762097" y="2596873"/>
            <a:ext cx="1924050" cy="1614488"/>
          </a:xfrm>
          <a:prstGeom prst="rect">
            <a:avLst/>
          </a:prstGeom>
          <a:noFill/>
          <a:ln>
            <a:noFill/>
          </a:ln>
        </p:spPr>
      </p:pic>
      <p:sp>
        <p:nvSpPr>
          <p:cNvPr id="129" name="Google Shape;129;p19"/>
          <p:cNvSpPr txBox="1"/>
          <p:nvPr/>
        </p:nvSpPr>
        <p:spPr>
          <a:xfrm>
            <a:off x="762097" y="2544485"/>
            <a:ext cx="57000" cy="115500"/>
          </a:xfrm>
          <a:prstGeom prst="rect">
            <a:avLst/>
          </a:prstGeom>
          <a:noFill/>
          <a:ln>
            <a:noFill/>
          </a:ln>
        </p:spPr>
        <p:txBody>
          <a:bodyPr spcFirstLastPara="1" wrap="square" lIns="19050" tIns="19050" rIns="19050" bIns="19050" anchor="ctr" anchorCtr="0">
            <a:spAutoFit/>
          </a:bodyPr>
          <a:lstStyle/>
          <a:p>
            <a:pPr marL="0" marR="0" lvl="0" indent="0" algn="l" rtl="0">
              <a:lnSpc>
                <a:spcPct val="100000"/>
              </a:lnSpc>
              <a:spcBef>
                <a:spcPts val="0"/>
              </a:spcBef>
              <a:spcAft>
                <a:spcPts val="0"/>
              </a:spcAft>
              <a:buClr>
                <a:srgbClr val="000000"/>
              </a:buClr>
              <a:buSzPts val="500"/>
              <a:buFont typeface="Times"/>
              <a:buNone/>
            </a:pPr>
            <a:r>
              <a:rPr lang="es" sz="500" b="0" i="0" u="none" strike="noStrike" cap="none">
                <a:solidFill>
                  <a:srgbClr val="000000"/>
                </a:solidFill>
                <a:latin typeface="Times"/>
                <a:ea typeface="Times"/>
                <a:cs typeface="Times"/>
                <a:sym typeface="Times"/>
              </a:rPr>
              <a:t> </a:t>
            </a:r>
            <a:endParaRPr sz="500"/>
          </a:p>
        </p:txBody>
      </p:sp>
      <p:sp>
        <p:nvSpPr>
          <p:cNvPr id="130" name="Google Shape;130;p19"/>
          <p:cNvSpPr txBox="1"/>
          <p:nvPr/>
        </p:nvSpPr>
        <p:spPr>
          <a:xfrm>
            <a:off x="452438" y="889861"/>
            <a:ext cx="8239200" cy="350700"/>
          </a:xfrm>
          <a:prstGeom prst="rect">
            <a:avLst/>
          </a:prstGeom>
          <a:noFill/>
          <a:ln>
            <a:noFill/>
          </a:ln>
        </p:spPr>
        <p:txBody>
          <a:bodyPr spcFirstLastPara="1" wrap="square" lIns="17150" tIns="17150" rIns="17150" bIns="17150" anchor="t" anchorCtr="0">
            <a:normAutofit lnSpcReduction="10000"/>
          </a:bodyPr>
          <a:lstStyle/>
          <a:p>
            <a:pPr marL="0" marR="0" lvl="0" indent="0" algn="l" rtl="0">
              <a:lnSpc>
                <a:spcPct val="100000"/>
              </a:lnSpc>
              <a:spcBef>
                <a:spcPts val="0"/>
              </a:spcBef>
              <a:spcAft>
                <a:spcPts val="0"/>
              </a:spcAft>
              <a:buClr>
                <a:srgbClr val="929292"/>
              </a:buClr>
              <a:buSzPts val="2100"/>
              <a:buFont typeface="Helvetica Neue"/>
              <a:buNone/>
            </a:pPr>
            <a:r>
              <a:rPr lang="es" sz="2100" b="1" i="0" u="none" strike="noStrike" cap="none">
                <a:solidFill>
                  <a:srgbClr val="929292"/>
                </a:solidFill>
                <a:latin typeface="Helvetica Neue"/>
                <a:ea typeface="Helvetica Neue"/>
                <a:cs typeface="Helvetica Neue"/>
                <a:sym typeface="Helvetica Neue"/>
              </a:rPr>
              <a:t>Publicly Available Data</a:t>
            </a:r>
            <a:endParaRPr sz="5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135" name="Google Shape;135;p20" descr="Group"/>
          <p:cNvPicPr preferRelativeResize="0"/>
          <p:nvPr/>
        </p:nvPicPr>
        <p:blipFill rotWithShape="1">
          <a:blip r:embed="rId3">
            <a:alphaModFix/>
          </a:blip>
          <a:srcRect l="68541" t="17048" b="68327"/>
          <a:stretch/>
        </p:blipFill>
        <p:spPr>
          <a:xfrm>
            <a:off x="7197824" y="62851"/>
            <a:ext cx="1763106" cy="573718"/>
          </a:xfrm>
          <a:prstGeom prst="rect">
            <a:avLst/>
          </a:prstGeom>
          <a:noFill/>
          <a:ln>
            <a:noFill/>
          </a:ln>
        </p:spPr>
      </p:pic>
      <p:sp>
        <p:nvSpPr>
          <p:cNvPr id="136" name="Google Shape;136;p20"/>
          <p:cNvSpPr/>
          <p:nvPr/>
        </p:nvSpPr>
        <p:spPr>
          <a:xfrm>
            <a:off x="7431672" y="235301"/>
            <a:ext cx="63000" cy="476100"/>
          </a:xfrm>
          <a:prstGeom prst="rect">
            <a:avLst/>
          </a:prstGeom>
          <a:solidFill>
            <a:srgbClr val="FFFFFF"/>
          </a:solidFill>
          <a:ln>
            <a:noFill/>
          </a:ln>
        </p:spPr>
        <p:txBody>
          <a:bodyPr spcFirstLastPara="1" wrap="square" lIns="19050" tIns="19050" rIns="19050" bIns="19050" anchor="ctr" anchorCtr="0">
            <a:noAutofit/>
          </a:bodyPr>
          <a:lstStyle/>
          <a:p>
            <a:pPr marL="0" marR="0" lvl="0" indent="0" algn="ctr" rtl="0">
              <a:lnSpc>
                <a:spcPct val="100000"/>
              </a:lnSpc>
              <a:spcBef>
                <a:spcPts val="0"/>
              </a:spcBef>
              <a:spcAft>
                <a:spcPts val="0"/>
              </a:spcAft>
              <a:buClr>
                <a:srgbClr val="FFFFFF"/>
              </a:buClr>
              <a:buSzPts val="1200"/>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137" name="Google Shape;137;p20" descr="Screenshot 2025-08-15 at 07.23.23.png"/>
          <p:cNvPicPr preferRelativeResize="0"/>
          <p:nvPr/>
        </p:nvPicPr>
        <p:blipFill rotWithShape="1">
          <a:blip r:embed="rId4">
            <a:alphaModFix/>
          </a:blip>
          <a:srcRect/>
          <a:stretch/>
        </p:blipFill>
        <p:spPr>
          <a:xfrm>
            <a:off x="4232312" y="1442129"/>
            <a:ext cx="1423692" cy="1233866"/>
          </a:xfrm>
          <a:prstGeom prst="rect">
            <a:avLst/>
          </a:prstGeom>
          <a:noFill/>
          <a:ln>
            <a:noFill/>
          </a:ln>
        </p:spPr>
      </p:pic>
      <p:pic>
        <p:nvPicPr>
          <p:cNvPr id="138" name="Google Shape;138;p20" descr="Screenshot 2025-08-15 at 07.23.38.png"/>
          <p:cNvPicPr preferRelativeResize="0"/>
          <p:nvPr/>
        </p:nvPicPr>
        <p:blipFill rotWithShape="1">
          <a:blip r:embed="rId5">
            <a:alphaModFix/>
          </a:blip>
          <a:srcRect/>
          <a:stretch/>
        </p:blipFill>
        <p:spPr>
          <a:xfrm>
            <a:off x="4271648" y="2845683"/>
            <a:ext cx="1498688" cy="1203407"/>
          </a:xfrm>
          <a:prstGeom prst="rect">
            <a:avLst/>
          </a:prstGeom>
          <a:noFill/>
          <a:ln>
            <a:noFill/>
          </a:ln>
        </p:spPr>
      </p:pic>
      <p:sp>
        <p:nvSpPr>
          <p:cNvPr id="139" name="Google Shape;139;p20"/>
          <p:cNvSpPr txBox="1"/>
          <p:nvPr/>
        </p:nvSpPr>
        <p:spPr>
          <a:xfrm>
            <a:off x="3373665" y="1933100"/>
            <a:ext cx="717000" cy="232500"/>
          </a:xfrm>
          <a:prstGeom prst="rect">
            <a:avLst/>
          </a:prstGeom>
          <a:noFill/>
          <a:ln>
            <a:noFill/>
          </a:ln>
        </p:spPr>
        <p:txBody>
          <a:bodyPr spcFirstLastPara="1" wrap="square" lIns="19050" tIns="19050" rIns="19050" bIns="19050" anchor="ctr" anchorCtr="0">
            <a:spAutoFit/>
          </a:bodyPr>
          <a:lstStyle/>
          <a:p>
            <a:pPr marL="0" marR="0" lvl="0" indent="0" algn="l" rtl="0">
              <a:lnSpc>
                <a:spcPct val="90000"/>
              </a:lnSpc>
              <a:spcBef>
                <a:spcPts val="0"/>
              </a:spcBef>
              <a:spcAft>
                <a:spcPts val="0"/>
              </a:spcAft>
              <a:buClr>
                <a:srgbClr val="929292"/>
              </a:buClr>
              <a:buSzPts val="1400"/>
              <a:buFont typeface="Helvetica Neue"/>
              <a:buNone/>
            </a:pPr>
            <a:r>
              <a:rPr lang="es" sz="1400" b="1" i="0" u="none" strike="noStrike" cap="none">
                <a:solidFill>
                  <a:srgbClr val="929292"/>
                </a:solidFill>
                <a:latin typeface="Helvetica Neue"/>
                <a:ea typeface="Helvetica Neue"/>
                <a:cs typeface="Helvetica Neue"/>
                <a:sym typeface="Helvetica Neue"/>
              </a:rPr>
              <a:t>study 1 </a:t>
            </a:r>
            <a:endParaRPr sz="500"/>
          </a:p>
        </p:txBody>
      </p:sp>
      <p:sp>
        <p:nvSpPr>
          <p:cNvPr id="140" name="Google Shape;140;p20"/>
          <p:cNvSpPr txBox="1"/>
          <p:nvPr/>
        </p:nvSpPr>
        <p:spPr>
          <a:xfrm>
            <a:off x="3373665" y="3321424"/>
            <a:ext cx="723600" cy="232500"/>
          </a:xfrm>
          <a:prstGeom prst="rect">
            <a:avLst/>
          </a:prstGeom>
          <a:noFill/>
          <a:ln>
            <a:noFill/>
          </a:ln>
        </p:spPr>
        <p:txBody>
          <a:bodyPr spcFirstLastPara="1" wrap="square" lIns="19050" tIns="19050" rIns="19050" bIns="19050" anchor="ctr" anchorCtr="0">
            <a:spAutoFit/>
          </a:bodyPr>
          <a:lstStyle/>
          <a:p>
            <a:pPr marL="0" marR="0" lvl="0" indent="0" algn="l" rtl="0">
              <a:lnSpc>
                <a:spcPct val="90000"/>
              </a:lnSpc>
              <a:spcBef>
                <a:spcPts val="0"/>
              </a:spcBef>
              <a:spcAft>
                <a:spcPts val="0"/>
              </a:spcAft>
              <a:buClr>
                <a:srgbClr val="929292"/>
              </a:buClr>
              <a:buSzPts val="1400"/>
              <a:buFont typeface="Helvetica Neue"/>
              <a:buNone/>
            </a:pPr>
            <a:r>
              <a:rPr lang="es" sz="1400" b="1" i="0" u="none" strike="noStrike" cap="none">
                <a:solidFill>
                  <a:srgbClr val="929292"/>
                </a:solidFill>
                <a:latin typeface="Helvetica Neue"/>
                <a:ea typeface="Helvetica Neue"/>
                <a:cs typeface="Helvetica Neue"/>
                <a:sym typeface="Helvetica Neue"/>
              </a:rPr>
              <a:t>study n </a:t>
            </a:r>
            <a:endParaRPr sz="500"/>
          </a:p>
        </p:txBody>
      </p:sp>
      <p:sp>
        <p:nvSpPr>
          <p:cNvPr id="141" name="Google Shape;141;p20"/>
          <p:cNvSpPr/>
          <p:nvPr/>
        </p:nvSpPr>
        <p:spPr>
          <a:xfrm>
            <a:off x="4389017" y="2663818"/>
            <a:ext cx="166200" cy="166200"/>
          </a:xfrm>
          <a:prstGeom prst="ellipse">
            <a:avLst/>
          </a:prstGeom>
          <a:solidFill>
            <a:srgbClr val="5E5E5E"/>
          </a:solidFill>
          <a:ln>
            <a:noFill/>
          </a:ln>
        </p:spPr>
        <p:txBody>
          <a:bodyPr spcFirstLastPara="1" wrap="square" lIns="19050" tIns="19050" rIns="19050" bIns="19050" anchor="ctr" anchorCtr="0">
            <a:noAutofit/>
          </a:bodyPr>
          <a:lstStyle/>
          <a:p>
            <a:pPr marL="0" marR="0" lvl="0" indent="0" algn="ctr" rtl="0">
              <a:lnSpc>
                <a:spcPct val="100000"/>
              </a:lnSpc>
              <a:spcBef>
                <a:spcPts val="0"/>
              </a:spcBef>
              <a:spcAft>
                <a:spcPts val="0"/>
              </a:spcAft>
              <a:buClr>
                <a:srgbClr val="FFFFFF"/>
              </a:buClr>
              <a:buSzPts val="1200"/>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
        <p:nvSpPr>
          <p:cNvPr id="142" name="Google Shape;142;p20"/>
          <p:cNvSpPr/>
          <p:nvPr/>
        </p:nvSpPr>
        <p:spPr>
          <a:xfrm>
            <a:off x="4861019" y="2663818"/>
            <a:ext cx="166200" cy="166200"/>
          </a:xfrm>
          <a:prstGeom prst="ellipse">
            <a:avLst/>
          </a:prstGeom>
          <a:solidFill>
            <a:srgbClr val="5E5E5E"/>
          </a:solidFill>
          <a:ln>
            <a:noFill/>
          </a:ln>
        </p:spPr>
        <p:txBody>
          <a:bodyPr spcFirstLastPara="1" wrap="square" lIns="19050" tIns="19050" rIns="19050" bIns="19050" anchor="ctr" anchorCtr="0">
            <a:noAutofit/>
          </a:bodyPr>
          <a:lstStyle/>
          <a:p>
            <a:pPr marL="0" marR="0" lvl="0" indent="0" algn="ctr" rtl="0">
              <a:lnSpc>
                <a:spcPct val="100000"/>
              </a:lnSpc>
              <a:spcBef>
                <a:spcPts val="0"/>
              </a:spcBef>
              <a:spcAft>
                <a:spcPts val="0"/>
              </a:spcAft>
              <a:buClr>
                <a:srgbClr val="FFFFFF"/>
              </a:buClr>
              <a:buSzPts val="1200"/>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
        <p:nvSpPr>
          <p:cNvPr id="143" name="Google Shape;143;p20"/>
          <p:cNvSpPr/>
          <p:nvPr/>
        </p:nvSpPr>
        <p:spPr>
          <a:xfrm>
            <a:off x="5333021" y="2663818"/>
            <a:ext cx="166200" cy="166200"/>
          </a:xfrm>
          <a:prstGeom prst="ellipse">
            <a:avLst/>
          </a:prstGeom>
          <a:solidFill>
            <a:srgbClr val="5E5E5E"/>
          </a:solidFill>
          <a:ln>
            <a:noFill/>
          </a:ln>
        </p:spPr>
        <p:txBody>
          <a:bodyPr spcFirstLastPara="1" wrap="square" lIns="19050" tIns="19050" rIns="19050" bIns="19050" anchor="ctr" anchorCtr="0">
            <a:noAutofit/>
          </a:bodyPr>
          <a:lstStyle/>
          <a:p>
            <a:pPr marL="0" marR="0" lvl="0" indent="0" algn="ctr" rtl="0">
              <a:lnSpc>
                <a:spcPct val="100000"/>
              </a:lnSpc>
              <a:spcBef>
                <a:spcPts val="0"/>
              </a:spcBef>
              <a:spcAft>
                <a:spcPts val="0"/>
              </a:spcAft>
              <a:buClr>
                <a:srgbClr val="FFFFFF"/>
              </a:buClr>
              <a:buSzPts val="1200"/>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
        <p:nvSpPr>
          <p:cNvPr id="144" name="Google Shape;144;p20"/>
          <p:cNvSpPr txBox="1">
            <a:spLocks noGrp="1"/>
          </p:cNvSpPr>
          <p:nvPr>
            <p:ph type="title"/>
          </p:nvPr>
        </p:nvSpPr>
        <p:spPr>
          <a:xfrm>
            <a:off x="452438" y="404813"/>
            <a:ext cx="8239200" cy="537300"/>
          </a:xfrm>
          <a:prstGeom prst="rect">
            <a:avLst/>
          </a:prstGeom>
          <a:noFill/>
          <a:ln>
            <a:noFill/>
          </a:ln>
        </p:spPr>
        <p:txBody>
          <a:bodyPr spcFirstLastPara="1" wrap="square" lIns="19050" tIns="19050" rIns="19050" bIns="19050" anchor="t" anchorCtr="0">
            <a:normAutofit/>
          </a:bodyPr>
          <a:lstStyle/>
          <a:p>
            <a:pPr marL="0" marR="0" lvl="0" indent="0" algn="l" rtl="0">
              <a:lnSpc>
                <a:spcPct val="80000"/>
              </a:lnSpc>
              <a:spcBef>
                <a:spcPts val="0"/>
              </a:spcBef>
              <a:spcAft>
                <a:spcPts val="0"/>
              </a:spcAft>
              <a:buClr>
                <a:srgbClr val="5E5E5E"/>
              </a:buClr>
              <a:buSzPts val="3200"/>
              <a:buFont typeface="Helvetica Neue"/>
              <a:buNone/>
            </a:pPr>
            <a:r>
              <a:rPr lang="es" sz="2500" b="1">
                <a:solidFill>
                  <a:schemeClr val="dk1"/>
                </a:solidFill>
              </a:rPr>
              <a:t>Horizontal Data Integration</a:t>
            </a:r>
            <a:endParaRPr sz="2500" b="1">
              <a:solidFill>
                <a:schemeClr val="dk1"/>
              </a:solidFill>
            </a:endParaRPr>
          </a:p>
        </p:txBody>
      </p:sp>
      <p:cxnSp>
        <p:nvCxnSpPr>
          <p:cNvPr id="145" name="Google Shape;145;p20"/>
          <p:cNvCxnSpPr/>
          <p:nvPr/>
        </p:nvCxnSpPr>
        <p:spPr>
          <a:xfrm>
            <a:off x="7451670" y="281221"/>
            <a:ext cx="0" cy="784500"/>
          </a:xfrm>
          <a:prstGeom prst="straightConnector1">
            <a:avLst/>
          </a:prstGeom>
          <a:noFill/>
          <a:ln w="19050" cap="flat" cmpd="sng">
            <a:solidFill>
              <a:srgbClr val="EB220C"/>
            </a:solidFill>
            <a:prstDash val="solid"/>
            <a:miter lim="400000"/>
            <a:headEnd type="none" w="sm" len="sm"/>
            <a:tailEnd type="triangle" w="med" len="me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pic>
        <p:nvPicPr>
          <p:cNvPr id="150" name="Google Shape;150;p21" descr="Screenshot 2025-08-15 at 07.23.23.png"/>
          <p:cNvPicPr preferRelativeResize="0"/>
          <p:nvPr/>
        </p:nvPicPr>
        <p:blipFill rotWithShape="1">
          <a:blip r:embed="rId3">
            <a:alphaModFix/>
          </a:blip>
          <a:srcRect/>
          <a:stretch/>
        </p:blipFill>
        <p:spPr>
          <a:xfrm>
            <a:off x="2232045" y="1655157"/>
            <a:ext cx="1423692" cy="1233866"/>
          </a:xfrm>
          <a:prstGeom prst="rect">
            <a:avLst/>
          </a:prstGeom>
          <a:noFill/>
          <a:ln>
            <a:noFill/>
          </a:ln>
        </p:spPr>
      </p:pic>
      <p:pic>
        <p:nvPicPr>
          <p:cNvPr id="151" name="Google Shape;151;p21" descr="Screenshot 2025-08-15 at 07.25.50.png"/>
          <p:cNvPicPr preferRelativeResize="0"/>
          <p:nvPr/>
        </p:nvPicPr>
        <p:blipFill rotWithShape="1">
          <a:blip r:embed="rId4">
            <a:alphaModFix/>
          </a:blip>
          <a:srcRect/>
          <a:stretch/>
        </p:blipFill>
        <p:spPr>
          <a:xfrm>
            <a:off x="3807714" y="1587446"/>
            <a:ext cx="3962887" cy="2884101"/>
          </a:xfrm>
          <a:prstGeom prst="rect">
            <a:avLst/>
          </a:prstGeom>
          <a:noFill/>
          <a:ln>
            <a:noFill/>
          </a:ln>
        </p:spPr>
      </p:pic>
      <p:pic>
        <p:nvPicPr>
          <p:cNvPr id="152" name="Google Shape;152;p21" descr="Group"/>
          <p:cNvPicPr preferRelativeResize="0"/>
          <p:nvPr/>
        </p:nvPicPr>
        <p:blipFill rotWithShape="1">
          <a:blip r:embed="rId5">
            <a:alphaModFix/>
          </a:blip>
          <a:srcRect l="68541" t="50731" b="22722"/>
          <a:stretch/>
        </p:blipFill>
        <p:spPr>
          <a:xfrm>
            <a:off x="7379490" y="74904"/>
            <a:ext cx="1763106" cy="1041478"/>
          </a:xfrm>
          <a:prstGeom prst="rect">
            <a:avLst/>
          </a:prstGeom>
          <a:noFill/>
          <a:ln>
            <a:noFill/>
          </a:ln>
        </p:spPr>
      </p:pic>
      <p:pic>
        <p:nvPicPr>
          <p:cNvPr id="153" name="Google Shape;153;p21" descr="Screenshot 2025-08-15 at 07.23.38.png"/>
          <p:cNvPicPr preferRelativeResize="0"/>
          <p:nvPr/>
        </p:nvPicPr>
        <p:blipFill rotWithShape="1">
          <a:blip r:embed="rId6">
            <a:alphaModFix/>
          </a:blip>
          <a:srcRect/>
          <a:stretch/>
        </p:blipFill>
        <p:spPr>
          <a:xfrm>
            <a:off x="2271381" y="3058711"/>
            <a:ext cx="1498688" cy="1203407"/>
          </a:xfrm>
          <a:prstGeom prst="rect">
            <a:avLst/>
          </a:prstGeom>
          <a:noFill/>
          <a:ln>
            <a:noFill/>
          </a:ln>
        </p:spPr>
      </p:pic>
      <p:sp>
        <p:nvSpPr>
          <p:cNvPr id="154" name="Google Shape;154;p21"/>
          <p:cNvSpPr txBox="1"/>
          <p:nvPr/>
        </p:nvSpPr>
        <p:spPr>
          <a:xfrm>
            <a:off x="1373398" y="2146128"/>
            <a:ext cx="717000" cy="232500"/>
          </a:xfrm>
          <a:prstGeom prst="rect">
            <a:avLst/>
          </a:prstGeom>
          <a:noFill/>
          <a:ln>
            <a:noFill/>
          </a:ln>
        </p:spPr>
        <p:txBody>
          <a:bodyPr spcFirstLastPara="1" wrap="square" lIns="19050" tIns="19050" rIns="19050" bIns="19050" anchor="ctr" anchorCtr="0">
            <a:spAutoFit/>
          </a:bodyPr>
          <a:lstStyle/>
          <a:p>
            <a:pPr marL="0" marR="0" lvl="0" indent="0" algn="l" rtl="0">
              <a:lnSpc>
                <a:spcPct val="90000"/>
              </a:lnSpc>
              <a:spcBef>
                <a:spcPts val="0"/>
              </a:spcBef>
              <a:spcAft>
                <a:spcPts val="0"/>
              </a:spcAft>
              <a:buClr>
                <a:srgbClr val="929292"/>
              </a:buClr>
              <a:buSzPts val="1400"/>
              <a:buFont typeface="Helvetica Neue"/>
              <a:buNone/>
            </a:pPr>
            <a:r>
              <a:rPr lang="es" sz="1400" b="1" i="0" u="none" strike="noStrike" cap="none">
                <a:solidFill>
                  <a:srgbClr val="929292"/>
                </a:solidFill>
                <a:latin typeface="Helvetica Neue"/>
                <a:ea typeface="Helvetica Neue"/>
                <a:cs typeface="Helvetica Neue"/>
                <a:sym typeface="Helvetica Neue"/>
              </a:rPr>
              <a:t>study 1 </a:t>
            </a:r>
            <a:endParaRPr sz="500"/>
          </a:p>
        </p:txBody>
      </p:sp>
      <p:sp>
        <p:nvSpPr>
          <p:cNvPr id="155" name="Google Shape;155;p21"/>
          <p:cNvSpPr txBox="1"/>
          <p:nvPr/>
        </p:nvSpPr>
        <p:spPr>
          <a:xfrm>
            <a:off x="1373398" y="3534452"/>
            <a:ext cx="723600" cy="232500"/>
          </a:xfrm>
          <a:prstGeom prst="rect">
            <a:avLst/>
          </a:prstGeom>
          <a:noFill/>
          <a:ln>
            <a:noFill/>
          </a:ln>
        </p:spPr>
        <p:txBody>
          <a:bodyPr spcFirstLastPara="1" wrap="square" lIns="19050" tIns="19050" rIns="19050" bIns="19050" anchor="ctr" anchorCtr="0">
            <a:spAutoFit/>
          </a:bodyPr>
          <a:lstStyle/>
          <a:p>
            <a:pPr marL="0" marR="0" lvl="0" indent="0" algn="l" rtl="0">
              <a:lnSpc>
                <a:spcPct val="90000"/>
              </a:lnSpc>
              <a:spcBef>
                <a:spcPts val="0"/>
              </a:spcBef>
              <a:spcAft>
                <a:spcPts val="0"/>
              </a:spcAft>
              <a:buClr>
                <a:srgbClr val="929292"/>
              </a:buClr>
              <a:buSzPts val="1400"/>
              <a:buFont typeface="Helvetica Neue"/>
              <a:buNone/>
            </a:pPr>
            <a:r>
              <a:rPr lang="es" sz="1400" b="1" i="0" u="none" strike="noStrike" cap="none">
                <a:solidFill>
                  <a:srgbClr val="929292"/>
                </a:solidFill>
                <a:latin typeface="Helvetica Neue"/>
                <a:ea typeface="Helvetica Neue"/>
                <a:cs typeface="Helvetica Neue"/>
                <a:sym typeface="Helvetica Neue"/>
              </a:rPr>
              <a:t>study n </a:t>
            </a:r>
            <a:endParaRPr sz="500"/>
          </a:p>
        </p:txBody>
      </p:sp>
      <p:sp>
        <p:nvSpPr>
          <p:cNvPr id="156" name="Google Shape;156;p21"/>
          <p:cNvSpPr/>
          <p:nvPr/>
        </p:nvSpPr>
        <p:spPr>
          <a:xfrm>
            <a:off x="2388750" y="2876846"/>
            <a:ext cx="166200" cy="166200"/>
          </a:xfrm>
          <a:prstGeom prst="ellipse">
            <a:avLst/>
          </a:prstGeom>
          <a:solidFill>
            <a:srgbClr val="000000"/>
          </a:solidFill>
          <a:ln>
            <a:noFill/>
          </a:ln>
        </p:spPr>
        <p:txBody>
          <a:bodyPr spcFirstLastPara="1" wrap="square" lIns="19050" tIns="19050" rIns="19050" bIns="19050" anchor="ctr" anchorCtr="0">
            <a:noAutofit/>
          </a:bodyPr>
          <a:lstStyle/>
          <a:p>
            <a:pPr marL="0" marR="0" lvl="0" indent="0" algn="ctr" rtl="0">
              <a:lnSpc>
                <a:spcPct val="100000"/>
              </a:lnSpc>
              <a:spcBef>
                <a:spcPts val="0"/>
              </a:spcBef>
              <a:spcAft>
                <a:spcPts val="0"/>
              </a:spcAft>
              <a:buClr>
                <a:srgbClr val="FFFFFF"/>
              </a:buClr>
              <a:buSzPts val="1200"/>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
        <p:nvSpPr>
          <p:cNvPr id="157" name="Google Shape;157;p21"/>
          <p:cNvSpPr/>
          <p:nvPr/>
        </p:nvSpPr>
        <p:spPr>
          <a:xfrm>
            <a:off x="2860752" y="2876846"/>
            <a:ext cx="166200" cy="166200"/>
          </a:xfrm>
          <a:prstGeom prst="ellipse">
            <a:avLst/>
          </a:prstGeom>
          <a:solidFill>
            <a:srgbClr val="000000"/>
          </a:solidFill>
          <a:ln>
            <a:noFill/>
          </a:ln>
        </p:spPr>
        <p:txBody>
          <a:bodyPr spcFirstLastPara="1" wrap="square" lIns="19050" tIns="19050" rIns="19050" bIns="19050" anchor="ctr" anchorCtr="0">
            <a:noAutofit/>
          </a:bodyPr>
          <a:lstStyle/>
          <a:p>
            <a:pPr marL="0" marR="0" lvl="0" indent="0" algn="ctr" rtl="0">
              <a:lnSpc>
                <a:spcPct val="100000"/>
              </a:lnSpc>
              <a:spcBef>
                <a:spcPts val="0"/>
              </a:spcBef>
              <a:spcAft>
                <a:spcPts val="0"/>
              </a:spcAft>
              <a:buClr>
                <a:srgbClr val="FFFFFF"/>
              </a:buClr>
              <a:buSzPts val="1200"/>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
        <p:nvSpPr>
          <p:cNvPr id="158" name="Google Shape;158;p21"/>
          <p:cNvSpPr/>
          <p:nvPr/>
        </p:nvSpPr>
        <p:spPr>
          <a:xfrm>
            <a:off x="3332754" y="2876846"/>
            <a:ext cx="166200" cy="166200"/>
          </a:xfrm>
          <a:prstGeom prst="ellipse">
            <a:avLst/>
          </a:prstGeom>
          <a:solidFill>
            <a:srgbClr val="000000"/>
          </a:solidFill>
          <a:ln>
            <a:noFill/>
          </a:ln>
        </p:spPr>
        <p:txBody>
          <a:bodyPr spcFirstLastPara="1" wrap="square" lIns="19050" tIns="19050" rIns="19050" bIns="19050" anchor="ctr" anchorCtr="0">
            <a:noAutofit/>
          </a:bodyPr>
          <a:lstStyle/>
          <a:p>
            <a:pPr marL="0" marR="0" lvl="0" indent="0" algn="ctr" rtl="0">
              <a:lnSpc>
                <a:spcPct val="100000"/>
              </a:lnSpc>
              <a:spcBef>
                <a:spcPts val="0"/>
              </a:spcBef>
              <a:spcAft>
                <a:spcPts val="0"/>
              </a:spcAft>
              <a:buClr>
                <a:srgbClr val="FFFFFF"/>
              </a:buClr>
              <a:buSzPts val="1200"/>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
        <p:nvSpPr>
          <p:cNvPr id="159" name="Google Shape;159;p21"/>
          <p:cNvSpPr txBox="1">
            <a:spLocks noGrp="1"/>
          </p:cNvSpPr>
          <p:nvPr>
            <p:ph type="title"/>
          </p:nvPr>
        </p:nvSpPr>
        <p:spPr>
          <a:xfrm>
            <a:off x="452438" y="404813"/>
            <a:ext cx="8239200" cy="537300"/>
          </a:xfrm>
          <a:prstGeom prst="rect">
            <a:avLst/>
          </a:prstGeom>
          <a:noFill/>
          <a:ln>
            <a:noFill/>
          </a:ln>
        </p:spPr>
        <p:txBody>
          <a:bodyPr spcFirstLastPara="1" wrap="square" lIns="19050" tIns="19050" rIns="19050" bIns="19050" anchor="t" anchorCtr="0">
            <a:normAutofit/>
          </a:bodyPr>
          <a:lstStyle/>
          <a:p>
            <a:pPr marL="0" marR="0" lvl="0" indent="0" algn="l" rtl="0">
              <a:lnSpc>
                <a:spcPct val="80000"/>
              </a:lnSpc>
              <a:spcBef>
                <a:spcPts val="0"/>
              </a:spcBef>
              <a:spcAft>
                <a:spcPts val="0"/>
              </a:spcAft>
              <a:buClr>
                <a:srgbClr val="5E5E5E"/>
              </a:buClr>
              <a:buSzPts val="3200"/>
              <a:buFont typeface="Helvetica Neue"/>
              <a:buNone/>
            </a:pPr>
            <a:r>
              <a:rPr lang="es" sz="2500" b="1">
                <a:solidFill>
                  <a:schemeClr val="dk1"/>
                </a:solidFill>
              </a:rPr>
              <a:t>Horizontal Data Integration</a:t>
            </a:r>
            <a:endParaRPr sz="2500" b="1">
              <a:solidFill>
                <a:schemeClr val="dk1"/>
              </a:solidFill>
            </a:endParaRPr>
          </a:p>
        </p:txBody>
      </p:sp>
      <p:sp>
        <p:nvSpPr>
          <p:cNvPr id="2" name="TextBox 1">
            <a:extLst>
              <a:ext uri="{FF2B5EF4-FFF2-40B4-BE49-F238E27FC236}">
                <a16:creationId xmlns:a16="http://schemas.microsoft.com/office/drawing/2014/main" id="{C84C53F3-F059-70D4-C5D0-D35A54C4038E}"/>
              </a:ext>
            </a:extLst>
          </p:cNvPr>
          <p:cNvSpPr txBox="1"/>
          <p:nvPr/>
        </p:nvSpPr>
        <p:spPr>
          <a:xfrm>
            <a:off x="545432" y="1026695"/>
            <a:ext cx="5662863" cy="307777"/>
          </a:xfrm>
          <a:prstGeom prst="rect">
            <a:avLst/>
          </a:prstGeom>
          <a:noFill/>
        </p:spPr>
        <p:txBody>
          <a:bodyPr wrap="square" rtlCol="0">
            <a:spAutoFit/>
          </a:bodyPr>
          <a:lstStyle/>
          <a:p>
            <a:r>
              <a:rPr lang="en-DK" dirty="0"/>
              <a:t>Be careful with batch effects that can affect the studies integration!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2"/>
          <p:cNvSpPr txBox="1">
            <a:spLocks noGrp="1"/>
          </p:cNvSpPr>
          <p:nvPr>
            <p:ph type="title"/>
          </p:nvPr>
        </p:nvSpPr>
        <p:spPr>
          <a:xfrm>
            <a:off x="452438" y="404813"/>
            <a:ext cx="8239200" cy="537300"/>
          </a:xfrm>
          <a:prstGeom prst="rect">
            <a:avLst/>
          </a:prstGeom>
        </p:spPr>
        <p:txBody>
          <a:bodyPr spcFirstLastPara="1" wrap="square" lIns="19050" tIns="19050" rIns="19050" bIns="19050" anchor="t" anchorCtr="0">
            <a:normAutofit/>
          </a:bodyPr>
          <a:lstStyle/>
          <a:p>
            <a:pPr marL="0" lvl="0" indent="0" algn="l" rtl="0">
              <a:spcBef>
                <a:spcPts val="0"/>
              </a:spcBef>
              <a:spcAft>
                <a:spcPts val="0"/>
              </a:spcAft>
              <a:buNone/>
            </a:pPr>
            <a:r>
              <a:rPr lang="es" b="1"/>
              <a:t>Study Effect</a:t>
            </a:r>
            <a:endParaRPr b="1"/>
          </a:p>
        </p:txBody>
      </p:sp>
      <p:pic>
        <p:nvPicPr>
          <p:cNvPr id="165" name="Google Shape;165;p22" descr="pasted-movie.png"/>
          <p:cNvPicPr preferRelativeResize="0"/>
          <p:nvPr/>
        </p:nvPicPr>
        <p:blipFill rotWithShape="1">
          <a:blip r:embed="rId3">
            <a:alphaModFix/>
          </a:blip>
          <a:srcRect r="76519" b="49736"/>
          <a:stretch/>
        </p:blipFill>
        <p:spPr>
          <a:xfrm>
            <a:off x="2728925" y="1276550"/>
            <a:ext cx="3686138" cy="378687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23" descr="image (6).png"/>
          <p:cNvPicPr preferRelativeResize="0"/>
          <p:nvPr/>
        </p:nvPicPr>
        <p:blipFill rotWithShape="1">
          <a:blip r:embed="rId3">
            <a:alphaModFix/>
          </a:blip>
          <a:srcRect/>
          <a:stretch/>
        </p:blipFill>
        <p:spPr>
          <a:xfrm>
            <a:off x="416811" y="850477"/>
            <a:ext cx="8310380" cy="4294683"/>
          </a:xfrm>
          <a:prstGeom prst="rect">
            <a:avLst/>
          </a:prstGeom>
          <a:noFill/>
          <a:ln>
            <a:noFill/>
          </a:ln>
        </p:spPr>
      </p:pic>
      <p:sp>
        <p:nvSpPr>
          <p:cNvPr id="171" name="Google Shape;171;p23"/>
          <p:cNvSpPr/>
          <p:nvPr/>
        </p:nvSpPr>
        <p:spPr>
          <a:xfrm>
            <a:off x="5516025" y="3726700"/>
            <a:ext cx="3627900" cy="1416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2" name="Google Shape;172;p23"/>
          <p:cNvSpPr txBox="1">
            <a:spLocks noGrp="1"/>
          </p:cNvSpPr>
          <p:nvPr>
            <p:ph type="title"/>
          </p:nvPr>
        </p:nvSpPr>
        <p:spPr>
          <a:xfrm>
            <a:off x="487991" y="242099"/>
            <a:ext cx="8239200" cy="537300"/>
          </a:xfrm>
          <a:prstGeom prst="rect">
            <a:avLst/>
          </a:prstGeom>
          <a:noFill/>
          <a:ln>
            <a:noFill/>
          </a:ln>
        </p:spPr>
        <p:txBody>
          <a:bodyPr spcFirstLastPara="1" wrap="square" lIns="19050" tIns="19050" rIns="19050" bIns="19050" anchor="t" anchorCtr="0">
            <a:normAutofit/>
          </a:bodyPr>
          <a:lstStyle/>
          <a:p>
            <a:pPr marL="0" marR="0" lvl="0" indent="0" algn="l" rtl="0">
              <a:lnSpc>
                <a:spcPct val="80000"/>
              </a:lnSpc>
              <a:spcBef>
                <a:spcPts val="0"/>
              </a:spcBef>
              <a:spcAft>
                <a:spcPts val="0"/>
              </a:spcAft>
              <a:buClr>
                <a:srgbClr val="5E5E5E"/>
              </a:buClr>
              <a:buSzPts val="2800"/>
              <a:buFont typeface="Helvetica Neue"/>
              <a:buNone/>
            </a:pPr>
            <a:r>
              <a:rPr lang="es" sz="2500" b="1" dirty="0">
                <a:solidFill>
                  <a:schemeClr val="dk1"/>
                </a:solidFill>
              </a:rPr>
              <a:t>ABaCo: Autoencoder-based Batch Correction</a:t>
            </a:r>
            <a:endParaRPr sz="2500" b="1" dirty="0">
              <a:solidFill>
                <a:schemeClr val="dk1"/>
              </a:solidFill>
            </a:endParaRPr>
          </a:p>
        </p:txBody>
      </p:sp>
      <p:sp>
        <p:nvSpPr>
          <p:cNvPr id="173" name="Google Shape;173;p23"/>
          <p:cNvSpPr txBox="1"/>
          <p:nvPr/>
        </p:nvSpPr>
        <p:spPr>
          <a:xfrm>
            <a:off x="1333500" y="1366838"/>
            <a:ext cx="57000" cy="115500"/>
          </a:xfrm>
          <a:prstGeom prst="rect">
            <a:avLst/>
          </a:prstGeom>
          <a:noFill/>
          <a:ln>
            <a:noFill/>
          </a:ln>
        </p:spPr>
        <p:txBody>
          <a:bodyPr spcFirstLastPara="1" wrap="square" lIns="19050" tIns="19050" rIns="19050" bIns="19050" anchor="ctr" anchorCtr="0">
            <a:spAutoFit/>
          </a:bodyPr>
          <a:lstStyle/>
          <a:p>
            <a:pPr marL="0" marR="0" lvl="0" indent="0" algn="l" rtl="0">
              <a:lnSpc>
                <a:spcPct val="100000"/>
              </a:lnSpc>
              <a:spcBef>
                <a:spcPts val="0"/>
              </a:spcBef>
              <a:spcAft>
                <a:spcPts val="0"/>
              </a:spcAft>
              <a:buClr>
                <a:srgbClr val="000000"/>
              </a:buClr>
              <a:buSzPts val="500"/>
              <a:buFont typeface="Times"/>
              <a:buNone/>
            </a:pPr>
            <a:r>
              <a:rPr lang="es" sz="500" b="0" i="0" u="none" strike="noStrike" cap="none">
                <a:solidFill>
                  <a:srgbClr val="000000"/>
                </a:solidFill>
                <a:latin typeface="Times"/>
                <a:ea typeface="Times"/>
                <a:cs typeface="Times"/>
                <a:sym typeface="Times"/>
              </a:rPr>
              <a:t> </a:t>
            </a:r>
            <a:endParaRPr sz="500"/>
          </a:p>
        </p:txBody>
      </p:sp>
      <p:pic>
        <p:nvPicPr>
          <p:cNvPr id="174" name="Google Shape;174;p23"/>
          <p:cNvPicPr preferRelativeResize="0"/>
          <p:nvPr/>
        </p:nvPicPr>
        <p:blipFill>
          <a:blip r:embed="rId4">
            <a:alphaModFix/>
          </a:blip>
          <a:stretch>
            <a:fillRect/>
          </a:stretch>
        </p:blipFill>
        <p:spPr>
          <a:xfrm>
            <a:off x="6052875" y="3814726"/>
            <a:ext cx="2787976" cy="1086675"/>
          </a:xfrm>
          <a:prstGeom prst="rect">
            <a:avLst/>
          </a:prstGeom>
          <a:noFill/>
          <a:ln>
            <a:noFill/>
          </a:ln>
        </p:spPr>
      </p:pic>
      <p:sp>
        <p:nvSpPr>
          <p:cNvPr id="2" name="TextBox 1">
            <a:extLst>
              <a:ext uri="{FF2B5EF4-FFF2-40B4-BE49-F238E27FC236}">
                <a16:creationId xmlns:a16="http://schemas.microsoft.com/office/drawing/2014/main" id="{E4394962-3D20-075B-A2BB-22C89C82AAB1}"/>
              </a:ext>
            </a:extLst>
          </p:cNvPr>
          <p:cNvSpPr txBox="1"/>
          <p:nvPr/>
        </p:nvSpPr>
        <p:spPr>
          <a:xfrm>
            <a:off x="553169" y="592721"/>
            <a:ext cx="6401111" cy="307777"/>
          </a:xfrm>
          <a:prstGeom prst="rect">
            <a:avLst/>
          </a:prstGeom>
          <a:noFill/>
        </p:spPr>
        <p:txBody>
          <a:bodyPr wrap="none" rtlCol="0">
            <a:spAutoFit/>
          </a:bodyPr>
          <a:lstStyle/>
          <a:p>
            <a:r>
              <a:rPr lang="en-DK" dirty="0"/>
              <a:t>Consider using a batch correction tool, for example this recently published tool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29"/>
          <p:cNvSpPr txBox="1">
            <a:spLocks noGrp="1"/>
          </p:cNvSpPr>
          <p:nvPr>
            <p:ph type="title"/>
          </p:nvPr>
        </p:nvSpPr>
        <p:spPr>
          <a:xfrm>
            <a:off x="2980200" y="2285400"/>
            <a:ext cx="3183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t>Vertical Integration</a:t>
            </a:r>
            <a:endParaRPr b="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t>Method: Similarity Network Fusion (SNF)</a:t>
            </a:r>
            <a:endParaRPr b="1"/>
          </a:p>
        </p:txBody>
      </p:sp>
      <p:sp>
        <p:nvSpPr>
          <p:cNvPr id="263" name="Google Shape;263;p30"/>
          <p:cNvSpPr txBox="1">
            <a:spLocks noGrp="1"/>
          </p:cNvSpPr>
          <p:nvPr>
            <p:ph type="body" idx="1"/>
          </p:nvPr>
        </p:nvSpPr>
        <p:spPr>
          <a:xfrm>
            <a:off x="311700" y="1152475"/>
            <a:ext cx="7821900" cy="19620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s"/>
              <a:t>A </a:t>
            </a:r>
            <a:r>
              <a:rPr lang="es" b="1"/>
              <a:t>network-based method</a:t>
            </a:r>
            <a:r>
              <a:rPr lang="es"/>
              <a:t> to find sample subtypes</a:t>
            </a:r>
            <a:endParaRPr/>
          </a:p>
          <a:p>
            <a:pPr marL="0" lvl="0" indent="0" algn="l" rtl="0">
              <a:spcBef>
                <a:spcPts val="1200"/>
              </a:spcBef>
              <a:spcAft>
                <a:spcPts val="0"/>
              </a:spcAft>
              <a:buNone/>
            </a:pPr>
            <a:r>
              <a:rPr lang="es" b="1"/>
              <a:t>Step 1</a:t>
            </a:r>
            <a:r>
              <a:rPr lang="es"/>
              <a:t> Builds a </a:t>
            </a:r>
            <a:r>
              <a:rPr lang="es" b="1"/>
              <a:t>patient similarity network</a:t>
            </a:r>
            <a:r>
              <a:rPr lang="es"/>
              <a:t> for each omic data type (e.g., a gene expression network, a methylation network).</a:t>
            </a:r>
            <a:endParaRPr/>
          </a:p>
          <a:p>
            <a:pPr marL="0" lvl="0" indent="0" algn="l" rtl="0">
              <a:spcBef>
                <a:spcPts val="1200"/>
              </a:spcBef>
              <a:spcAft>
                <a:spcPts val="0"/>
              </a:spcAft>
              <a:buNone/>
            </a:pPr>
            <a:r>
              <a:rPr lang="es" b="1"/>
              <a:t>Step 2</a:t>
            </a:r>
            <a:r>
              <a:rPr lang="es"/>
              <a:t> Iteratively </a:t>
            </a:r>
            <a:r>
              <a:rPr lang="es" b="1"/>
              <a:t>fuses</a:t>
            </a:r>
            <a:r>
              <a:rPr lang="es"/>
              <a:t> these networks into a </a:t>
            </a:r>
            <a:r>
              <a:rPr lang="es" b="1"/>
              <a:t>single, comprehensive patient network</a:t>
            </a:r>
            <a:r>
              <a:rPr lang="es"/>
              <a:t>.</a:t>
            </a:r>
            <a:endParaRPr/>
          </a:p>
          <a:p>
            <a:pPr marL="0" lvl="0" indent="0" algn="l" rtl="0">
              <a:spcBef>
                <a:spcPts val="1200"/>
              </a:spcBef>
              <a:spcAft>
                <a:spcPts val="1200"/>
              </a:spcAft>
              <a:buNone/>
            </a:pPr>
            <a:endParaRPr/>
          </a:p>
        </p:txBody>
      </p:sp>
      <p:sp>
        <p:nvSpPr>
          <p:cNvPr id="264" name="Google Shape;264;p30"/>
          <p:cNvSpPr txBox="1"/>
          <p:nvPr/>
        </p:nvSpPr>
        <p:spPr>
          <a:xfrm>
            <a:off x="2393963" y="4632175"/>
            <a:ext cx="4186901" cy="40007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u="sng" dirty="0">
                <a:solidFill>
                  <a:schemeClr val="hlink"/>
                </a:solidFill>
                <a:hlinkClick r:id="rId3"/>
              </a:rPr>
              <a:t>https://www.nature.com/articles/nmeth.2810</a:t>
            </a:r>
            <a:endParaRPr dirty="0"/>
          </a:p>
        </p:txBody>
      </p:sp>
      <p:pic>
        <p:nvPicPr>
          <p:cNvPr id="265" name="Google Shape;265;p30"/>
          <p:cNvPicPr preferRelativeResize="0"/>
          <p:nvPr/>
        </p:nvPicPr>
        <p:blipFill>
          <a:blip r:embed="rId4">
            <a:alphaModFix/>
          </a:blip>
          <a:stretch>
            <a:fillRect/>
          </a:stretch>
        </p:blipFill>
        <p:spPr>
          <a:xfrm>
            <a:off x="1607762" y="2756650"/>
            <a:ext cx="5229775" cy="17712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s"/>
              <a:t>The f</a:t>
            </a:r>
            <a:r>
              <a:rPr lang="es" b="1"/>
              <a:t>usion process</a:t>
            </a:r>
            <a:r>
              <a:rPr lang="es"/>
              <a:t> finds </a:t>
            </a:r>
            <a:r>
              <a:rPr lang="es" b="1"/>
              <a:t>strong similarities</a:t>
            </a:r>
            <a:r>
              <a:rPr lang="es"/>
              <a:t> found </a:t>
            </a:r>
            <a:r>
              <a:rPr lang="es" b="1"/>
              <a:t>in multiple omics layers</a:t>
            </a:r>
            <a:r>
              <a:rPr lang="es"/>
              <a:t> and filters out weak, "noisy" connections.</a:t>
            </a:r>
            <a:endParaRPr/>
          </a:p>
          <a:p>
            <a:pPr marL="0" lvl="0" indent="0" algn="l" rtl="0">
              <a:spcBef>
                <a:spcPts val="1200"/>
              </a:spcBef>
              <a:spcAft>
                <a:spcPts val="0"/>
              </a:spcAft>
              <a:buNone/>
            </a:pPr>
            <a:r>
              <a:rPr lang="es"/>
              <a:t>The final </a:t>
            </a:r>
            <a:r>
              <a:rPr lang="es" b="1"/>
              <a:t>fused network</a:t>
            </a:r>
            <a:r>
              <a:rPr lang="es"/>
              <a:t> represents a </a:t>
            </a:r>
            <a:r>
              <a:rPr lang="es" b="1"/>
              <a:t>robust measure of patient similarity</a:t>
            </a:r>
            <a:r>
              <a:rPr lang="es"/>
              <a:t> which is then used for </a:t>
            </a:r>
            <a:r>
              <a:rPr lang="es" b="1"/>
              <a:t>clustering</a:t>
            </a:r>
            <a:r>
              <a:rPr lang="es"/>
              <a:t>.</a:t>
            </a:r>
            <a:endParaRPr/>
          </a:p>
          <a:p>
            <a:pPr marL="0" lvl="0" indent="0" algn="l" rtl="0">
              <a:spcBef>
                <a:spcPts val="1200"/>
              </a:spcBef>
              <a:spcAft>
                <a:spcPts val="0"/>
              </a:spcAft>
              <a:buNone/>
            </a:pPr>
            <a:r>
              <a:rPr lang="es" b="1"/>
              <a:t>Pro</a:t>
            </a:r>
            <a:r>
              <a:rPr lang="es"/>
              <a:t> Tolerates noise and data heterogeneity well.</a:t>
            </a:r>
            <a:endParaRPr/>
          </a:p>
          <a:p>
            <a:pPr marL="0" lvl="0" indent="0" algn="l" rtl="0">
              <a:spcBef>
                <a:spcPts val="1200"/>
              </a:spcBef>
              <a:spcAft>
                <a:spcPts val="1200"/>
              </a:spcAft>
              <a:buNone/>
            </a:pPr>
            <a:r>
              <a:rPr lang="es" b="1"/>
              <a:t>Con</a:t>
            </a:r>
            <a:r>
              <a:rPr lang="es"/>
              <a:t> Does not identify the specific features (genes) driving the clusters.</a:t>
            </a:r>
            <a:endParaRPr/>
          </a:p>
        </p:txBody>
      </p:sp>
      <p:sp>
        <p:nvSpPr>
          <p:cNvPr id="271" name="Google Shape;271;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t>Method: Similarity Network Fusion (SNF)</a:t>
            </a:r>
            <a:endParaRPr b="1"/>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3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t>Method: Multi-Omics Factor Analysis (MOFA)</a:t>
            </a:r>
            <a:endParaRPr b="1"/>
          </a:p>
        </p:txBody>
      </p:sp>
      <p:sp>
        <p:nvSpPr>
          <p:cNvPr id="277" name="Google Shape;277;p32"/>
          <p:cNvSpPr txBox="1"/>
          <p:nvPr/>
        </p:nvSpPr>
        <p:spPr>
          <a:xfrm>
            <a:off x="1876926" y="4522350"/>
            <a:ext cx="5662863" cy="40007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u="sng">
                <a:solidFill>
                  <a:schemeClr val="hlink"/>
                </a:solidFill>
                <a:hlinkClick r:id="rId3"/>
              </a:rPr>
              <a:t>https://www.embopress.org/doi/full/10.15252/msb.20178124</a:t>
            </a:r>
            <a:endParaRPr/>
          </a:p>
        </p:txBody>
      </p:sp>
      <p:pic>
        <p:nvPicPr>
          <p:cNvPr id="278" name="Google Shape;278;p32"/>
          <p:cNvPicPr preferRelativeResize="0"/>
          <p:nvPr/>
        </p:nvPicPr>
        <p:blipFill>
          <a:blip r:embed="rId4">
            <a:alphaModFix/>
          </a:blip>
          <a:stretch>
            <a:fillRect/>
          </a:stretch>
        </p:blipFill>
        <p:spPr>
          <a:xfrm>
            <a:off x="4372847" y="1017725"/>
            <a:ext cx="4771152" cy="3504625"/>
          </a:xfrm>
          <a:prstGeom prst="rect">
            <a:avLst/>
          </a:prstGeom>
          <a:noFill/>
          <a:ln>
            <a:noFill/>
          </a:ln>
        </p:spPr>
      </p:pic>
      <p:sp>
        <p:nvSpPr>
          <p:cNvPr id="279" name="Google Shape;279;p32"/>
          <p:cNvSpPr txBox="1">
            <a:spLocks noGrp="1"/>
          </p:cNvSpPr>
          <p:nvPr>
            <p:ph type="body" idx="1"/>
          </p:nvPr>
        </p:nvSpPr>
        <p:spPr>
          <a:xfrm>
            <a:off x="311700" y="1152475"/>
            <a:ext cx="4217700" cy="3416400"/>
          </a:xfrm>
          <a:prstGeom prst="rect">
            <a:avLst/>
          </a:prstGeom>
        </p:spPr>
        <p:txBody>
          <a:bodyPr spcFirstLastPara="1" wrap="square" lIns="91425" tIns="91425" rIns="91425" bIns="91425" anchor="t" anchorCtr="0">
            <a:normAutofit fontScale="70000" lnSpcReduction="20000"/>
          </a:bodyPr>
          <a:lstStyle/>
          <a:p>
            <a:pPr marL="0" lvl="0" indent="0" algn="l" rtl="0">
              <a:lnSpc>
                <a:spcPct val="150000"/>
              </a:lnSpc>
              <a:spcBef>
                <a:spcPts val="1400"/>
              </a:spcBef>
              <a:spcAft>
                <a:spcPts val="0"/>
              </a:spcAft>
              <a:buClr>
                <a:schemeClr val="dk1"/>
              </a:buClr>
              <a:buSzPct val="81481"/>
              <a:buFont typeface="Arial"/>
              <a:buNone/>
            </a:pPr>
            <a:r>
              <a:rPr lang="es" sz="1350">
                <a:solidFill>
                  <a:srgbClr val="1E293B"/>
                </a:solidFill>
              </a:rPr>
              <a:t>An </a:t>
            </a:r>
            <a:r>
              <a:rPr lang="es" sz="1350" b="1">
                <a:solidFill>
                  <a:srgbClr val="1E293B"/>
                </a:solidFill>
              </a:rPr>
              <a:t>unsupervised integration method</a:t>
            </a:r>
            <a:r>
              <a:rPr lang="es" sz="1350">
                <a:solidFill>
                  <a:srgbClr val="1E293B"/>
                </a:solidFill>
              </a:rPr>
              <a:t>, often described as a </a:t>
            </a:r>
            <a:r>
              <a:rPr lang="es" sz="1350" b="1">
                <a:solidFill>
                  <a:srgbClr val="1E293B"/>
                </a:solidFill>
              </a:rPr>
              <a:t>generalization of PCA for multi-omics</a:t>
            </a:r>
            <a:r>
              <a:rPr lang="es" sz="1350">
                <a:solidFill>
                  <a:srgbClr val="1E293B"/>
                </a:solidFill>
              </a:rPr>
              <a:t>. The primary difference is the integration of </a:t>
            </a:r>
            <a:r>
              <a:rPr lang="es" sz="1350" b="1">
                <a:solidFill>
                  <a:srgbClr val="1E293B"/>
                </a:solidFill>
              </a:rPr>
              <a:t>probabilistic structure and sparsity priors</a:t>
            </a:r>
            <a:r>
              <a:rPr lang="es" sz="1350">
                <a:solidFill>
                  <a:srgbClr val="1E293B"/>
                </a:solidFill>
              </a:rPr>
              <a:t>.</a:t>
            </a:r>
            <a:endParaRPr sz="1350">
              <a:solidFill>
                <a:srgbClr val="1E293B"/>
              </a:solidFill>
            </a:endParaRPr>
          </a:p>
          <a:p>
            <a:pPr marL="0" lvl="0" indent="0" algn="l" rtl="0">
              <a:lnSpc>
                <a:spcPct val="150000"/>
              </a:lnSpc>
              <a:spcBef>
                <a:spcPts val="1400"/>
              </a:spcBef>
              <a:spcAft>
                <a:spcPts val="0"/>
              </a:spcAft>
              <a:buNone/>
            </a:pPr>
            <a:r>
              <a:rPr lang="es" sz="1350">
                <a:solidFill>
                  <a:srgbClr val="1E293B"/>
                </a:solidFill>
              </a:rPr>
              <a:t>It </a:t>
            </a:r>
            <a:r>
              <a:rPr lang="es" sz="1350" b="1">
                <a:solidFill>
                  <a:srgbClr val="1E293B"/>
                </a:solidFill>
              </a:rPr>
              <a:t>decomposes all omics data</a:t>
            </a:r>
            <a:r>
              <a:rPr lang="es" sz="1350">
                <a:solidFill>
                  <a:srgbClr val="1E293B"/>
                </a:solidFill>
              </a:rPr>
              <a:t> into a set of </a:t>
            </a:r>
            <a:r>
              <a:rPr lang="es" sz="1350" b="1">
                <a:solidFill>
                  <a:srgbClr val="1E293B"/>
                </a:solidFill>
              </a:rPr>
              <a:t>hidden factors</a:t>
            </a:r>
            <a:r>
              <a:rPr lang="es" sz="1350">
                <a:solidFill>
                  <a:srgbClr val="1E293B"/>
                </a:solidFill>
              </a:rPr>
              <a:t> (a latent space).</a:t>
            </a:r>
            <a:endParaRPr sz="1350">
              <a:solidFill>
                <a:srgbClr val="1E293B"/>
              </a:solidFill>
            </a:endParaRPr>
          </a:p>
          <a:p>
            <a:pPr marL="0" lvl="0" indent="0" algn="l" rtl="0">
              <a:lnSpc>
                <a:spcPct val="150000"/>
              </a:lnSpc>
              <a:spcBef>
                <a:spcPts val="1400"/>
              </a:spcBef>
              <a:spcAft>
                <a:spcPts val="0"/>
              </a:spcAft>
              <a:buNone/>
            </a:pPr>
            <a:r>
              <a:rPr lang="es" sz="1350">
                <a:solidFill>
                  <a:srgbClr val="1E293B"/>
                </a:solidFill>
              </a:rPr>
              <a:t>It shows which factors are </a:t>
            </a:r>
            <a:r>
              <a:rPr lang="es" sz="1350" b="1">
                <a:solidFill>
                  <a:srgbClr val="1E293B"/>
                </a:solidFill>
              </a:rPr>
              <a:t>shared</a:t>
            </a:r>
            <a:r>
              <a:rPr lang="es" sz="1350">
                <a:solidFill>
                  <a:srgbClr val="1E293B"/>
                </a:solidFill>
              </a:rPr>
              <a:t> (capture variance across all omics) and which are </a:t>
            </a:r>
            <a:r>
              <a:rPr lang="es" sz="1350" b="1">
                <a:solidFill>
                  <a:srgbClr val="1E293B"/>
                </a:solidFill>
              </a:rPr>
              <a:t>specific</a:t>
            </a:r>
            <a:r>
              <a:rPr lang="es" sz="1350">
                <a:solidFill>
                  <a:srgbClr val="1E293B"/>
                </a:solidFill>
              </a:rPr>
              <a:t> (capture variance in only one omic).</a:t>
            </a:r>
            <a:endParaRPr sz="1350">
              <a:solidFill>
                <a:srgbClr val="1E293B"/>
              </a:solidFill>
            </a:endParaRPr>
          </a:p>
          <a:p>
            <a:pPr marL="0" lvl="0" indent="0" algn="l" rtl="0">
              <a:lnSpc>
                <a:spcPct val="150000"/>
              </a:lnSpc>
              <a:spcBef>
                <a:spcPts val="1400"/>
              </a:spcBef>
              <a:spcAft>
                <a:spcPts val="0"/>
              </a:spcAft>
              <a:buNone/>
            </a:pPr>
            <a:r>
              <a:rPr lang="es" sz="1350">
                <a:solidFill>
                  <a:srgbClr val="1E293B"/>
                </a:solidFill>
              </a:rPr>
              <a:t>These factors can then be </a:t>
            </a:r>
            <a:r>
              <a:rPr lang="es" sz="1350" b="1">
                <a:solidFill>
                  <a:srgbClr val="1E293B"/>
                </a:solidFill>
              </a:rPr>
              <a:t>visualized</a:t>
            </a:r>
            <a:r>
              <a:rPr lang="es" sz="1350">
                <a:solidFill>
                  <a:srgbClr val="1E293B"/>
                </a:solidFill>
              </a:rPr>
              <a:t>, </a:t>
            </a:r>
            <a:r>
              <a:rPr lang="es" sz="1350" b="1">
                <a:solidFill>
                  <a:srgbClr val="1E293B"/>
                </a:solidFill>
              </a:rPr>
              <a:t>correlated</a:t>
            </a:r>
            <a:r>
              <a:rPr lang="es" sz="1350">
                <a:solidFill>
                  <a:srgbClr val="1E293B"/>
                </a:solidFill>
              </a:rPr>
              <a:t> with </a:t>
            </a:r>
            <a:r>
              <a:rPr lang="es" sz="1350" b="1">
                <a:solidFill>
                  <a:srgbClr val="1E293B"/>
                </a:solidFill>
              </a:rPr>
              <a:t>clinical data</a:t>
            </a:r>
            <a:r>
              <a:rPr lang="es" sz="1350">
                <a:solidFill>
                  <a:srgbClr val="1E293B"/>
                </a:solidFill>
              </a:rPr>
              <a:t>, or used for clustering and imputation.</a:t>
            </a:r>
            <a:endParaRPr sz="1350">
              <a:solidFill>
                <a:srgbClr val="1E293B"/>
              </a:solidFill>
            </a:endParaRPr>
          </a:p>
          <a:p>
            <a:pPr marL="0" lvl="0" indent="0" algn="l" rtl="0">
              <a:lnSpc>
                <a:spcPct val="150000"/>
              </a:lnSpc>
              <a:spcBef>
                <a:spcPts val="1400"/>
              </a:spcBef>
              <a:spcAft>
                <a:spcPts val="1400"/>
              </a:spcAft>
              <a:buNone/>
            </a:pPr>
            <a:r>
              <a:rPr lang="es" sz="1350">
                <a:solidFill>
                  <a:srgbClr val="1E293B"/>
                </a:solidFill>
              </a:rPr>
              <a:t>MOFA achieves a structured </a:t>
            </a:r>
            <a:r>
              <a:rPr lang="es" sz="1350" b="1">
                <a:solidFill>
                  <a:srgbClr val="1E293B"/>
                </a:solidFill>
              </a:rPr>
              <a:t>dimensionality reduction</a:t>
            </a:r>
            <a:r>
              <a:rPr lang="es" sz="1350">
                <a:solidFill>
                  <a:srgbClr val="1E293B"/>
                </a:solidFill>
              </a:rPr>
              <a:t> that is both </a:t>
            </a:r>
            <a:r>
              <a:rPr lang="es" sz="1350" b="1">
                <a:solidFill>
                  <a:srgbClr val="1E293B"/>
                </a:solidFill>
              </a:rPr>
              <a:t>statistically rigorous</a:t>
            </a:r>
            <a:r>
              <a:rPr lang="es" sz="1350">
                <a:solidFill>
                  <a:srgbClr val="1E293B"/>
                </a:solidFill>
              </a:rPr>
              <a:t> and </a:t>
            </a:r>
            <a:r>
              <a:rPr lang="es" sz="1350" b="1">
                <a:solidFill>
                  <a:srgbClr val="1E293B"/>
                </a:solidFill>
              </a:rPr>
              <a:t>interpretable</a:t>
            </a:r>
            <a:r>
              <a:rPr lang="es" sz="1350">
                <a:solidFill>
                  <a:srgbClr val="1E293B"/>
                </a:solidFill>
              </a:rPr>
              <a:t>.</a:t>
            </a:r>
            <a:endParaRPr sz="1350">
              <a:solidFill>
                <a:srgbClr val="1E293B"/>
              </a:solidFill>
            </a:endParaRPr>
          </a:p>
        </p:txBody>
      </p:sp>
      <p:pic>
        <p:nvPicPr>
          <p:cNvPr id="280" name="Google Shape;280;p32" title="Screenshot 2025-11-14 at 06.44.55.png"/>
          <p:cNvPicPr preferRelativeResize="0"/>
          <p:nvPr/>
        </p:nvPicPr>
        <p:blipFill>
          <a:blip r:embed="rId5">
            <a:alphaModFix/>
          </a:blip>
          <a:stretch>
            <a:fillRect/>
          </a:stretch>
        </p:blipFill>
        <p:spPr>
          <a:xfrm>
            <a:off x="7830925" y="828000"/>
            <a:ext cx="1152900" cy="3244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3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s" sz="2420" b="1"/>
              <a:t>Method: Weighted Gene Coexpression Network Analysis</a:t>
            </a:r>
            <a:endParaRPr sz="2420" b="1"/>
          </a:p>
        </p:txBody>
      </p:sp>
      <p:sp>
        <p:nvSpPr>
          <p:cNvPr id="286" name="Google Shape;286;p33"/>
          <p:cNvSpPr txBox="1">
            <a:spLocks noGrp="1"/>
          </p:cNvSpPr>
          <p:nvPr>
            <p:ph type="body" idx="1"/>
          </p:nvPr>
        </p:nvSpPr>
        <p:spPr>
          <a:xfrm>
            <a:off x="311700" y="1152475"/>
            <a:ext cx="57762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s"/>
              <a:t>WGCNA’s primary goal is to find </a:t>
            </a:r>
            <a:r>
              <a:rPr lang="es" b="1"/>
              <a:t>modules</a:t>
            </a:r>
            <a:r>
              <a:rPr lang="es"/>
              <a:t> of </a:t>
            </a:r>
            <a:r>
              <a:rPr lang="es" b="1"/>
              <a:t>highly correlated features</a:t>
            </a:r>
            <a:r>
              <a:rPr lang="es"/>
              <a:t> (e.g., co-expressed genes).</a:t>
            </a:r>
            <a:endParaRPr/>
          </a:p>
          <a:p>
            <a:pPr marL="0" lvl="0" indent="0" algn="l" rtl="0">
              <a:lnSpc>
                <a:spcPct val="150000"/>
              </a:lnSpc>
              <a:spcBef>
                <a:spcPts val="1400"/>
              </a:spcBef>
              <a:spcAft>
                <a:spcPts val="0"/>
              </a:spcAft>
              <a:buClr>
                <a:schemeClr val="dk1"/>
              </a:buClr>
              <a:buSzPts val="1100"/>
              <a:buFont typeface="Arial"/>
              <a:buNone/>
            </a:pPr>
            <a:r>
              <a:rPr lang="es" sz="1350">
                <a:solidFill>
                  <a:srgbClr val="1E293B"/>
                </a:solidFill>
              </a:rPr>
              <a:t>WGCNA is used to build </a:t>
            </a:r>
            <a:r>
              <a:rPr lang="es" sz="1350" b="1">
                <a:solidFill>
                  <a:srgbClr val="1E293B"/>
                </a:solidFill>
              </a:rPr>
              <a:t>multi-omic correlation networks</a:t>
            </a:r>
            <a:r>
              <a:rPr lang="es" sz="1350">
                <a:solidFill>
                  <a:srgbClr val="1E293B"/>
                </a:solidFill>
              </a:rPr>
              <a:t> to identify for instance </a:t>
            </a:r>
            <a:r>
              <a:rPr lang="es" sz="1350" b="1">
                <a:solidFill>
                  <a:srgbClr val="1E293B"/>
                </a:solidFill>
              </a:rPr>
              <a:t>modules of genes</a:t>
            </a:r>
            <a:r>
              <a:rPr lang="es" sz="1350">
                <a:solidFill>
                  <a:srgbClr val="1E293B"/>
                </a:solidFill>
              </a:rPr>
              <a:t> (from transcriptomics) that are highly </a:t>
            </a:r>
            <a:r>
              <a:rPr lang="es" sz="1350" b="1">
                <a:solidFill>
                  <a:srgbClr val="1E293B"/>
                </a:solidFill>
              </a:rPr>
              <a:t>correlated</a:t>
            </a:r>
            <a:r>
              <a:rPr lang="es" sz="1350">
                <a:solidFill>
                  <a:srgbClr val="1E293B"/>
                </a:solidFill>
              </a:rPr>
              <a:t> with </a:t>
            </a:r>
            <a:r>
              <a:rPr lang="es" sz="1350" b="1">
                <a:solidFill>
                  <a:srgbClr val="1E293B"/>
                </a:solidFill>
              </a:rPr>
              <a:t>modules of metabolites</a:t>
            </a:r>
            <a:r>
              <a:rPr lang="es" sz="1350">
                <a:solidFill>
                  <a:srgbClr val="1E293B"/>
                </a:solidFill>
              </a:rPr>
              <a:t> (from metabolomics).</a:t>
            </a:r>
            <a:endParaRPr sz="1350">
              <a:solidFill>
                <a:srgbClr val="1E293B"/>
              </a:solidFill>
            </a:endParaRPr>
          </a:p>
          <a:p>
            <a:pPr marL="0" lvl="0" indent="0" algn="l" rtl="0">
              <a:lnSpc>
                <a:spcPct val="150000"/>
              </a:lnSpc>
              <a:spcBef>
                <a:spcPts val="1400"/>
              </a:spcBef>
              <a:spcAft>
                <a:spcPts val="1400"/>
              </a:spcAft>
              <a:buNone/>
            </a:pPr>
            <a:r>
              <a:rPr lang="es" sz="1350">
                <a:solidFill>
                  <a:srgbClr val="1E293B"/>
                </a:solidFill>
              </a:rPr>
              <a:t>This allows researchers to find </a:t>
            </a:r>
            <a:r>
              <a:rPr lang="es" sz="1350" b="1">
                <a:solidFill>
                  <a:srgbClr val="1E293B"/>
                </a:solidFill>
              </a:rPr>
              <a:t>key genes</a:t>
            </a:r>
            <a:r>
              <a:rPr lang="es" sz="1350">
                <a:solidFill>
                  <a:srgbClr val="1E293B"/>
                </a:solidFill>
              </a:rPr>
              <a:t> that may be </a:t>
            </a:r>
            <a:r>
              <a:rPr lang="es" sz="1350" b="1">
                <a:solidFill>
                  <a:srgbClr val="1E293B"/>
                </a:solidFill>
              </a:rPr>
              <a:t>regulators of specific metabolic pathways</a:t>
            </a:r>
            <a:r>
              <a:rPr lang="es" sz="1350">
                <a:solidFill>
                  <a:srgbClr val="1E293B"/>
                </a:solidFill>
              </a:rPr>
              <a:t>.</a:t>
            </a:r>
            <a:endParaRPr/>
          </a:p>
        </p:txBody>
      </p:sp>
      <p:sp>
        <p:nvSpPr>
          <p:cNvPr id="287" name="Google Shape;287;p33"/>
          <p:cNvSpPr txBox="1"/>
          <p:nvPr/>
        </p:nvSpPr>
        <p:spPr>
          <a:xfrm>
            <a:off x="311700" y="4013610"/>
            <a:ext cx="4372595" cy="61552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u="sng" dirty="0">
                <a:solidFill>
                  <a:schemeClr val="hlink"/>
                </a:solidFill>
                <a:hlinkClick r:id="rId3"/>
              </a:rPr>
              <a:t>https://bmcbioinformatics.biomedcentral.com/articles/10.1186/1471-2105-9-559</a:t>
            </a:r>
            <a:endParaRPr dirty="0"/>
          </a:p>
        </p:txBody>
      </p:sp>
      <p:pic>
        <p:nvPicPr>
          <p:cNvPr id="288" name="Google Shape;288;p33"/>
          <p:cNvPicPr preferRelativeResize="0"/>
          <p:nvPr/>
        </p:nvPicPr>
        <p:blipFill>
          <a:blip r:embed="rId4">
            <a:alphaModFix/>
          </a:blip>
          <a:stretch>
            <a:fillRect/>
          </a:stretch>
        </p:blipFill>
        <p:spPr>
          <a:xfrm>
            <a:off x="6087925" y="929850"/>
            <a:ext cx="2873175" cy="40392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3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t>Other Integration Methods</a:t>
            </a:r>
            <a:endParaRPr b="1"/>
          </a:p>
        </p:txBody>
      </p:sp>
      <p:sp>
        <p:nvSpPr>
          <p:cNvPr id="294" name="Google Shape;294;p3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s" b="1" u="sng">
                <a:solidFill>
                  <a:schemeClr val="hlink"/>
                </a:solidFill>
                <a:hlinkClick r:id="rId3"/>
              </a:rPr>
              <a:t>DIABLO (mixOmics)</a:t>
            </a:r>
            <a:endParaRPr b="1"/>
          </a:p>
          <a:p>
            <a:pPr marL="0" lvl="0" indent="0" algn="l" rtl="0">
              <a:spcBef>
                <a:spcPts val="1200"/>
              </a:spcBef>
              <a:spcAft>
                <a:spcPts val="0"/>
              </a:spcAft>
              <a:buNone/>
            </a:pPr>
            <a:r>
              <a:rPr lang="es"/>
              <a:t>A supervised method (based on PLS/CCA) that finds correlated features between omic layers.</a:t>
            </a:r>
            <a:endParaRPr/>
          </a:p>
          <a:p>
            <a:pPr marL="0" lvl="0" indent="0" algn="l" rtl="0">
              <a:spcBef>
                <a:spcPts val="1200"/>
              </a:spcBef>
              <a:spcAft>
                <a:spcPts val="0"/>
              </a:spcAft>
              <a:buNone/>
            </a:pPr>
            <a:r>
              <a:rPr lang="es" b="1" u="sng">
                <a:solidFill>
                  <a:schemeClr val="hlink"/>
                </a:solidFill>
                <a:hlinkClick r:id="rId4"/>
              </a:rPr>
              <a:t>iCluster</a:t>
            </a:r>
            <a:endParaRPr b="1"/>
          </a:p>
          <a:p>
            <a:pPr marL="0" lvl="0" indent="0" algn="l" rtl="0">
              <a:spcBef>
                <a:spcPts val="1200"/>
              </a:spcBef>
              <a:spcAft>
                <a:spcPts val="0"/>
              </a:spcAft>
              <a:buNone/>
            </a:pPr>
            <a:r>
              <a:rPr lang="es"/>
              <a:t>A latent variable model (matrix factorization) that simultaneously clusters samples based on multiple data types.</a:t>
            </a:r>
            <a:endParaRPr/>
          </a:p>
          <a:p>
            <a:pPr marL="0" lvl="0" indent="0" algn="l" rtl="0">
              <a:spcBef>
                <a:spcPts val="1200"/>
              </a:spcBef>
              <a:spcAft>
                <a:spcPts val="0"/>
              </a:spcAft>
              <a:buNone/>
            </a:pPr>
            <a:r>
              <a:rPr lang="es" b="1" u="sng">
                <a:solidFill>
                  <a:schemeClr val="hlink"/>
                </a:solidFill>
                <a:hlinkClick r:id="rId5"/>
              </a:rPr>
              <a:t>MOVE (Multi-Omics Variational autoEncoder)</a:t>
            </a:r>
            <a:endParaRPr b="1"/>
          </a:p>
          <a:p>
            <a:pPr marL="0" lvl="0" indent="0" algn="l" rtl="0">
              <a:spcBef>
                <a:spcPts val="1200"/>
              </a:spcBef>
              <a:spcAft>
                <a:spcPts val="1200"/>
              </a:spcAft>
              <a:buNone/>
            </a:pPr>
            <a:r>
              <a:rPr lang="es"/>
              <a:t>Variational Autoencoder model that learns a compressed, non-linear representation of omics and clinical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3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t>When to Add Another 'Omic' Layer?</a:t>
            </a:r>
            <a:endParaRPr b="1"/>
          </a:p>
        </p:txBody>
      </p:sp>
      <p:sp>
        <p:nvSpPr>
          <p:cNvPr id="300" name="Google Shape;300;p3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85000" lnSpcReduction="10000"/>
          </a:bodyPr>
          <a:lstStyle/>
          <a:p>
            <a:pPr marL="0" lvl="0" indent="0" algn="l" rtl="0">
              <a:spcBef>
                <a:spcPts val="0"/>
              </a:spcBef>
              <a:spcAft>
                <a:spcPts val="0"/>
              </a:spcAft>
              <a:buNone/>
            </a:pPr>
            <a:r>
              <a:rPr lang="es"/>
              <a:t>When your </a:t>
            </a:r>
            <a:r>
              <a:rPr lang="es" sz="3000" b="1"/>
              <a:t>research question</a:t>
            </a:r>
            <a:r>
              <a:rPr lang="es"/>
              <a:t> </a:t>
            </a:r>
            <a:r>
              <a:rPr lang="es" u="sng"/>
              <a:t>cannot</a:t>
            </a:r>
            <a:r>
              <a:rPr lang="es"/>
              <a:t> be answered by a single omic layer.</a:t>
            </a:r>
            <a:endParaRPr/>
          </a:p>
          <a:p>
            <a:pPr marL="0" lvl="0" indent="0" algn="l" rtl="0">
              <a:spcBef>
                <a:spcPts val="1200"/>
              </a:spcBef>
              <a:spcAft>
                <a:spcPts val="0"/>
              </a:spcAft>
              <a:buNone/>
            </a:pPr>
            <a:r>
              <a:rPr lang="es"/>
              <a:t>To </a:t>
            </a:r>
            <a:r>
              <a:rPr lang="es" b="1"/>
              <a:t>increase predictive power</a:t>
            </a:r>
            <a:r>
              <a:rPr lang="es"/>
              <a:t> and </a:t>
            </a:r>
            <a:r>
              <a:rPr lang="es" b="1"/>
              <a:t>provide a more complete, systems-level view</a:t>
            </a:r>
            <a:r>
              <a:rPr lang="es"/>
              <a:t>.</a:t>
            </a:r>
            <a:endParaRPr/>
          </a:p>
          <a:p>
            <a:pPr marL="0" lvl="0" indent="0" algn="l" rtl="0">
              <a:spcBef>
                <a:spcPts val="1200"/>
              </a:spcBef>
              <a:spcAft>
                <a:spcPts val="0"/>
              </a:spcAft>
              <a:buNone/>
            </a:pPr>
            <a:r>
              <a:rPr lang="es"/>
              <a:t>The Trade-Off (The "Cost")</a:t>
            </a:r>
            <a:endParaRPr/>
          </a:p>
          <a:p>
            <a:pPr marL="0" lvl="0" indent="0" algn="l" rtl="0">
              <a:spcBef>
                <a:spcPts val="1200"/>
              </a:spcBef>
              <a:spcAft>
                <a:spcPts val="0"/>
              </a:spcAft>
              <a:buNone/>
            </a:pPr>
            <a:r>
              <a:rPr lang="es" sz="2643" b="1"/>
              <a:t>Adding layers is not always better.</a:t>
            </a:r>
            <a:r>
              <a:rPr lang="es"/>
              <a:t> It increases costs, computational complexity, and data storage needs.</a:t>
            </a:r>
            <a:endParaRPr/>
          </a:p>
          <a:p>
            <a:pPr marL="0" lvl="0" indent="0" algn="l" rtl="0">
              <a:spcBef>
                <a:spcPts val="1200"/>
              </a:spcBef>
              <a:spcAft>
                <a:spcPts val="0"/>
              </a:spcAft>
              <a:buNone/>
            </a:pPr>
            <a:r>
              <a:rPr lang="es"/>
              <a:t>Introduces more </a:t>
            </a:r>
            <a:r>
              <a:rPr lang="es" b="1"/>
              <a:t>challenges</a:t>
            </a:r>
            <a:r>
              <a:rPr lang="es"/>
              <a:t> with </a:t>
            </a:r>
            <a:r>
              <a:rPr lang="es" b="1"/>
              <a:t>batch effects</a:t>
            </a:r>
            <a:r>
              <a:rPr lang="es"/>
              <a:t>, </a:t>
            </a:r>
            <a:r>
              <a:rPr lang="es" b="1"/>
              <a:t>noise</a:t>
            </a:r>
            <a:r>
              <a:rPr lang="es"/>
              <a:t>, and </a:t>
            </a:r>
            <a:r>
              <a:rPr lang="es" b="1"/>
              <a:t>missing data</a:t>
            </a:r>
            <a:r>
              <a:rPr lang="es"/>
              <a:t>.</a:t>
            </a:r>
            <a:endParaRPr/>
          </a:p>
          <a:p>
            <a:pPr marL="0" lvl="0" indent="0" algn="l" rtl="0">
              <a:spcBef>
                <a:spcPts val="1200"/>
              </a:spcBef>
              <a:spcAft>
                <a:spcPts val="1200"/>
              </a:spcAft>
              <a:buNone/>
            </a:pPr>
            <a:r>
              <a:rPr lang="es" b="1"/>
              <a:t>Decision</a:t>
            </a:r>
            <a:r>
              <a:rPr lang="es"/>
              <a:t> must be a strategic, hypothesis-driven choice where the potential for deeper insight outweighs the costs and challenges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36"/>
          <p:cNvSpPr txBox="1">
            <a:spLocks noGrp="1"/>
          </p:cNvSpPr>
          <p:nvPr>
            <p:ph type="body" idx="1"/>
          </p:nvPr>
        </p:nvSpPr>
        <p:spPr>
          <a:xfrm>
            <a:off x="311700" y="1755300"/>
            <a:ext cx="8520600" cy="1632900"/>
          </a:xfrm>
          <a:prstGeom prst="rect">
            <a:avLst/>
          </a:prstGeom>
        </p:spPr>
        <p:txBody>
          <a:bodyPr spcFirstLastPara="1" wrap="square" lIns="91425" tIns="91425" rIns="91425" bIns="91425" anchor="t" anchorCtr="0">
            <a:normAutofit/>
          </a:bodyPr>
          <a:lstStyle/>
          <a:p>
            <a:pPr marL="0" lvl="0" indent="0" algn="ctr" rtl="0">
              <a:spcBef>
                <a:spcPts val="0"/>
              </a:spcBef>
              <a:spcAft>
                <a:spcPts val="1200"/>
              </a:spcAft>
              <a:buNone/>
            </a:pPr>
            <a:r>
              <a:rPr lang="es" b="1"/>
              <a:t>Multi-omics integration is moving biology from a reductionist to a systems-level perspective. While computationally challenging, it offers unprecedented power to understand the complexity of life and disease.</a:t>
            </a:r>
            <a:endParaRPr b="1"/>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09"/>
        <p:cNvGrpSpPr/>
        <p:nvPr/>
      </p:nvGrpSpPr>
      <p:grpSpPr>
        <a:xfrm>
          <a:off x="0" y="0"/>
          <a:ext cx="0" cy="0"/>
          <a:chOff x="0" y="0"/>
          <a:chExt cx="0" cy="0"/>
        </a:xfrm>
      </p:grpSpPr>
      <p:pic>
        <p:nvPicPr>
          <p:cNvPr id="310" name="Google Shape;310;p37"/>
          <p:cNvPicPr preferRelativeResize="0"/>
          <p:nvPr/>
        </p:nvPicPr>
        <p:blipFill>
          <a:blip r:embed="rId3">
            <a:alphaModFix/>
          </a:blip>
          <a:stretch>
            <a:fillRect/>
          </a:stretch>
        </p:blipFill>
        <p:spPr>
          <a:xfrm>
            <a:off x="152400" y="152400"/>
            <a:ext cx="4162425" cy="4076700"/>
          </a:xfrm>
          <a:prstGeom prst="rect">
            <a:avLst/>
          </a:prstGeom>
          <a:noFill/>
          <a:ln>
            <a:noFill/>
          </a:ln>
        </p:spPr>
      </p:pic>
      <p:pic>
        <p:nvPicPr>
          <p:cNvPr id="311" name="Google Shape;311;p37" descr="pasted-movie.png"/>
          <p:cNvPicPr preferRelativeResize="0"/>
          <p:nvPr/>
        </p:nvPicPr>
        <p:blipFill rotWithShape="1">
          <a:blip r:embed="rId4">
            <a:alphaModFix/>
          </a:blip>
          <a:srcRect/>
          <a:stretch/>
        </p:blipFill>
        <p:spPr>
          <a:xfrm>
            <a:off x="5345061" y="152401"/>
            <a:ext cx="3293974" cy="407670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854</Words>
  <Application>Microsoft Macintosh PowerPoint</Application>
  <PresentationFormat>On-screen Show (16:9)</PresentationFormat>
  <Paragraphs>80</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Helvetica Neue</vt:lpstr>
      <vt:lpstr>Merriweather</vt:lpstr>
      <vt:lpstr>Times</vt:lpstr>
      <vt:lpstr>Simple Light</vt:lpstr>
      <vt:lpstr>Multi-omics</vt:lpstr>
      <vt:lpstr>Multi-omics</vt:lpstr>
      <vt:lpstr>Why is Multi-Omics Integration Key?</vt:lpstr>
      <vt:lpstr>Key Challenges</vt:lpstr>
      <vt:lpstr>Data Integration</vt:lpstr>
      <vt:lpstr>Horizontal Data Integration</vt:lpstr>
      <vt:lpstr>Horizontal Data Integration</vt:lpstr>
      <vt:lpstr>Horizontal Data Integration</vt:lpstr>
      <vt:lpstr>Study Effect</vt:lpstr>
      <vt:lpstr>ABaCo: Autoencoder-based Batch Correction</vt:lpstr>
      <vt:lpstr>Vertical Integration</vt:lpstr>
      <vt:lpstr>Method: Similarity Network Fusion (SNF)</vt:lpstr>
      <vt:lpstr>Method: Similarity Network Fusion (SNF)</vt:lpstr>
      <vt:lpstr>Method: Multi-Omics Factor Analysis (MOFA)</vt:lpstr>
      <vt:lpstr>Method: Weighted Gene Coexpression Network Analysis</vt:lpstr>
      <vt:lpstr>Other Integration Methods</vt:lpstr>
      <vt:lpstr>When to Add Another 'Omic' Layer?</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Alberto Pallejà Caro</cp:lastModifiedBy>
  <cp:revision>1</cp:revision>
  <dcterms:modified xsi:type="dcterms:W3CDTF">2026-10-22T22:32:58Z</dcterms:modified>
</cp:coreProperties>
</file>