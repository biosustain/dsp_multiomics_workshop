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0" r:id="rId10"/>
    <p:sldId id="281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5F595B-C8E8-50F0-5249-6F34D8E482DE}">
          <p14:sldIdLst>
            <p14:sldId id="256"/>
            <p14:sldId id="257"/>
          </p14:sldIdLst>
        </p14:section>
        <p14:section name="The study" id="{027E6C05-04BA-64B8-FC43-A4D85B7979B9}">
          <p14:sldIdLst>
            <p14:sldId id="258"/>
            <p14:sldId id="259"/>
            <p14:sldId id="260"/>
            <p14:sldId id="261"/>
          </p14:sldIdLst>
        </p14:section>
        <p14:section name="Processing" id="{453F18C7-E90D-B954-F935-9D671F92CC08}">
          <p14:sldIdLst>
            <p14:sldId id="262"/>
            <p14:sldId id="263"/>
            <p14:sldId id="280"/>
            <p14:sldId id="281"/>
            <p14:sldId id="265"/>
            <p14:sldId id="266"/>
          </p14:sldIdLst>
        </p14:section>
        <p14:section name="Findings" id="{A1536319-7838-AB06-FDEF-2A4F3347F9B6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Integration" id="{1F218A16-B711-21B4-0C99-CC79A31722FB}">
          <p14:sldIdLst>
            <p14:sldId id="273"/>
            <p14:sldId id="274"/>
            <p14:sldId id="275"/>
            <p14:sldId id="276"/>
          </p14:sldIdLst>
        </p14:section>
        <p14:section name="Hands-on" id="{95CC07A4-1B98-81EE-5960-6F184FF4FAE0}">
          <p14:sldIdLst>
            <p14:sldId id="278"/>
          </p14:sldIdLst>
        </p14:section>
        <p14:section name="Close" id="{667BE58D-5B6E-77FD-1576-325C7C4790D7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9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87690"/>
  </p:normalViewPr>
  <p:slideViewPr>
    <p:cSldViewPr snapToGrid="0" snapToObjects="1">
      <p:cViewPr varScale="1">
        <p:scale>
          <a:sx n="95" d="100"/>
          <a:sy n="95" d="100"/>
        </p:scale>
        <p:origin x="20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233B"/>
                </a:solidFill>
                <a:latin typeface="+mn-lt"/>
              </a:defRPr>
            </a:pPr>
            <a:r>
              <a:rPr lang="en-GB" sz="1300" b="0" i="0" u="none" strike="noStrike">
                <a:solidFill>
                  <a:srgbClr val="15233B"/>
                </a:solidFill>
                <a:latin typeface="+mn-lt"/>
              </a:rPr>
              <a:t>Published KEGG enrichment, CRKP vs CSKP (−log10 p)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-log10 p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233B"/>
                    </a:solidFill>
                    <a:latin typeface="+mn-lt"/>
                  </a:defRPr>
                </a:pPr>
                <a:endParaRPr lang="en-DK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Calcium signalling</c:v>
                </c:pt>
                <c:pt idx="1">
                  <c:v>Phosphatidylinositol signalling</c:v>
                </c:pt>
                <c:pt idx="2">
                  <c:v>Phagosome</c:v>
                </c:pt>
                <c:pt idx="3">
                  <c:v>HCMV infection*</c:v>
                </c:pt>
                <c:pt idx="4">
                  <c:v>Antigen processing &amp; presentation</c:v>
                </c:pt>
                <c:pt idx="5">
                  <c:v>HIV-1 infection*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1.75</c:v>
                </c:pt>
                <c:pt idx="1">
                  <c:v>1.82</c:v>
                </c:pt>
                <c:pt idx="2">
                  <c:v>2.0499999999999998</c:v>
                </c:pt>
                <c:pt idx="3">
                  <c:v>2.78</c:v>
                </c:pt>
                <c:pt idx="4">
                  <c:v>2.78</c:v>
                </c:pt>
                <c:pt idx="5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FD-764A-81B3-381A480B33F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3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233B"/>
                </a:solidFill>
                <a:latin typeface="+mn-lt"/>
              </a:defRPr>
            </a:pPr>
            <a:r>
              <a:rPr lang="en-GB" sz="1300" b="0" i="0" u="none" strike="noStrike">
                <a:solidFill>
                  <a:srgbClr val="15233B"/>
                </a:solidFill>
                <a:latin typeface="+mn-lt"/>
              </a:rPr>
              <a:t>Published KEGG pathways, CRKP vs CSKP (number of DEMs)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DEMs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233B"/>
                    </a:solidFill>
                    <a:latin typeface="+mn-lt"/>
                  </a:defRPr>
                </a:pPr>
                <a:endParaRPr lang="en-DK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Arginine &amp; proline metabolism</c:v>
                </c:pt>
                <c:pt idx="1">
                  <c:v>Protein digestion &amp; absorption</c:v>
                </c:pt>
                <c:pt idx="2">
                  <c:v>Aminoacyl-tRNA biosynthesis</c:v>
                </c:pt>
                <c:pt idx="3">
                  <c:v>D-Amino acid metabolism</c:v>
                </c:pt>
                <c:pt idx="4">
                  <c:v>Biosynthesis of amino acids</c:v>
                </c:pt>
                <c:pt idx="5">
                  <c:v>ABC transporters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D6-F84D-9866-9D9639302F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3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3152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 two hours we go from one real clinical cohort to a cross-omics hypothesis. About 20 minutes of context, then you work in the notebooks. Everything runs in Google Colab - no installation.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Timings are a guide. If Colab installs are slow, start Hands-on I while the lecture on multi-omics is shortened.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with the clinical problem. Sepsis is a dysregulated host response; K. pneumoniae is a common Gram-negative cause; resistant strains roughly double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naming: the susceptible group is CSKP in the paper but its sample IDs are KP*. That mismatch matters later when joining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very different technologies: untargeted-ish DIA proteomics with many missing values, and targeted MRM metabolomics with few. Both deposited publicly. The notebooks read small curated tables straight from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of the full course ran these pipelines in Colab on test profiles. Today we only show what they do and what they output; the matrices are already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quantmsdiann</a:t>
            </a:r>
            <a:r>
              <a:rPr lang="en-US" dirty="0"/>
              <a:t> is the DIA-NN branch of </a:t>
            </a:r>
            <a:r>
              <a:rPr lang="en-US" dirty="0" err="1"/>
              <a:t>quantms</a:t>
            </a:r>
            <a:r>
              <a:rPr lang="en-US" dirty="0"/>
              <a:t>, built to </a:t>
            </a:r>
            <a:r>
              <a:rPr lang="en-US" dirty="0" err="1"/>
              <a:t>nf</a:t>
            </a:r>
            <a:r>
              <a:rPr lang="en-US" dirty="0"/>
              <a:t>-core standards by </a:t>
            </a:r>
            <a:r>
              <a:rPr lang="en-US" dirty="0" err="1"/>
              <a:t>bigbio</a:t>
            </a:r>
            <a:r>
              <a:rPr lang="en-US" dirty="0"/>
              <a:t> at EMBL-EBI. The SDRF is generated by bin/</a:t>
            </a:r>
            <a:r>
              <a:rPr lang="en-US" dirty="0" err="1"/>
              <a:t>build_sdrf.py</a:t>
            </a:r>
            <a:r>
              <a:rPr lang="en-US" dirty="0"/>
              <a:t>; pooled QCs are excluded from it so they do not enter the differential design.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1391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teaching moment: choose the pipeline that matches the acquisition. Untargeted and targeted metabolomics answer different questions. metaboigniter 2.0.1 also needs the legacy Nextflow config parser on Nextflow 26.04+.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curated tables already harmonise identifiers. The run-order confound is not mentioned in the paper; keep it in mind when any result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is a decision that changes the list. Imputation: in label-free proteomics a missing value usually means low abundance, so we draw from a down-shifted normal (shift 1.8 SD, width 0.25 SD, as in Perseus).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viral-infection KEGG terms are generic: they contain the antigen-presentation genes. The panel AUC comes from a single split chosen on test performance, so read it as optimistic; the PRM validation cohort is the stronger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D-ratio = sigma_QC / sigma_biological; near 0 is biology, near 1 is measurement noise. QC CVs were low (median about 0.14) and samples ran in one batch, which reduces but does not remove the drift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are numbers of significant compounds per pathway from the paper's supplementary table 8. Pathway hits rest on few compounds; treat them as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points set expectations for the hands-on: SNF and MOFA will probably not recover the three groups cleanly, and that is a result,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Unsupervised methods (MOFA, SNF) ignore group labels; supervised ones (DIABLO, sPLS-DA) use them. That discipline is the difference between a finding and a delusion at n = 15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unglamorous step where most integration attempts fail. The same recipe is applied symmetrically to both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SNF (Wang 2014): K = 15, mu = 0.5. MOFA (Argelaguet 2018): 8 factors with spike-and-slab and ARD sparsity. A factor is just a direction of variance; meaning comes from what it correlates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notebooks are self-contained: they download the curated tables from the workshop repository on GitHub and need no output from earlier sessions. Ask people to start the install cell immediately. Cytoscape export is optional; skip it if Cytoscape is not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biology: in CRKP sepsis the serum shows antigen-presentation and coagulation changes and, where the layers meet, one-carbon and methionine metabolism. A hypothesis with a specific mechanism and a specific way to be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0332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DBC 2026 · Multi-omics hands-on workshop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89/fimmu.2026.1818068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biosustain/dsp_multiomics_workshop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msstats.org/" TargetMode="External"/><Relationship Id="rId3" Type="http://schemas.openxmlformats.org/officeDocument/2006/relationships/image" Target="../media/image7.svg"/><Relationship Id="rId7" Type="http://schemas.openxmlformats.org/officeDocument/2006/relationships/hyperlink" Target="https://github.com/bigbio/quantms-container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compomics/ThermoRawFileParser" TargetMode="External"/><Relationship Id="rId5" Type="http://schemas.openxmlformats.org/officeDocument/2006/relationships/hyperlink" Target="https://github.com/bigbio/sdrf-pipelines" TargetMode="External"/><Relationship Id="rId4" Type="http://schemas.openxmlformats.org/officeDocument/2006/relationships/hyperlink" Target="https://github.com/bigbio/proteomics-metadata-standard" TargetMode="External"/><Relationship Id="rId9" Type="http://schemas.openxmlformats.org/officeDocument/2006/relationships/hyperlink" Target="https://github.com/bigbio/pmultiqc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13816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r>
              <a:rPr lang="en-DK" b="0" dirty="0"/>
              <a:t>Biological Complexity: Network-Based Approaches for Multi-Omics Integration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0332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serum proteomics and metabolomics in a sepsis cohort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 Bioinformatics Conference · Odense · 27–28 October 2026</a:t>
            </a:r>
            <a:endParaRPr lang="en-US" sz="2000" dirty="0"/>
          </a:p>
        </p:txBody>
      </p:sp>
      <p:sp>
        <p:nvSpPr>
          <p:cNvPr id="4" name="motif edge"/>
          <p:cNvSpPr/>
          <p:nvPr/>
        </p:nvSpPr>
        <p:spPr>
          <a:xfrm>
            <a:off x="9646920" y="2880360"/>
            <a:ext cx="123444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5" name="motif protein"/>
          <p:cNvSpPr/>
          <p:nvPr/>
        </p:nvSpPr>
        <p:spPr>
          <a:xfrm>
            <a:off x="9006840" y="251460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motif metabolite"/>
          <p:cNvSpPr/>
          <p:nvPr/>
        </p:nvSpPr>
        <p:spPr>
          <a:xfrm>
            <a:off x="10789920" y="25146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 txBox="1"/>
          <p:nvPr/>
        </p:nvSpPr>
        <p:spPr>
          <a:xfrm>
            <a:off x="877824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protein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6132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metabolite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Multiomics Analytics Group · DTU Biosustain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two hours</a:t>
            </a:r>
            <a:endParaRPr lang="en-US" sz="3200" dirty="0"/>
          </a:p>
        </p:txBody>
      </p:sp>
      <p:sp>
        <p:nvSpPr>
          <p:cNvPr id="3" name="agenda card 1"/>
          <p:cNvSpPr/>
          <p:nvPr/>
        </p:nvSpPr>
        <p:spPr>
          <a:xfrm>
            <a:off x="548640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agenda time 1"/>
          <p:cNvSpPr/>
          <p:nvPr/>
        </p:nvSpPr>
        <p:spPr>
          <a:xfrm>
            <a:off x="731520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0:00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Dataset, nf-core processing, single-omics results, integration basics</a:t>
            </a:r>
            <a:endParaRPr lang="en-US" sz="1400" dirty="0"/>
          </a:p>
        </p:txBody>
      </p:sp>
      <p:sp>
        <p:nvSpPr>
          <p:cNvPr id="8" name="agenda card 2"/>
          <p:cNvSpPr/>
          <p:nvPr/>
        </p:nvSpPr>
        <p:spPr>
          <a:xfrm>
            <a:off x="2428189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agenda time 2"/>
          <p:cNvSpPr/>
          <p:nvPr/>
        </p:nvSpPr>
        <p:spPr>
          <a:xfrm>
            <a:off x="2611069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 txBox="1"/>
          <p:nvPr/>
        </p:nvSpPr>
        <p:spPr>
          <a:xfrm>
            <a:off x="2611069" y="1783080"/>
            <a:ext cx="1005840" cy="411480"/>
          </a:xfrm>
          <a:prstGeom prst="rect">
            <a:avLst/>
          </a:prstGeom>
          <a:solidFill>
            <a:srgbClr val="2D99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0:25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11069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11069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Short lecture: why and how to integrate</a:t>
            </a:r>
            <a:endParaRPr lang="en-US" sz="1400" dirty="0"/>
          </a:p>
        </p:txBody>
      </p:sp>
      <p:sp>
        <p:nvSpPr>
          <p:cNvPr id="13" name="agenda card 3"/>
          <p:cNvSpPr/>
          <p:nvPr/>
        </p:nvSpPr>
        <p:spPr>
          <a:xfrm>
            <a:off x="4307738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agenda time 3"/>
          <p:cNvSpPr/>
          <p:nvPr/>
        </p:nvSpPr>
        <p:spPr>
          <a:xfrm>
            <a:off x="4490618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 txBox="1"/>
          <p:nvPr/>
        </p:nvSpPr>
        <p:spPr>
          <a:xfrm>
            <a:off x="449061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0:35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90618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Integration — SNF and MOFA (Colab)</a:t>
            </a:r>
            <a:endParaRPr lang="en-US" sz="1400" dirty="0"/>
          </a:p>
        </p:txBody>
      </p:sp>
      <p:sp>
        <p:nvSpPr>
          <p:cNvPr id="18" name="agenda card 4"/>
          <p:cNvSpPr/>
          <p:nvPr/>
        </p:nvSpPr>
        <p:spPr>
          <a:xfrm>
            <a:off x="6187288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agenda time 4"/>
          <p:cNvSpPr/>
          <p:nvPr/>
        </p:nvSpPr>
        <p:spPr>
          <a:xfrm>
            <a:off x="6370168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 txBox="1"/>
          <p:nvPr/>
        </p:nvSpPr>
        <p:spPr>
          <a:xfrm>
            <a:off x="6370168" y="1783080"/>
            <a:ext cx="1005840" cy="411480"/>
          </a:xfrm>
          <a:prstGeom prst="rect">
            <a:avLst/>
          </a:prstGeom>
          <a:solidFill>
            <a:srgbClr val="2D99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1:10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biology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70168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Short lecture: graphs, hubs, modules</a:t>
            </a:r>
            <a:endParaRPr lang="en-US" sz="1400" dirty="0"/>
          </a:p>
        </p:txBody>
      </p:sp>
      <p:sp>
        <p:nvSpPr>
          <p:cNvPr id="23" name="agenda card 5"/>
          <p:cNvSpPr/>
          <p:nvPr/>
        </p:nvSpPr>
        <p:spPr>
          <a:xfrm>
            <a:off x="8066837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agenda time 5"/>
          <p:cNvSpPr/>
          <p:nvPr/>
        </p:nvSpPr>
        <p:spPr>
          <a:xfrm>
            <a:off x="8249717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3"/>
          <p:cNvSpPr txBox="1"/>
          <p:nvPr/>
        </p:nvSpPr>
        <p:spPr>
          <a:xfrm>
            <a:off x="8249717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1:20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49717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II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49717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Networks, joint pathways, the methionine cycle (Colab)</a:t>
            </a:r>
            <a:endParaRPr lang="en-US" sz="1400" dirty="0"/>
          </a:p>
        </p:txBody>
      </p:sp>
      <p:sp>
        <p:nvSpPr>
          <p:cNvPr id="28" name="agenda card 6"/>
          <p:cNvSpPr/>
          <p:nvPr/>
        </p:nvSpPr>
        <p:spPr>
          <a:xfrm>
            <a:off x="9946386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9" name="agenda time 6"/>
          <p:cNvSpPr/>
          <p:nvPr/>
        </p:nvSpPr>
        <p:spPr>
          <a:xfrm>
            <a:off x="10129266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0" name="Text 28"/>
          <p:cNvSpPr txBox="1"/>
          <p:nvPr/>
        </p:nvSpPr>
        <p:spPr>
          <a:xfrm>
            <a:off x="10129266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1:55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129266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Wrap-up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129266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What we can and cannot conclude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39" y="5074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Hands-on blocks are highlighted in teal — about 95 of the 120 minutes are for you to read the theory at your own tempo and to get hands-on the code.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·  One cohort, data from two instruments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7490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DK" b="1" dirty="0"/>
              <a:t>He J, Luo S, Xu W, Chen Y, Liu G, Tang J, Yang Y, Zhao B, Ma L, Sheng H, Mao E.</a:t>
            </a:r>
            <a:r>
              <a:rPr lang="en-DK" dirty="0"/>
              <a:t> </a:t>
            </a:r>
            <a:r>
              <a:rPr lang="en-DK" i="1" dirty="0"/>
              <a:t>Serum proteomic profiling of sepsis patients reveals a protein-based diagnostic model, with metabolomic insights into carbapenem-resistant Klebsiella pneumoniae infection.</a:t>
            </a:r>
            <a:r>
              <a:rPr lang="en-DK" dirty="0"/>
              <a:t> </a:t>
            </a:r>
            <a:r>
              <a:rPr lang="en-DK" b="1" dirty="0"/>
              <a:t>Front Immunol. 2026;17:1818068.</a:t>
            </a:r>
            <a:r>
              <a:rPr lang="en-DK" dirty="0"/>
              <a:t> </a:t>
            </a:r>
            <a:r>
              <a:rPr lang="en-DK" u="sng" dirty="0">
                <a:hlinkClick r:id="rId3"/>
              </a:rPr>
              <a:t>doi:10.3389/fimmu.2026.1818068</a:t>
            </a:r>
            <a:r>
              <a:rPr lang="en-DK" dirty="0"/>
              <a:t> · open access, CC BY 4.0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question: can serum profiles tell a resistant from a susceptible infection on day 0?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20–40 %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mortality of carbapenem-resistant K. pneumoniae (CRKP) sepsis — about twice that of carbapenem susceptible strains</a:t>
            </a:r>
            <a:endParaRPr lang="en-US" sz="1600" dirty="0"/>
          </a:p>
        </p:txBody>
      </p:sp>
      <p:sp>
        <p:nvSpPr>
          <p:cNvPr id="6" name="stat card 2"/>
          <p:cNvSpPr/>
          <p:nvPr/>
        </p:nvSpPr>
        <p:spPr>
          <a:xfrm>
            <a:off x="429768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days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for blood culture and susceptibility testing — treatment cannot wait that long</a:t>
            </a:r>
            <a:endParaRPr lang="en-US" sz="1600" dirty="0"/>
          </a:p>
        </p:txBody>
      </p:sp>
      <p:sp>
        <p:nvSpPr>
          <p:cNvPr id="9" name="stat card 3"/>
          <p:cNvSpPr/>
          <p:nvPr/>
        </p:nvSpPr>
        <p:spPr>
          <a:xfrm>
            <a:off x="804672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 txBox="1"/>
          <p:nvPr/>
        </p:nvSpPr>
        <p:spPr>
          <a:xfrm>
            <a:off x="832104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0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can the host's own serum molecules tell a resistant from a susceptible infection?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Carbapenems are antibiotics of last resort. A host-response test would guide empirical therapy before microbiology returns.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septic patients, three groups of 15</a:t>
            </a:r>
            <a:endParaRPr lang="en-US" sz="3200" dirty="0"/>
          </a:p>
        </p:txBody>
      </p:sp>
      <p:sp>
        <p:nvSpPr>
          <p:cNvPr id="3" name="group card Con"/>
          <p:cNvSpPr/>
          <p:nvPr/>
        </p:nvSpPr>
        <p:spPr>
          <a:xfrm>
            <a:off x="548640" y="146304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group Con disc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4C72B0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5" name="group Con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C72B0"/>
                </a:solidFill>
              </a:rPr>
              <a:t>Con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16002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Culture-negative sepsis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Con1 … Con15</a:t>
            </a:r>
            <a:endParaRPr lang="en-US" sz="1500" dirty="0"/>
          </a:p>
        </p:txBody>
      </p:sp>
      <p:sp>
        <p:nvSpPr>
          <p:cNvPr id="8" name="group card CSKP"/>
          <p:cNvSpPr/>
          <p:nvPr/>
        </p:nvSpPr>
        <p:spPr>
          <a:xfrm>
            <a:off x="548640" y="265176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group CSKP disc"/>
          <p:cNvSpPr/>
          <p:nvPr/>
        </p:nvSpPr>
        <p:spPr>
          <a:xfrm>
            <a:off x="731520" y="2788920"/>
            <a:ext cx="731520" cy="731520"/>
          </a:xfrm>
          <a:prstGeom prst="ellipse">
            <a:avLst/>
          </a:prstGeom>
          <a:solidFill>
            <a:srgbClr val="DD8452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0" name="group CSKP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71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45920" y="27889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D8452"/>
                </a:solidFill>
              </a:rPr>
              <a:t>CSKP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2788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Carbapenem-susceptible K. pneumoniae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KP1 … KP15</a:t>
            </a:r>
            <a:endParaRPr lang="en-US" sz="1500" dirty="0"/>
          </a:p>
        </p:txBody>
      </p:sp>
      <p:sp>
        <p:nvSpPr>
          <p:cNvPr id="13" name="group card CRKP"/>
          <p:cNvSpPr/>
          <p:nvPr/>
        </p:nvSpPr>
        <p:spPr>
          <a:xfrm>
            <a:off x="548640" y="384048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group CRKP disc"/>
          <p:cNvSpPr/>
          <p:nvPr/>
        </p:nvSpPr>
        <p:spPr>
          <a:xfrm>
            <a:off x="731520" y="3977640"/>
            <a:ext cx="731520" cy="731520"/>
          </a:xfrm>
          <a:prstGeom prst="ellipse">
            <a:avLst/>
          </a:prstGeom>
          <a:solidFill>
            <a:srgbClr val="C44E52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5" name="group CRKP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9776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44E52"/>
                </a:solidFill>
              </a:rPr>
              <a:t>CRKP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292608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Carbapenem-resistant K. pneumoniae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CRKP1 … CRKP15</a:t>
            </a:r>
            <a:endParaRPr lang="en-US" sz="1500" dirty="0"/>
          </a:p>
        </p:txBody>
      </p:sp>
      <p:sp>
        <p:nvSpPr>
          <p:cNvPr id="18" name="why it is hard"/>
          <p:cNvSpPr/>
          <p:nvPr/>
        </p:nvSpPr>
        <p:spPr>
          <a:xfrm>
            <a:off x="7040880" y="1463040"/>
            <a:ext cx="4602175" cy="338328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9" name="Text 14"/>
          <p:cNvSpPr txBox="1"/>
          <p:nvPr/>
        </p:nvSpPr>
        <p:spPr>
          <a:xfrm>
            <a:off x="7315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hard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2402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patient is septic — the contrast is pathogen and resistance, not sick vs healthy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Expected effects are small; severity dominates the variance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15 per group: supervised models overfit easily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Serum at diagnosis, four Shanghai hospitals, April–December 2025. A separate 45-patient validation cohort was measured by targeted PRM only (not deposited).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45 samples, measured twice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364540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Proteomics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Metabolomics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PXD075261 (ProteomeXchange / iProX)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MTBLS14016 (MetaboLights)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timsTOF Pro (Bruker)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QTRAP 6500 (SCIEX)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diaPASEF — data-independent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— widely targeted, ± ionisation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DIA-NN 1.9.2, library-free, MaxLFQ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MRM peak integration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1 458 protein groups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1 073 named metabolites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QC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injections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27 %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pairing card"/>
          <p:cNvSpPr/>
          <p:nvPr/>
        </p:nvSpPr>
        <p:spPr>
          <a:xfrm>
            <a:off x="8412480" y="1417320"/>
            <a:ext cx="3230575" cy="3511296"/>
          </a:xfrm>
          <a:prstGeom prst="roundRect">
            <a:avLst>
              <a:gd name="adj" fmla="val 339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pairing disc"/>
          <p:cNvSpPr/>
          <p:nvPr/>
        </p:nvSpPr>
        <p:spPr>
          <a:xfrm>
            <a:off x="8641080" y="164592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6" name="pairing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2530" y="1817370"/>
            <a:ext cx="342900" cy="3429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464040" y="1691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Pairing is the point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5146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Each patient has two descriptions of the same physiology. That is what makes integration possible — rather than decorative.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accent5"/>
                </a:solidFill>
              </a:rPr>
              <a:t>Curated tables in the workshop repository </a:t>
            </a:r>
            <a:r>
              <a:rPr lang="en-US" sz="1300" dirty="0">
                <a:solidFill>
                  <a:schemeClr val="accent5"/>
                </a:solidFill>
                <a:hlinkClick r:id="rId4"/>
              </a:rPr>
              <a:t>https://github.com/biosustain/dsp_multiomics_workshop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</a:p>
          <a:p>
            <a:r>
              <a:rPr lang="en-US" sz="1300" dirty="0">
                <a:solidFill>
                  <a:schemeClr val="accent5"/>
                </a:solidFill>
              </a:rPr>
              <a:t> in data/: protein_groups_matrix.tsv · metabolite_matrix.tsv · metabolite_annotation.tsv · sample_metadata.tsv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39" y="2651760"/>
            <a:ext cx="111858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·  From raw files to feature intensity matrices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processing with Nextflow and nf-core pipelines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pipeline, not a dozen tools by hand</a:t>
            </a:r>
            <a:endParaRPr lang="en-US" sz="3200" dirty="0"/>
          </a:p>
        </p:txBody>
      </p:sp>
      <p:sp>
        <p:nvSpPr>
          <p:cNvPr id="3" name="why Pinned versions disc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4" name="why Pinned versions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Pinned versions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8470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-r v2.3.0 fixes every tool version the run used</a:t>
            </a:r>
            <a:endParaRPr lang="en-US" sz="1500" dirty="0"/>
          </a:p>
        </p:txBody>
      </p:sp>
      <p:sp>
        <p:nvSpPr>
          <p:cNvPr id="7" name="why Containers disc"/>
          <p:cNvSpPr/>
          <p:nvPr/>
        </p:nvSpPr>
        <p:spPr>
          <a:xfrm>
            <a:off x="548640" y="2487168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8" name="why Containers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70048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487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Containers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2871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Docker / Apptainer ship the exact software stack</a:t>
            </a:r>
            <a:endParaRPr lang="en-US" sz="1500" dirty="0"/>
          </a:p>
        </p:txBody>
      </p:sp>
      <p:sp>
        <p:nvSpPr>
          <p:cNvPr id="11" name="why Resume disc"/>
          <p:cNvSpPr/>
          <p:nvPr/>
        </p:nvSpPr>
        <p:spPr>
          <a:xfrm>
            <a:off x="548640" y="3511296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2" name="why Resume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941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5112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Resume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38953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-resume reuses finished steps after a failure</a:t>
            </a:r>
            <a:endParaRPr lang="en-US" sz="1500" dirty="0"/>
          </a:p>
        </p:txBody>
      </p:sp>
      <p:sp>
        <p:nvSpPr>
          <p:cNvPr id="15" name="why Standard metadata disc"/>
          <p:cNvSpPr/>
          <p:nvPr/>
        </p:nvSpPr>
        <p:spPr>
          <a:xfrm>
            <a:off x="548640" y="4535424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6" name="why Standard metadata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718304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5354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Standard metadata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4919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SDRF / samplesheet describe every file and sample</a:t>
            </a:r>
            <a:endParaRPr lang="en-US" sz="1500" dirty="0"/>
          </a:p>
        </p:txBody>
      </p:sp>
      <p:sp>
        <p:nvSpPr>
          <p:cNvPr id="19" name="command card"/>
          <p:cNvSpPr/>
          <p:nvPr/>
        </p:nvSpPr>
        <p:spPr>
          <a:xfrm>
            <a:off x="6309360" y="1463040"/>
            <a:ext cx="5333695" cy="3794760"/>
          </a:xfrm>
          <a:prstGeom prst="roundRect">
            <a:avLst>
              <a:gd name="adj" fmla="val 2892"/>
            </a:avLst>
          </a:prstGeom>
          <a:solidFill>
            <a:schemeClr val="tx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0" name="Text 14"/>
          <p:cNvSpPr txBox="1"/>
          <p:nvPr/>
        </p:nvSpPr>
        <p:spPr>
          <a:xfrm>
            <a:off x="658368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run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583680" y="214884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nextflow run bigbio/quantmsdiann -r v2.3.0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-profile docker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--input  PXD075261.sdrf.tsv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--database uniprot_human.fasta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--outdir results/PXD075261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-resume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583680" y="44348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single dash = Nextflow option · double dash = pipeline parameter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Full cohort is a cluster job: 45 × 2.4 GB .d.zip, several CPU-hours per file, ≥ 32 GB RAM.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veat card">
            <a:extLst>
              <a:ext uri="{FF2B5EF4-FFF2-40B4-BE49-F238E27FC236}">
                <a16:creationId xmlns:a16="http://schemas.microsoft.com/office/drawing/2014/main" id="{35E54515-B091-3E82-24F9-C62B6AF96020}"/>
              </a:ext>
            </a:extLst>
          </p:cNvPr>
          <p:cNvSpPr/>
          <p:nvPr/>
        </p:nvSpPr>
        <p:spPr>
          <a:xfrm>
            <a:off x="5717893" y="936533"/>
            <a:ext cx="6088283" cy="566205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97D01-7BE9-F5E1-E8D7-DA39BB5232A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Proteomics: </a:t>
            </a:r>
            <a:r>
              <a:rPr lang="en-US" dirty="0" err="1"/>
              <a:t>bigbio</a:t>
            </a:r>
            <a:r>
              <a:rPr lang="en-US" dirty="0"/>
              <a:t>/</a:t>
            </a:r>
            <a:r>
              <a:rPr lang="en-US" dirty="0" err="1"/>
              <a:t>quantmsdiann</a:t>
            </a:r>
            <a:r>
              <a:rPr lang="en-US" dirty="0"/>
              <a:t> (DIA-NN)</a:t>
            </a:r>
            <a:endParaRPr lang="en-DK" dirty="0"/>
          </a:p>
        </p:txBody>
      </p:sp>
      <p:pic>
        <p:nvPicPr>
          <p:cNvPr id="3" name="Graphic 2" descr="quantmsdiann_workflow.svg">
            <a:extLst>
              <a:ext uri="{FF2B5EF4-FFF2-40B4-BE49-F238E27FC236}">
                <a16:creationId xmlns:a16="http://schemas.microsoft.com/office/drawing/2014/main" id="{9012010D-3082-DE52-D5CE-0E0DDB0322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087"/>
          <a:stretch>
            <a:fillRect/>
          </a:stretch>
        </p:blipFill>
        <p:spPr>
          <a:xfrm>
            <a:off x="548640" y="1035291"/>
            <a:ext cx="5006132" cy="53061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21CD6F-2698-28E9-4761-3794E87E4966}"/>
              </a:ext>
            </a:extLst>
          </p:cNvPr>
          <p:cNvSpPr txBox="1"/>
          <p:nvPr/>
        </p:nvSpPr>
        <p:spPr>
          <a:xfrm>
            <a:off x="5874851" y="1027830"/>
            <a:ext cx="5768204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l">
              <a:spcAft>
                <a:spcPts val="1200"/>
              </a:spcAft>
              <a:buNone/>
            </a:pPr>
            <a:r>
              <a:rPr lang="en-DK" sz="1400" b="0" i="0" dirty="0">
                <a:solidFill>
                  <a:srgbClr val="1F2328"/>
                </a:solidFill>
                <a:effectLst/>
              </a:rPr>
              <a:t>The pipeline takes 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4"/>
              </a:rPr>
              <a:t>SDRF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metadata (must use the .sdrf.tsv extension) and mass spectrometry data files (.raw, .mzML, .d, .dia, .wiff) as input and performs: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Input validation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SDRF parsing and validation via 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5"/>
              </a:rPr>
              <a:t>sdrf-pipelines</a:t>
            </a:r>
            <a:endParaRPr lang="en-DK" sz="1400" b="0" i="0" dirty="0">
              <a:solidFill>
                <a:srgbClr val="1F2328"/>
              </a:solidFill>
              <a:effectLst/>
            </a:endParaRP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File preparation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RAW to mzML conversion (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6"/>
              </a:rPr>
              <a:t>ThermoRawFileParser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), indexing. WIFF to mzML conversion (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7"/>
              </a:rPr>
              <a:t>WiffConverter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, ghcr.io/bigbio/wiffconverter:0.10)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In-silico spectral library generation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deep learning-based prediction, or use a user-provided library (--speclib)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Preliminary analysis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per-file calibration and mass accuracy estimation (parallelized)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Empirical library assembly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consensus library from preliminary results with RT profiling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Individual analysis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per-file search with the empirical library (parallelized)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Final quantification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protein/peptide/gene group matrices with cross-run normalization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MSstats conversion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DIA-NN report to 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8"/>
              </a:rPr>
              <a:t>MSstats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-compatible format</a:t>
            </a:r>
          </a:p>
          <a:p>
            <a:pPr marL="342900" lvl="0" indent="-342900" algn="l">
              <a:spcAft>
                <a:spcPts val="1200"/>
              </a:spcAft>
              <a:buFont typeface="+mj-lt"/>
              <a:buAutoNum type="arabicPeriod"/>
            </a:pPr>
            <a:r>
              <a:rPr lang="en-DK" sz="1400" b="1" i="0" dirty="0">
                <a:solidFill>
                  <a:srgbClr val="1F2328"/>
                </a:solidFill>
                <a:effectLst/>
              </a:rPr>
              <a:t>Quality control</a:t>
            </a:r>
            <a:r>
              <a:rPr lang="en-DK" sz="1400" b="0" i="0" dirty="0">
                <a:solidFill>
                  <a:srgbClr val="1F2328"/>
                </a:solidFill>
                <a:effectLst/>
              </a:rPr>
              <a:t> — interactive QC report via </a:t>
            </a:r>
            <a:r>
              <a:rPr lang="en-DK" sz="1400" b="0" i="0" u="sng" dirty="0">
                <a:solidFill>
                  <a:srgbClr val="0969DA"/>
                </a:solidFill>
                <a:effectLst/>
                <a:hlinkClick r:id="rId9"/>
              </a:rPr>
              <a:t>pmultiqc</a:t>
            </a:r>
            <a:endParaRPr lang="en-DK" sz="1400" b="0" i="0" dirty="0">
              <a:solidFill>
                <a:srgbClr val="1F2328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7034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veat card">
            <a:extLst>
              <a:ext uri="{FF2B5EF4-FFF2-40B4-BE49-F238E27FC236}">
                <a16:creationId xmlns:a16="http://schemas.microsoft.com/office/drawing/2014/main" id="{8A99CF76-3D6B-5052-13A1-40C208415D07}"/>
              </a:ext>
            </a:extLst>
          </p:cNvPr>
          <p:cNvSpPr/>
          <p:nvPr/>
        </p:nvSpPr>
        <p:spPr>
          <a:xfrm>
            <a:off x="7470943" y="1344706"/>
            <a:ext cx="4467099" cy="4607917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90B9D-36EC-7904-A070-34215215CC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Metabolomics: </a:t>
            </a:r>
            <a:r>
              <a:rPr lang="en-US" dirty="0" err="1"/>
              <a:t>nf</a:t>
            </a:r>
            <a:r>
              <a:rPr lang="en-US" dirty="0"/>
              <a:t>-core/</a:t>
            </a:r>
            <a:r>
              <a:rPr lang="en-US" dirty="0" err="1"/>
              <a:t>metaboigniter</a:t>
            </a:r>
            <a:r>
              <a:rPr lang="en-US" dirty="0"/>
              <a:t> (</a:t>
            </a:r>
            <a:r>
              <a:rPr lang="en-US" dirty="0" err="1"/>
              <a:t>OpenMS</a:t>
            </a:r>
            <a:r>
              <a:rPr lang="en-US" dirty="0"/>
              <a:t>)</a:t>
            </a:r>
            <a:endParaRPr lang="en-DK" dirty="0"/>
          </a:p>
        </p:txBody>
      </p:sp>
      <p:pic>
        <p:nvPicPr>
          <p:cNvPr id="3" name="Picture 2" descr="nf-core/metaboigniter metro map">
            <a:extLst>
              <a:ext uri="{FF2B5EF4-FFF2-40B4-BE49-F238E27FC236}">
                <a16:creationId xmlns:a16="http://schemas.microsoft.com/office/drawing/2014/main" id="{DF68BAD1-51F6-FA35-4927-9DF7F0E2C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57" y="2326467"/>
            <a:ext cx="7246438" cy="2447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2A36DA-6443-246A-8FEA-337A9E02EBD7}"/>
              </a:ext>
            </a:extLst>
          </p:cNvPr>
          <p:cNvSpPr txBox="1"/>
          <p:nvPr/>
        </p:nvSpPr>
        <p:spPr>
          <a:xfrm>
            <a:off x="7602811" y="1551418"/>
            <a:ext cx="433523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Centroiding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Converts the continuous mass spectra into a series of discrete points.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Feature Detection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Identifies unique signals or ‘features’ in the spectra.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Adduct Detection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Identifies adduct ions, which are formed by the interaction of the sample with the ion source.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Alignment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Ensures that the same features across different samples are matched together.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Linking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Establishes connections between features across different ionization modes or adducts.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Requantification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Fills in missing values in the data set for a more complete analysis.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Identification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Uses MS2Query and SIRIUS to identify compounds based on their MS2 spectral data.</a:t>
            </a:r>
          </a:p>
          <a:p>
            <a:pPr marL="342900" lvl="0" indent="-342900" algn="l">
              <a:buFont typeface="+mj-lt"/>
              <a:buAutoNum type="arabicPeriod"/>
            </a:pPr>
            <a:r>
              <a:rPr lang="en-DK" sz="1400" b="1" i="0" dirty="0">
                <a:solidFill>
                  <a:srgbClr val="212529"/>
                </a:solidFill>
                <a:effectLst/>
                <a:latin typeface="+mj-lt"/>
              </a:rPr>
              <a:t>Output Generation</a:t>
            </a:r>
            <a:r>
              <a:rPr lang="en-DK" sz="1400" b="0" i="0" dirty="0">
                <a:solidFill>
                  <a:srgbClr val="212529"/>
                </a:solidFill>
                <a:effectLst/>
                <a:latin typeface="+mj-lt"/>
              </a:rPr>
              <a:t>: Produces a comprehensive list of detected and potentially identified metabolites.</a:t>
            </a:r>
          </a:p>
        </p:txBody>
      </p:sp>
    </p:spTree>
    <p:extLst>
      <p:ext uri="{BB962C8B-B14F-4D97-AF65-F5344CB8AC3E}">
        <p14:creationId xmlns:p14="http://schemas.microsoft.com/office/powerpoint/2010/main" val="3440578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nf-core/metaboigniter (</a:t>
            </a:r>
            <a:r>
              <a:rPr lang="en-US" sz="3200" b="1" dirty="0" err="1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OpenMS</a:t>
            </a: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b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keep in mind if you run the original course another day</a:t>
            </a:r>
            <a:endParaRPr lang="en-US" sz="3200" dirty="0"/>
          </a:p>
        </p:txBody>
      </p:sp>
      <p:sp>
        <p:nvSpPr>
          <p:cNvPr id="3" name="metab step 1"/>
          <p:cNvSpPr/>
          <p:nvPr/>
        </p:nvSpPr>
        <p:spPr>
          <a:xfrm>
            <a:off x="548640" y="14538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 txBox="1"/>
          <p:nvPr/>
        </p:nvSpPr>
        <p:spPr>
          <a:xfrm>
            <a:off x="54864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417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Peak picking</a:t>
            </a:r>
            <a:endParaRPr lang="en-US" sz="1500" dirty="0"/>
          </a:p>
        </p:txBody>
      </p:sp>
      <p:sp>
        <p:nvSpPr>
          <p:cNvPr id="6" name="metab step 2"/>
          <p:cNvSpPr/>
          <p:nvPr/>
        </p:nvSpPr>
        <p:spPr>
          <a:xfrm>
            <a:off x="548640" y="200253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 txBox="1"/>
          <p:nvPr/>
        </p:nvSpPr>
        <p:spPr>
          <a:xfrm>
            <a:off x="54864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Feature detection</a:t>
            </a:r>
            <a:endParaRPr lang="en-US" sz="1500" dirty="0"/>
          </a:p>
        </p:txBody>
      </p:sp>
      <p:sp>
        <p:nvSpPr>
          <p:cNvPr id="9" name="metab step 3"/>
          <p:cNvSpPr/>
          <p:nvPr/>
        </p:nvSpPr>
        <p:spPr>
          <a:xfrm>
            <a:off x="54864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 txBox="1"/>
          <p:nvPr/>
        </p:nvSpPr>
        <p:spPr>
          <a:xfrm>
            <a:off x="54864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514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Adduct grouping</a:t>
            </a:r>
            <a:endParaRPr lang="en-US" sz="1500" dirty="0"/>
          </a:p>
        </p:txBody>
      </p:sp>
      <p:sp>
        <p:nvSpPr>
          <p:cNvPr id="12" name="metab step 4"/>
          <p:cNvSpPr/>
          <p:nvPr/>
        </p:nvSpPr>
        <p:spPr>
          <a:xfrm>
            <a:off x="548640" y="30998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 txBox="1"/>
          <p:nvPr/>
        </p:nvSpPr>
        <p:spPr>
          <a:xfrm>
            <a:off x="5486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RT alignment</a:t>
            </a:r>
            <a:endParaRPr lang="en-US" sz="1500" dirty="0"/>
          </a:p>
        </p:txBody>
      </p:sp>
      <p:sp>
        <p:nvSpPr>
          <p:cNvPr id="15" name="metab step 5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 txBox="1"/>
          <p:nvPr/>
        </p:nvSpPr>
        <p:spPr>
          <a:xfrm>
            <a:off x="54864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Link across samples</a:t>
            </a:r>
            <a:endParaRPr lang="en-US" sz="1500" dirty="0"/>
          </a:p>
        </p:txBody>
      </p:sp>
      <p:sp>
        <p:nvSpPr>
          <p:cNvPr id="18" name="metab step 6"/>
          <p:cNvSpPr/>
          <p:nvPr/>
        </p:nvSpPr>
        <p:spPr>
          <a:xfrm>
            <a:off x="548640" y="41970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 txBox="1"/>
          <p:nvPr/>
        </p:nvSpPr>
        <p:spPr>
          <a:xfrm>
            <a:off x="54864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160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Requantify</a:t>
            </a:r>
            <a:endParaRPr lang="en-US" sz="1500" dirty="0"/>
          </a:p>
        </p:txBody>
      </p:sp>
      <p:sp>
        <p:nvSpPr>
          <p:cNvPr id="21" name="metab step 7"/>
          <p:cNvSpPr/>
          <p:nvPr/>
        </p:nvSpPr>
        <p:spPr>
          <a:xfrm>
            <a:off x="548640" y="474573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2" name="Text 20"/>
          <p:cNvSpPr txBox="1"/>
          <p:nvPr/>
        </p:nvSpPr>
        <p:spPr>
          <a:xfrm>
            <a:off x="5486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Identify (SIRIUS, MS2Query)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 feature table: m/z · RT · adduct · intensity per sample</a:t>
            </a:r>
            <a:endParaRPr lang="en-US" sz="1400" dirty="0"/>
          </a:p>
        </p:txBody>
      </p:sp>
      <p:sp>
        <p:nvSpPr>
          <p:cNvPr id="25" name="caveat card"/>
          <p:cNvSpPr/>
          <p:nvPr/>
        </p:nvSpPr>
        <p:spPr>
          <a:xfrm>
            <a:off x="6035040" y="1417320"/>
            <a:ext cx="5608015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6" name="caveat disc"/>
          <p:cNvSpPr/>
          <p:nvPr/>
        </p:nvSpPr>
        <p:spPr>
          <a:xfrm>
            <a:off x="6263640" y="16459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27" name="caveat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090" y="1817370"/>
            <a:ext cx="342900" cy="3429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86600" y="16916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cohort cannot go through it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metaboigniter is untargeted: it picks peaks from full-scan spectra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MTBLS14016 is targeted MRM: each mzML holds ~1 550 SRM chromatograms and zero spectra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Course solution: show where an MRM peak area comes from, then run metaboigniter on a small untargeted study (MTBLS8735)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The cohort matrix = vendor-integrated MRM peak areas</a:t>
            </a:r>
            <a:endParaRPr lang="en-US" sz="15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Traps that come with real public data</a:t>
            </a:r>
            <a:endParaRPr lang="en-US" sz="3200" dirty="0"/>
          </a:p>
        </p:txBody>
      </p:sp>
      <p:sp>
        <p:nvSpPr>
          <p:cNvPr id="3" name="trap 1"/>
          <p:cNvSpPr/>
          <p:nvPr/>
        </p:nvSpPr>
        <p:spPr>
          <a:xfrm>
            <a:off x="548640" y="14173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rap 1 disc"/>
          <p:cNvSpPr/>
          <p:nvPr/>
        </p:nvSpPr>
        <p:spPr>
          <a:xfrm>
            <a:off x="77724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5" name="trap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names differ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19456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DIA-NN headers say CPKP1–15, everything else CRKP1–15. Join on the wrong string and 15 patients vanish silently.</a:t>
            </a:r>
            <a:endParaRPr lang="en-US" sz="1400" dirty="0"/>
          </a:p>
        </p:txBody>
      </p:sp>
      <p:sp>
        <p:nvSpPr>
          <p:cNvPr id="8" name="trap 2"/>
          <p:cNvSpPr/>
          <p:nvPr/>
        </p:nvSpPr>
        <p:spPr>
          <a:xfrm>
            <a:off x="6172200" y="14173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rap 2 disc"/>
          <p:cNvSpPr/>
          <p:nvPr/>
        </p:nvSpPr>
        <p:spPr>
          <a:xfrm>
            <a:off x="640080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0" name="trap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18630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QCs are not patients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219456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QC_pool1–3 vs QC01–06 — exclude before integrating. The notebooks assert 45 shared patients.</a:t>
            </a:r>
            <a:endParaRPr lang="en-US" sz="1400" dirty="0"/>
          </a:p>
        </p:txBody>
      </p:sp>
      <p:sp>
        <p:nvSpPr>
          <p:cNvPr id="13" name="trap 3"/>
          <p:cNvSpPr/>
          <p:nvPr/>
        </p:nvSpPr>
        <p:spPr>
          <a:xfrm>
            <a:off x="548640" y="35661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rap 3 disc"/>
          <p:cNvSpPr/>
          <p:nvPr/>
        </p:nvSpPr>
        <p:spPr>
          <a:xfrm>
            <a:off x="777240" y="3840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5" name="trap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690" y="40119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 metadata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645920" y="434340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The two MetaboLights MAF files are byte-identical; assay tables pair samples with the wrong files.</a:t>
            </a:r>
            <a:endParaRPr lang="en-US" sz="1400" dirty="0"/>
          </a:p>
        </p:txBody>
      </p:sp>
      <p:sp>
        <p:nvSpPr>
          <p:cNvPr id="18" name="trap 4"/>
          <p:cNvSpPr/>
          <p:nvPr/>
        </p:nvSpPr>
        <p:spPr>
          <a:xfrm>
            <a:off x="6172200" y="35661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rap 4 disc"/>
          <p:cNvSpPr/>
          <p:nvPr/>
        </p:nvSpPr>
        <p:spPr>
          <a:xfrm>
            <a:off x="6400800" y="3840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20" name="trap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50" y="401193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order = group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434340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All Con, then all CSKP, then all CRKP. Instrument drift is inseparable from biology; no injection order for metabolomics.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Design lesson that costs nothing at the bench: randomise or interleave injection order — and deposit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·  What each layer says on its own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comparison: CRKP vs CSKP — same bacterium, different resistance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Proteomics: six decisions from matrix to list</a:t>
            </a:r>
            <a:endParaRPr lang="en-US" sz="3200" dirty="0"/>
          </a:p>
        </p:txBody>
      </p:sp>
      <p:sp>
        <p:nvSpPr>
          <p:cNvPr id="3" name="prot flow log2"/>
          <p:cNvSpPr/>
          <p:nvPr/>
        </p:nvSpPr>
        <p:spPr>
          <a:xfrm>
            <a:off x="548640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 txBox="1"/>
          <p:nvPr/>
        </p:nvSpPr>
        <p:spPr>
          <a:xfrm>
            <a:off x="777240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log2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multiplicative → additive</a:t>
            </a:r>
            <a:endParaRPr lang="en-US" sz="1300" dirty="0"/>
          </a:p>
        </p:txBody>
      </p:sp>
      <p:sp>
        <p:nvSpPr>
          <p:cNvPr id="6" name="prot flow Filter"/>
          <p:cNvSpPr/>
          <p:nvPr/>
        </p:nvSpPr>
        <p:spPr>
          <a:xfrm>
            <a:off x="2420569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 txBox="1"/>
          <p:nvPr/>
        </p:nvSpPr>
        <p:spPr>
          <a:xfrm>
            <a:off x="2649169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Filter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420569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≥ 70 % of patients</a:t>
            </a:r>
            <a:endParaRPr lang="en-US" sz="1300" dirty="0"/>
          </a:p>
        </p:txBody>
      </p:sp>
      <p:sp>
        <p:nvSpPr>
          <p:cNvPr id="9" name="prot flow Impute"/>
          <p:cNvSpPr/>
          <p:nvPr/>
        </p:nvSpPr>
        <p:spPr>
          <a:xfrm>
            <a:off x="4292498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 txBox="1"/>
          <p:nvPr/>
        </p:nvSpPr>
        <p:spPr>
          <a:xfrm>
            <a:off x="452109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Impute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down-shifted normal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(missing = low)</a:t>
            </a:r>
            <a:endParaRPr lang="en-US" sz="1300" dirty="0"/>
          </a:p>
        </p:txBody>
      </p:sp>
      <p:sp>
        <p:nvSpPr>
          <p:cNvPr id="12" name="prot flow Normalise"/>
          <p:cNvSpPr/>
          <p:nvPr/>
        </p:nvSpPr>
        <p:spPr>
          <a:xfrm>
            <a:off x="6164428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 txBox="1"/>
          <p:nvPr/>
        </p:nvSpPr>
        <p:spPr>
          <a:xfrm>
            <a:off x="639302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Normalise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6442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sample median</a:t>
            </a:r>
            <a:endParaRPr lang="en-US" sz="1300" dirty="0"/>
          </a:p>
        </p:txBody>
      </p:sp>
      <p:sp>
        <p:nvSpPr>
          <p:cNvPr id="15" name="prot flow Test"/>
          <p:cNvSpPr/>
          <p:nvPr/>
        </p:nvSpPr>
        <p:spPr>
          <a:xfrm>
            <a:off x="8036357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 txBox="1"/>
          <p:nvPr/>
        </p:nvSpPr>
        <p:spPr>
          <a:xfrm>
            <a:off x="8264957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036357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ANOVA, t-test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CRKP vs CSKP</a:t>
            </a:r>
            <a:endParaRPr lang="en-US" sz="1300" dirty="0"/>
          </a:p>
        </p:txBody>
      </p:sp>
      <p:sp>
        <p:nvSpPr>
          <p:cNvPr id="18" name="prot flow Enrich"/>
          <p:cNvSpPr/>
          <p:nvPr/>
        </p:nvSpPr>
        <p:spPr>
          <a:xfrm>
            <a:off x="9908286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 txBox="1"/>
          <p:nvPr/>
        </p:nvSpPr>
        <p:spPr>
          <a:xfrm>
            <a:off x="10136886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Enrich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908286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GO / KEGG,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measured background</a:t>
            </a:r>
            <a:endParaRPr lang="en-US" sz="1300" dirty="0"/>
          </a:p>
        </p:txBody>
      </p:sp>
      <p:sp>
        <p:nvSpPr>
          <p:cNvPr id="21" name="prot stat 1"/>
          <p:cNvSpPr/>
          <p:nvPr/>
        </p:nvSpPr>
        <p:spPr>
          <a:xfrm>
            <a:off x="54864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2" name="Text 20"/>
          <p:cNvSpPr txBox="1"/>
          <p:nvPr/>
        </p:nvSpPr>
        <p:spPr>
          <a:xfrm>
            <a:off x="77724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1 458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protein groups</a:t>
            </a:r>
            <a:endParaRPr lang="en-US" sz="1400" dirty="0"/>
          </a:p>
        </p:txBody>
      </p:sp>
      <p:sp>
        <p:nvSpPr>
          <p:cNvPr id="24" name="prot stat 2"/>
          <p:cNvSpPr/>
          <p:nvPr/>
        </p:nvSpPr>
        <p:spPr>
          <a:xfrm>
            <a:off x="338328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3"/>
          <p:cNvSpPr txBox="1"/>
          <p:nvPr/>
        </p:nvSpPr>
        <p:spPr>
          <a:xfrm>
            <a:off x="361188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published DEPs, CRKP vs CSKP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(68 up · 17 down)</a:t>
            </a:r>
            <a:endParaRPr lang="en-US" sz="1400" dirty="0"/>
          </a:p>
        </p:txBody>
      </p:sp>
      <p:sp>
        <p:nvSpPr>
          <p:cNvPr id="27" name="prot stat 3"/>
          <p:cNvSpPr/>
          <p:nvPr/>
        </p:nvSpPr>
        <p:spPr>
          <a:xfrm>
            <a:off x="621792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8" name="Text 26"/>
          <p:cNvSpPr txBox="1"/>
          <p:nvPr/>
        </p:nvSpPr>
        <p:spPr>
          <a:xfrm>
            <a:off x="644652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proteins rising stepwise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Con → CSKP → CRKP</a:t>
            </a:r>
            <a:endParaRPr lang="en-US" sz="1400" dirty="0"/>
          </a:p>
        </p:txBody>
      </p:sp>
      <p:sp>
        <p:nvSpPr>
          <p:cNvPr id="30" name="prot stat 4"/>
          <p:cNvSpPr/>
          <p:nvPr/>
        </p:nvSpPr>
        <p:spPr>
          <a:xfrm>
            <a:off x="905256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1" name="Text 29"/>
          <p:cNvSpPr txBox="1"/>
          <p:nvPr/>
        </p:nvSpPr>
        <p:spPr>
          <a:xfrm>
            <a:off x="928116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AUC, 4-protein panel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(discovery cohort)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Paper's DEP rule: unadjusted p &lt; 0.05 and |log2FC| ≥ 0.58 — far fewer proteins survive 5 % FDR. Hypothesis-generating, then validated by PRM.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Proteomics: antigen presentation and a 4-protein panel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71600"/>
          <a:ext cx="60350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* driven by the same HLA-C / B2M / CALR genes</a:t>
            </a:r>
            <a:endParaRPr lang="en-US" sz="1100" dirty="0"/>
          </a:p>
        </p:txBody>
      </p:sp>
      <p:sp>
        <p:nvSpPr>
          <p:cNvPr id="5" name="prot finding 1"/>
          <p:cNvSpPr/>
          <p:nvPr/>
        </p:nvSpPr>
        <p:spPr>
          <a:xfrm>
            <a:off x="6949440" y="150876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 txBox="1"/>
          <p:nvPr/>
        </p:nvSpPr>
        <p:spPr>
          <a:xfrm>
            <a:off x="7406640" y="1463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Immune recognition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HLA-C, B2M, CALR, CANX, CTSL — MHC class I antigen presentation shifts with resistance</a:t>
            </a:r>
            <a:endParaRPr lang="en-US" sz="1400" dirty="0"/>
          </a:p>
        </p:txBody>
      </p:sp>
      <p:sp>
        <p:nvSpPr>
          <p:cNvPr id="8" name="prot finding 2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 txBox="1"/>
          <p:nvPr/>
        </p:nvSpPr>
        <p:spPr>
          <a:xfrm>
            <a:off x="7406640" y="2788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Diagnostic panel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32004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IGHV1-8 · ITGA2 · PKP1 · IGFBP6 — AUC 0.920 (LASSO, 70/30 split), confirmed by PRM in a second cohort</a:t>
            </a:r>
            <a:endParaRPr lang="en-US" sz="1400" dirty="0"/>
          </a:p>
        </p:txBody>
      </p:sp>
      <p:sp>
        <p:nvSpPr>
          <p:cNvPr id="11" name="prot finding 3"/>
          <p:cNvSpPr/>
          <p:nvPr/>
        </p:nvSpPr>
        <p:spPr>
          <a:xfrm>
            <a:off x="6949440" y="416052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 txBox="1"/>
          <p:nvPr/>
        </p:nvSpPr>
        <p:spPr>
          <a:xfrm>
            <a:off x="7406640" y="41148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Network hubs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526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CD44 and B2M; coagulation (VWF) among stepwise-rising proteins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the QC samples become the ruler</a:t>
            </a:r>
            <a:endParaRPr lang="en-US" sz="3200" dirty="0"/>
          </a:p>
        </p:txBody>
      </p:sp>
      <p:sp>
        <p:nvSpPr>
          <p:cNvPr id="3" name="metab flow 80 % rule"/>
          <p:cNvSpPr/>
          <p:nvPr/>
        </p:nvSpPr>
        <p:spPr>
          <a:xfrm>
            <a:off x="548640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 txBox="1"/>
          <p:nvPr/>
        </p:nvSpPr>
        <p:spPr>
          <a:xfrm>
            <a:off x="777240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80 % rule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measured in ≥ 80 % of patients</a:t>
            </a:r>
            <a:endParaRPr lang="en-US" sz="1300" dirty="0"/>
          </a:p>
        </p:txBody>
      </p:sp>
      <p:sp>
        <p:nvSpPr>
          <p:cNvPr id="6" name="metab flow CV filter"/>
          <p:cNvSpPr/>
          <p:nvPr/>
        </p:nvSpPr>
        <p:spPr>
          <a:xfrm>
            <a:off x="2420569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 txBox="1"/>
          <p:nvPr/>
        </p:nvSpPr>
        <p:spPr>
          <a:xfrm>
            <a:off x="2649169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CV filter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20569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QC CV &lt; patient CV</a:t>
            </a:r>
            <a:endParaRPr lang="en-US" sz="1300" dirty="0"/>
          </a:p>
        </p:txBody>
      </p:sp>
      <p:sp>
        <p:nvSpPr>
          <p:cNvPr id="9" name="metab flow D-ratio ≤ 0.5"/>
          <p:cNvSpPr/>
          <p:nvPr/>
        </p:nvSpPr>
        <p:spPr>
          <a:xfrm>
            <a:off x="4292498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 txBox="1"/>
          <p:nvPr/>
        </p:nvSpPr>
        <p:spPr>
          <a:xfrm>
            <a:off x="452109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D-ratio ≤ 0.5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technical / biological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dispersion (MAD)</a:t>
            </a:r>
            <a:endParaRPr lang="en-US" sz="1300" dirty="0"/>
          </a:p>
        </p:txBody>
      </p:sp>
      <p:sp>
        <p:nvSpPr>
          <p:cNvPr id="12" name="metab flow Half-min"/>
          <p:cNvSpPr/>
          <p:nvPr/>
        </p:nvSpPr>
        <p:spPr>
          <a:xfrm>
            <a:off x="6164428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 txBox="1"/>
          <p:nvPr/>
        </p:nvSpPr>
        <p:spPr>
          <a:xfrm>
            <a:off x="639302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Half-min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6442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missing = below LOQ</a:t>
            </a:r>
            <a:endParaRPr lang="en-US" sz="1300" dirty="0"/>
          </a:p>
        </p:txBody>
      </p:sp>
      <p:sp>
        <p:nvSpPr>
          <p:cNvPr id="15" name="metab flow ANCOVA"/>
          <p:cNvSpPr/>
          <p:nvPr/>
        </p:nvSpPr>
        <p:spPr>
          <a:xfrm>
            <a:off x="8036357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 txBox="1"/>
          <p:nvPr/>
        </p:nvSpPr>
        <p:spPr>
          <a:xfrm>
            <a:off x="8264957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ANCOVA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036357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group effect,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adjusted for age</a:t>
            </a:r>
            <a:endParaRPr lang="en-US" sz="1300" dirty="0"/>
          </a:p>
        </p:txBody>
      </p:sp>
      <p:sp>
        <p:nvSpPr>
          <p:cNvPr id="18" name="metab flow KEGG"/>
          <p:cNvSpPr/>
          <p:nvPr/>
        </p:nvSpPr>
        <p:spPr>
          <a:xfrm>
            <a:off x="9908286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 txBox="1"/>
          <p:nvPr/>
        </p:nvSpPr>
        <p:spPr>
          <a:xfrm>
            <a:off x="10136886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KEGG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908286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</a:rPr>
              <a:t>compound → pathway</a:t>
            </a:r>
            <a:endParaRPr lang="en-US" sz="1300" dirty="0"/>
          </a:p>
        </p:txBody>
      </p:sp>
      <p:sp>
        <p:nvSpPr>
          <p:cNvPr id="21" name="metab stat 1"/>
          <p:cNvSpPr/>
          <p:nvPr/>
        </p:nvSpPr>
        <p:spPr>
          <a:xfrm>
            <a:off x="54864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2" name="Text 20"/>
          <p:cNvSpPr txBox="1"/>
          <p:nvPr/>
        </p:nvSpPr>
        <p:spPr>
          <a:xfrm>
            <a:off x="77724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1 073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named metabolites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+ 6 pooled QC injections</a:t>
            </a:r>
            <a:endParaRPr lang="en-US" sz="1400" dirty="0"/>
          </a:p>
        </p:txBody>
      </p:sp>
      <p:sp>
        <p:nvSpPr>
          <p:cNvPr id="24" name="metab stat 2"/>
          <p:cNvSpPr/>
          <p:nvPr/>
        </p:nvSpPr>
        <p:spPr>
          <a:xfrm>
            <a:off x="338328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3"/>
          <p:cNvSpPr txBox="1"/>
          <p:nvPr/>
        </p:nvSpPr>
        <p:spPr>
          <a:xfrm>
            <a:off x="361188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published DEMs, CRKP vs CSKP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(71 up · 57 down)</a:t>
            </a:r>
            <a:endParaRPr lang="en-US" sz="1400" dirty="0"/>
          </a:p>
        </p:txBody>
      </p:sp>
      <p:sp>
        <p:nvSpPr>
          <p:cNvPr id="27" name="metab stat 3"/>
          <p:cNvSpPr/>
          <p:nvPr/>
        </p:nvSpPr>
        <p:spPr>
          <a:xfrm>
            <a:off x="621792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8" name="Text 26"/>
          <p:cNvSpPr txBox="1"/>
          <p:nvPr/>
        </p:nvSpPr>
        <p:spPr>
          <a:xfrm>
            <a:off x="644652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VIP &gt; 1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OPLS-DA + t-test p &lt; 0.05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(paper's rule)</a:t>
            </a:r>
            <a:endParaRPr lang="en-US" sz="1400" dirty="0"/>
          </a:p>
        </p:txBody>
      </p:sp>
      <p:sp>
        <p:nvSpPr>
          <p:cNvPr id="30" name="metab stat 4"/>
          <p:cNvSpPr/>
          <p:nvPr/>
        </p:nvSpPr>
        <p:spPr>
          <a:xfrm>
            <a:off x="905256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1" name="Text 29"/>
          <p:cNvSpPr txBox="1"/>
          <p:nvPr/>
        </p:nvSpPr>
        <p:spPr>
          <a:xfrm>
            <a:off x="928116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drift correction possible —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injection order never deposited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Three steps differ from proteomics: QC-based filtering, a different meaning of 'missing', and a covariate in the test.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lipid fuel and amino-acid metabolism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71600"/>
          <a:ext cx="60350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Broad maps (Metabolic pathways, 31; Thermogenesis, 16) omitted</a:t>
            </a:r>
            <a:endParaRPr lang="en-US" sz="1100" dirty="0"/>
          </a:p>
        </p:txBody>
      </p:sp>
      <p:sp>
        <p:nvSpPr>
          <p:cNvPr id="5" name="metab finding 1"/>
          <p:cNvSpPr/>
          <p:nvPr/>
        </p:nvSpPr>
        <p:spPr>
          <a:xfrm>
            <a:off x="6949440" y="15087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 txBox="1"/>
          <p:nvPr/>
        </p:nvSpPr>
        <p:spPr>
          <a:xfrm>
            <a:off x="7406640" y="1463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Fatty-acid fuel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Acylcarnitines (C16-OH, C17:0) and free fatty acids higher in CRKP — a shift in mitochondrial fuel use</a:t>
            </a:r>
            <a:endParaRPr lang="en-US" sz="1400" dirty="0"/>
          </a:p>
        </p:txBody>
      </p:sp>
      <p:sp>
        <p:nvSpPr>
          <p:cNvPr id="8" name="metab finding 2"/>
          <p:cNvSpPr/>
          <p:nvPr/>
        </p:nvSpPr>
        <p:spPr>
          <a:xfrm>
            <a:off x="6949440" y="283464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 txBox="1"/>
          <p:nvPr/>
        </p:nvSpPr>
        <p:spPr>
          <a:xfrm>
            <a:off x="7406640" y="2788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Amino acids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32004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Lysine up; amino-acid biosynthesis, D-amino-acid and arginine/proline pathways enriched</a:t>
            </a:r>
            <a:endParaRPr lang="en-US" sz="1400" dirty="0"/>
          </a:p>
        </p:txBody>
      </p:sp>
      <p:sp>
        <p:nvSpPr>
          <p:cNvPr id="11" name="metab finding 3"/>
          <p:cNvSpPr/>
          <p:nvPr/>
        </p:nvSpPr>
        <p:spPr>
          <a:xfrm>
            <a:off x="6949440" y="416052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 txBox="1"/>
          <p:nvPr/>
        </p:nvSpPr>
        <p:spPr>
          <a:xfrm>
            <a:off x="7406640" y="41148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Methionine cycle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526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Cysteine &amp; methionine metabolism — the pathway where the two layers will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ADF394-D050-62A5-5E1E-70C3DF3720D8}"/>
              </a:ext>
            </a:extLst>
          </p:cNvPr>
          <p:cNvSpPr txBox="1"/>
          <p:nvPr/>
        </p:nvSpPr>
        <p:spPr>
          <a:xfrm>
            <a:off x="6583680" y="3859306"/>
            <a:ext cx="5437991" cy="1444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DK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lessons before we integrate</a:t>
            </a:r>
            <a:endParaRPr lang="en-US" sz="3200" dirty="0"/>
          </a:p>
        </p:txBody>
      </p:sp>
      <p:sp>
        <p:nvSpPr>
          <p:cNvPr id="3" name="lesson 1"/>
          <p:cNvSpPr/>
          <p:nvPr/>
        </p:nvSpPr>
        <p:spPr>
          <a:xfrm>
            <a:off x="548640" y="146304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lesson 1 disc"/>
          <p:cNvSpPr/>
          <p:nvPr/>
        </p:nvSpPr>
        <p:spPr>
          <a:xfrm>
            <a:off x="868680" y="17373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5" name="lesson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743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 dominates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8328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In PCA neither layer separates Con, CSKP and CRKP. The largest variance is how ill each patient is — the resistance signal is a small perturbation on top.</a:t>
            </a:r>
            <a:endParaRPr lang="en-US" sz="1600" dirty="0"/>
          </a:p>
        </p:txBody>
      </p:sp>
      <p:sp>
        <p:nvSpPr>
          <p:cNvPr id="8" name="lesson 2"/>
          <p:cNvSpPr/>
          <p:nvPr/>
        </p:nvSpPr>
        <p:spPr>
          <a:xfrm>
            <a:off x="6172200" y="146304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accent4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lesson 2 disc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0" name="lesson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19431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2743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list = data + choices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38328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Re-analysing the same matrix reproduces the published effect sizes closely, but not the same list. Filtering, imputation and thresholds change membership.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So the question for integration is not 'do the groups separate?' but 'what structure is shared, and where does mechanism cross layers?'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·  Integration in </a:t>
            </a:r>
            <a:r>
              <a:rPr lang="en-US" dirty="0"/>
              <a:t>few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minutes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to start the notebooks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combine two layers</a:t>
            </a:r>
            <a:endParaRPr lang="en-US" sz="3200" dirty="0"/>
          </a:p>
        </p:txBody>
      </p:sp>
      <p:sp>
        <p:nvSpPr>
          <p:cNvPr id="3" name="strategy Early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strategy head Early"/>
          <p:cNvSpPr/>
          <p:nvPr/>
        </p:nvSpPr>
        <p:spPr>
          <a:xfrm>
            <a:off x="82296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Concatenate matrices, analyse as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PCA, penalised regression on the joint matrix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The wider, noisier layer shouts down the other</a:t>
            </a:r>
            <a:endParaRPr lang="en-US" sz="1400" dirty="0"/>
          </a:p>
        </p:txBody>
      </p:sp>
      <p:sp>
        <p:nvSpPr>
          <p:cNvPr id="9" name="strategy Intermediate"/>
          <p:cNvSpPr/>
          <p:nvPr/>
        </p:nvSpPr>
        <p:spPr>
          <a:xfrm>
            <a:off x="429768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0" name="strategy head Intermediate"/>
          <p:cNvSpPr/>
          <p:nvPr/>
        </p:nvSpPr>
        <p:spPr>
          <a:xfrm>
            <a:off x="457200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 txBox="1"/>
          <p:nvPr/>
        </p:nvSpPr>
        <p:spPr>
          <a:xfrm>
            <a:off x="457200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 a shared latent space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SNF, MOFA, MCIA, DIABLO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Default for discovery — Hands-on I</a:t>
            </a:r>
            <a:endParaRPr lang="en-US" sz="1400" dirty="0"/>
          </a:p>
        </p:txBody>
      </p:sp>
      <p:sp>
        <p:nvSpPr>
          <p:cNvPr id="15" name="strategy Late"/>
          <p:cNvSpPr/>
          <p:nvPr/>
        </p:nvSpPr>
        <p:spPr>
          <a:xfrm>
            <a:off x="804672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6" name="strategy head Late"/>
          <p:cNvSpPr/>
          <p:nvPr/>
        </p:nvSpPr>
        <p:spPr>
          <a:xfrm>
            <a:off x="832104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 txBox="1"/>
          <p:nvPr/>
        </p:nvSpPr>
        <p:spPr>
          <a:xfrm>
            <a:off x="832104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Analyse each layer, combine results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Joint pathway analysis, rank aggregation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Interpretable, robust — Hands-on II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Unsupervised first: with 15 per group, supervised methods overfit. Use labels only to check what you found.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zero: two views of the same patients</a:t>
            </a:r>
            <a:endParaRPr lang="en-US" sz="3200" dirty="0"/>
          </a:p>
        </p:txBody>
      </p:sp>
      <p:sp>
        <p:nvSpPr>
          <p:cNvPr id="3" name="prep 1"/>
          <p:cNvSpPr/>
          <p:nvPr/>
        </p:nvSpPr>
        <p:spPr>
          <a:xfrm>
            <a:off x="548640" y="141732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17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Intersect IDs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assert 45 shared patients</a:t>
            </a:r>
            <a:endParaRPr lang="en-US" sz="1500" dirty="0"/>
          </a:p>
        </p:txBody>
      </p:sp>
      <p:sp>
        <p:nvSpPr>
          <p:cNvPr id="7" name="prep 2"/>
          <p:cNvSpPr/>
          <p:nvPr/>
        </p:nvSpPr>
        <p:spPr>
          <a:xfrm>
            <a:off x="548640" y="219456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 txBox="1"/>
          <p:nvPr/>
        </p:nvSpPr>
        <p:spPr>
          <a:xfrm>
            <a:off x="5486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log2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both are multiplicative</a:t>
            </a:r>
            <a:endParaRPr lang="en-US" sz="1500" dirty="0"/>
          </a:p>
        </p:txBody>
      </p:sp>
      <p:sp>
        <p:nvSpPr>
          <p:cNvPr id="11" name="prep 3"/>
          <p:cNvSpPr/>
          <p:nvPr/>
        </p:nvSpPr>
        <p:spPr>
          <a:xfrm>
            <a:off x="548640" y="297180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Filter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≤ 30 % missing</a:t>
            </a:r>
            <a:endParaRPr lang="en-US" sz="1500" dirty="0"/>
          </a:p>
        </p:txBody>
      </p:sp>
      <p:sp>
        <p:nvSpPr>
          <p:cNvPr id="15" name="prep 4"/>
          <p:cNvSpPr/>
          <p:nvPr/>
        </p:nvSpPr>
        <p:spPr>
          <a:xfrm>
            <a:off x="548640" y="374904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Impute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feature minimum</a:t>
            </a:r>
            <a:endParaRPr lang="en-US" sz="1500" dirty="0"/>
          </a:p>
        </p:txBody>
      </p:sp>
      <p:sp>
        <p:nvSpPr>
          <p:cNvPr id="19" name="prep 5"/>
          <p:cNvSpPr/>
          <p:nvPr/>
        </p:nvSpPr>
        <p:spPr>
          <a:xfrm>
            <a:off x="548640" y="452628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526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z-score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4526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per feature</a:t>
            </a:r>
            <a:endParaRPr lang="en-US" sz="1500" dirty="0"/>
          </a:p>
        </p:txBody>
      </p:sp>
      <p:sp>
        <p:nvSpPr>
          <p:cNvPr id="23" name="assert code"/>
          <p:cNvSpPr/>
          <p:nvPr/>
        </p:nvSpPr>
        <p:spPr>
          <a:xfrm>
            <a:off x="6217920" y="1417320"/>
            <a:ext cx="5425135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4" name="Text 22"/>
          <p:cNvSpPr txBox="1"/>
          <p:nvPr/>
        </p:nvSpPr>
        <p:spPr>
          <a:xfrm>
            <a:off x="6446520" y="16002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= [s for s in metadata.index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 in proteins and s in metabolites]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 len(shared) == 45,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"layers no longer describe one cohort"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291840"/>
            <a:ext cx="54251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Silent sample mismatches are the most common way multi-omics produces confident nonsense: shapes still match, code still runs.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z-scoring stops one feature dominating by units and one layer dominating by dynamic range.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you will run</a:t>
            </a:r>
            <a:endParaRPr lang="en-US" sz="3200" dirty="0"/>
          </a:p>
        </p:txBody>
      </p:sp>
      <p:sp>
        <p:nvSpPr>
          <p:cNvPr id="3" name="method 1"/>
          <p:cNvSpPr/>
          <p:nvPr/>
        </p:nvSpPr>
        <p:spPr>
          <a:xfrm>
            <a:off x="548640" y="141732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method 1 disc"/>
          <p:cNvSpPr/>
          <p:nvPr/>
        </p:nvSpPr>
        <p:spPr>
          <a:xfrm>
            <a:off x="822960" y="16459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5" name="method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18402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45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Similarity Network Fusion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Compare patients, not features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Per layer: patient × patient similarity network (K nearest neighbours)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Fuse by diffusion: similarities supported by both layers are reinforced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Spectral clustering → compare clusters with groups (NMI, ARI) and clinical labs</a:t>
            </a:r>
            <a:endParaRPr lang="en-US" sz="1500" dirty="0"/>
          </a:p>
        </p:txBody>
      </p:sp>
      <p:sp>
        <p:nvSpPr>
          <p:cNvPr id="9" name="method 2"/>
          <p:cNvSpPr/>
          <p:nvPr/>
        </p:nvSpPr>
        <p:spPr>
          <a:xfrm>
            <a:off x="6172200" y="141732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method 2 disc"/>
          <p:cNvSpPr/>
          <p:nvPr/>
        </p:nvSpPr>
        <p:spPr>
          <a:xfrm>
            <a:off x="6446520" y="16459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1" name="method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830" y="18402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645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Factor Analysis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Find the sources of variation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69748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Data ≈ factors (Z) × weights (W), one weight matrix per layer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Variance explained per factor and layer: shared vs layer-specific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Correlate factors with group, CRP, PCT, creatinine; inspect top weights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Mantel test first: do patients who look alike in the proteome also look alike in the metabolome?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two notebooks in Google Colab</a:t>
            </a:r>
            <a:endParaRPr lang="en-US" sz="3200" dirty="0"/>
          </a:p>
        </p:txBody>
      </p:sp>
      <p:sp>
        <p:nvSpPr>
          <p:cNvPr id="3" name="notebook 1"/>
          <p:cNvSpPr/>
          <p:nvPr/>
        </p:nvSpPr>
        <p:spPr>
          <a:xfrm>
            <a:off x="548640" y="1371600"/>
            <a:ext cx="54406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notebook 1 disc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5" name="notebook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I — Integration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600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~35 min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notebooks/01_multiomics_integration.ipynb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Questions to answer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832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Is the Mantel correlation positive? Shared or complementary signal?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Do SNF clusters match the groups — or a clinical lab?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Which MOFA factor tracks group, which tracks CRP / creatinine?</a:t>
            </a:r>
            <a:endParaRPr lang="en-US" sz="1500" dirty="0"/>
          </a:p>
        </p:txBody>
      </p:sp>
      <p:sp>
        <p:nvSpPr>
          <p:cNvPr id="11" name="notebook 2"/>
          <p:cNvSpPr/>
          <p:nvPr/>
        </p:nvSpPr>
        <p:spPr>
          <a:xfrm>
            <a:off x="6172200" y="1371600"/>
            <a:ext cx="54406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/>
          <a:effectLst>
            <a:outerShdw blurRad="76200" dist="25400" dir="5400000" algn="bl" rotWithShape="0">
              <a:srgbClr val="8A96A8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notebook 2 disc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13" name="notebook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60920" y="1600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II — Networks &amp; pathways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0" y="1600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~35 min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notebooks/02_multiomics_networks(_with_AUC).ipynb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Questions to answer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33832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How many protein–metabolite edges survive FDR 5 % vs 20 %?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Who are the hubs — controllers or markers of global state?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Does MAT2B correlate with SAM? Would you believe it?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github.com/biosustain/dsp_multiomics_workshop  ·  open each notebook from the README  ·  Runtime → Run all first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home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Preprocessing is a chain of decisions — pin pipelines, record metadata, randomise run order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 differential list is the data plus the analyst's choices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Integration pays off where mechanism crosses layers, not where groups separate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Networks generate hypotheses; validation needs another cohort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omics DBC">
  <a:themeElements>
    <a:clrScheme name="Multiomics DBC">
      <a:dk1>
        <a:srgbClr val="15233B"/>
      </a:dk1>
      <a:lt1>
        <a:srgbClr val="FFFFFF"/>
      </a:lt1>
      <a:dk2>
        <a:srgbClr val="2B3B57"/>
      </a:dk2>
      <a:lt2>
        <a:srgbClr val="EEF2F7"/>
      </a:lt2>
      <a:accent1>
        <a:srgbClr val="4C72B0"/>
      </a:accent1>
      <a:accent2>
        <a:srgbClr val="DD8452"/>
      </a:accent2>
      <a:accent3>
        <a:srgbClr val="C44E52"/>
      </a:accent3>
      <a:accent4>
        <a:srgbClr val="2A9D8F"/>
      </a:accent4>
      <a:accent5>
        <a:srgbClr val="5B6573"/>
      </a:accent5>
      <a:accent6>
        <a:srgbClr val="C9D1DC"/>
      </a:accent6>
      <a:hlink>
        <a:srgbClr val="4C72B0"/>
      </a:hlink>
      <a:folHlink>
        <a:srgbClr val="5B6573"/>
      </a:folHlink>
    </a:clrScheme>
    <a:fontScheme name="Multiomics DB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1276</TotalTime>
  <Words>2993</Words>
  <Application>Microsoft Macintosh PowerPoint</Application>
  <PresentationFormat>Widescreen</PresentationFormat>
  <Paragraphs>365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Multiomics DBC</vt:lpstr>
      <vt:lpstr>Biological Complexity: Network-Based Approaches for Multi-Omics Integration</vt:lpstr>
      <vt:lpstr>The next two hours</vt:lpstr>
      <vt:lpstr>1  ·  One cohort, data from two instruments</vt:lpstr>
      <vt:lpstr>The clinical question: can serum profiles tell a resistant from a susceptible infection on day 0?</vt:lpstr>
      <vt:lpstr>45 septic patients, three groups of 15</vt:lpstr>
      <vt:lpstr>The same 45 samples, measured twice</vt:lpstr>
      <vt:lpstr>2  ·  From raw files to feature intensity matrices</vt:lpstr>
      <vt:lpstr>Why a pipeline, not a dozen tools by hand</vt:lpstr>
      <vt:lpstr>Proteomics: bigbio/quantmsdiann (DIA-NN)</vt:lpstr>
      <vt:lpstr>Metabolomics: nf-core/metaboigniter (OpenMS)</vt:lpstr>
      <vt:lpstr>Metabolomics: nf-core/metaboigniter (OpenMS) To keep in mind if you run the original course another day</vt:lpstr>
      <vt:lpstr>Traps that come with real public data</vt:lpstr>
      <vt:lpstr>3  ·  What each layer says on its own</vt:lpstr>
      <vt:lpstr>Proteomics: six decisions from matrix to list</vt:lpstr>
      <vt:lpstr>Proteomics: antigen presentation and a 4-protein panel</vt:lpstr>
      <vt:lpstr>Metabolomics: the QC samples become the ruler</vt:lpstr>
      <vt:lpstr>Metabolomics: lipid fuel and amino-acid metabolism</vt:lpstr>
      <vt:lpstr>Two lessons before we integrate</vt:lpstr>
      <vt:lpstr>4  ·  Integration in few minutes</vt:lpstr>
      <vt:lpstr>Three ways to combine two layers</vt:lpstr>
      <vt:lpstr>Step zero: two views of the same patients</vt:lpstr>
      <vt:lpstr>Two methods you will run</vt:lpstr>
      <vt:lpstr>Your turn: two notebooks in Google Colab</vt:lpstr>
      <vt:lpstr>Take home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Multi-omics analysis — DBC 2026 workshop</dc:title>
  <dc:subject>PptxGenJS Presentation</dc:subject>
  <dc:creator>Multiomics Analytics Group, DTU Biosustain</dc:creator>
  <cp:lastModifiedBy>Alberto Pallejà Caro</cp:lastModifiedBy>
  <cp:revision>6</cp:revision>
  <dcterms:created xsi:type="dcterms:W3CDTF">2026-10-19T16:46:14Z</dcterms:created>
  <dcterms:modified xsi:type="dcterms:W3CDTF">2026-10-21T16:00:38Z</dcterms:modified>
</cp:coreProperties>
</file>