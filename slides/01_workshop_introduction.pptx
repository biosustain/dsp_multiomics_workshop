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465f595b-c8e8-50f0-5249-6f34d8e482de}">
          <p14:sldIdLst>
            <p14:sldId id="256"/>
            <p14:sldId id="257"/>
          </p14:sldIdLst>
        </p14:section>
        <p14:section name="The study" id="{027e6c05-04ba-64b8-fc43-a4d85b7979b9}">
          <p14:sldIdLst>
            <p14:sldId id="258"/>
            <p14:sldId id="259"/>
            <p14:sldId id="260"/>
            <p14:sldId id="261"/>
          </p14:sldIdLst>
        </p14:section>
        <p14:section name="Processing" id="{453f18c7-e90d-b954-f935-9d671f92cc08}">
          <p14:sldIdLst>
            <p14:sldId id="262"/>
            <p14:sldId id="263"/>
            <p14:sldId id="264"/>
            <p14:sldId id="265"/>
            <p14:sldId id="266"/>
          </p14:sldIdLst>
        </p14:section>
        <p14:section name="Findings" id="{a1536319-7838-ab06-fdef-2a4f3347f9b6}">
          <p14:sldIdLst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Integration" id="{1f218a16-b711-21b4-0c99-cc79a31722fb}">
          <p14:sldIdLst>
            <p14:sldId id="273"/>
            <p14:sldId id="274"/>
            <p14:sldId id="275"/>
            <p14:sldId id="276"/>
            <p14:sldId id="277"/>
          </p14:sldIdLst>
        </p14:section>
        <p14:section name="Hands-on" id="{95cc07a4-1b98-81ee-5960-6f184ff4fae0}">
          <p14:sldIdLst>
            <p14:sldId id="278"/>
          </p14:sldIdLst>
        </p14:section>
        <p14:section name="Close" id="{667be58d-5b6e-77fd-1576-325c7c4790d7}">
          <p14:sldIdLst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523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5233B"/>
                </a:solidFill>
                <a:latin typeface="+mn-lt"/>
              </a:rPr>
              <a:t>Published KEGG enrichment, CRKP vs CSKP (−log10 p)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-log10 p</c:v>
                </c:pt>
              </c:strCache>
            </c:strRef>
          </c:tx>
          <c:spPr>
            <a:solidFill>
              <a:srgbClr val="4C72B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23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Calcium signalling</c:v>
                  </c:pt>
                  <c:pt idx="1">
                    <c:v>Phosphatidylinositol signalling</c:v>
                  </c:pt>
                  <c:pt idx="2">
                    <c:v>Phagosome</c:v>
                  </c:pt>
                  <c:pt idx="3">
                    <c:v>HCMV infection*</c:v>
                  </c:pt>
                  <c:pt idx="4">
                    <c:v>Antigen processing &amp; presentation</c:v>
                  </c:pt>
                  <c:pt idx="5">
                    <c:v>HIV-1 infection*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1.75</c:v>
                </c:pt>
                <c:pt idx="1">
                  <c:v>1.82</c:v>
                </c:pt>
                <c:pt idx="2">
                  <c:v>2.05</c:v>
                </c:pt>
                <c:pt idx="3">
                  <c:v>2.78</c:v>
                </c:pt>
                <c:pt idx="4">
                  <c:v>2.78</c:v>
                </c:pt>
                <c:pt idx="5">
                  <c:v>3.6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5233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5233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523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5233B"/>
                </a:solidFill>
                <a:latin typeface="+mn-lt"/>
              </a:rPr>
              <a:t>Published KEGG pathways, CRKP vs CSKP (number of DEMs)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DEMs</c:v>
                </c:pt>
              </c:strCache>
            </c:strRef>
          </c:tx>
          <c:spPr>
            <a:solidFill>
              <a:srgbClr val="DD845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23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Arginine &amp; proline metabolism</c:v>
                  </c:pt>
                  <c:pt idx="1">
                    <c:v>Protein digestion &amp; absorption</c:v>
                  </c:pt>
                  <c:pt idx="2">
                    <c:v>Aminoacyl-tRNA biosynthesis</c:v>
                  </c:pt>
                  <c:pt idx="3">
                    <c:v>D-Amino acid metabolism</c:v>
                  </c:pt>
                  <c:pt idx="4">
                    <c:v>Biosynthesis of amino acids</c:v>
                  </c:pt>
                  <c:pt idx="5">
                    <c:v>ABC transporters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6</c:v>
                </c:pt>
                <c:pt idx="5">
                  <c:v>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5233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5233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In two hours we go from one real clinical cohort to a cross-omics hypothesis. About 20 minutes of context, then you work in the notebooks. Everything runs in Google Colab - no installation.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Timings are a guide. If Colab installs are slow, start Hands-on I while the lecture on multi-omics is shortened.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Motivate with the clinical problem. Sepsis is a dysregulated host response; K. pneumoniae is a common Gram-negative cause; resistant strains roughly double mortality.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the naming: the susceptible group is CSKP in the paper but its sample IDs are KP*. That mismatch matters later when joining tables.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very different technologies: untargeted-ish DIA proteomics with many missing values, and targeted MRM metabolomics with few. Both deposited publicly. The notebooks read small curated tables straight from GitHub.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Day 2 of the full course ran these pipelines in Colab on test profiles. Today we only show what they do and what they output; the matrices are already in the repository.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quantmsdiann is the DIA-NN branch of quantms, built to nf-core standards by bigbio at EMBL-EBI. The SDRF is generated by bin/build_sdrf.py; pooled QCs are excluded from it so they do not enter the differential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teaching moment: choose the pipeline that matches the acquisition. Untargeted and targeted metabolomics answer different questions. metaboigniter 2.0.1 also needs the legacy Nextflow config parser on Nextflow 26.04+.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curated tables already harmonise identifiers. The run-order confound is not mentioned in the paper; keep it in mind when any result looks too good.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step is a decision that changes the list. Imputation: in label-free proteomics a missing value usually means low abundance, so we draw from a down-shifted normal (shift 1.8 SD, width 0.25 SD, as in Perseus).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viral-infection KEGG terms are generic: they contain the antigen-presentation genes. The panel AUC comes from a single split chosen on test performance, so read it as optimistic; the PRM validation cohort is the stronger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D-ratio = sigma_QC / sigma_biological; near 0 is biology, near 1 is measurement noise. QC CVs were low (median about 0.14) and samples ran in one batch, which reduces but does not remove the drift 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Bars are numbers of significant compounds per pathway from the paper's supplementary table 8. Pathway hits rest on few compounds; treat them as leads.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two points set expectations for the hands-on: SNF and MOFA will probably not recover the three groups cleanly, and that is a result, not a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Unsupervised methods (MOFA, SNF) ignore group labels; supervised ones (DIABLO, sPLS-DA) use them. That discipline is the difference between a finding and a delusion at n = 15 per group.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unglamorous step where most integration attempts fail. The same recipe is applied symmetrically to both layers.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SNF (Wang 2014): K = 15, mu = 0.5. MOFA (Argelaguet 2018): 8 factors with spike-and-slab and ARD sparsity. A factor is just a direction of variance; meaning comes from what it correlates with.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arrow needs an enzyme (protein) and moves a metabolite: a textbook case where one layer cannot tell the story. SAM is the universal methyl donor; glutathione is the main antioxidant and septic patients burn through it. Caveat for later: MAT2B is intracellular - in serum it may report cell leakage rather than metabolism.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notebooks are self-contained: they download the curated tables from the workshop repository on GitHub and need no output from earlier sessions. Ask people to start the install cell immediately. Cytoscape export is optional; skip it if Cytoscape is not installed.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biology: in CRKP sepsis the serum shows antigen-presentation and coagulation changes and, where the layers meet, one-carbon and methionine metabolism. A hypothesis with a specific mechanism and a specific way to be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68680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Title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86868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65176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Section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94760"/>
            <a:ext cx="10058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Title</a:t>
            </a: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DBC 2026 · Multi-omics hands-on workshop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686800" cy="17373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two omics layers to one story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8686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Integrating serum proteomics and metabolomics in a sepsis cohort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Danish Bioinformatics Conference · Odense · 27–28 October 2026</a:t>
            </a:r>
            <a:endParaRPr lang="en-US" sz="2000" dirty="0"/>
          </a:p>
        </p:txBody>
      </p:sp>
      <p:sp>
        <p:nvSpPr>
          <p:cNvPr id="4" name="motif edge"/>
          <p:cNvSpPr/>
          <p:nvPr/>
        </p:nvSpPr>
        <p:spPr>
          <a:xfrm>
            <a:off x="9646920" y="2880360"/>
            <a:ext cx="1234440" cy="0"/>
          </a:xfrm>
          <a:prstGeom prst="line">
            <a:avLst/>
          </a:prstGeom>
          <a:noFill/>
          <a:ln w="38100">
            <a:solidFill>
              <a:schemeClr val="accent6"/>
            </a:solidFill>
            <a:prstDash val="solid"/>
          </a:ln>
        </p:spPr>
      </p:sp>
      <p:sp>
        <p:nvSpPr>
          <p:cNvPr id="5" name="motif protein"/>
          <p:cNvSpPr/>
          <p:nvPr/>
        </p:nvSpPr>
        <p:spPr>
          <a:xfrm>
            <a:off x="9006840" y="2514600"/>
            <a:ext cx="73152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/>
        </p:spPr>
      </p:sp>
      <p:sp>
        <p:nvSpPr>
          <p:cNvPr id="6" name="motif metabolite"/>
          <p:cNvSpPr/>
          <p:nvPr/>
        </p:nvSpPr>
        <p:spPr>
          <a:xfrm>
            <a:off x="10789920" y="25146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778240" y="33375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protein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561320" y="33375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metabolite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Multiomics Analytics Group · DTU Biosustain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next two hours</a:t>
            </a:r>
            <a:endParaRPr lang="en-US" sz="3200" dirty="0"/>
          </a:p>
        </p:txBody>
      </p:sp>
      <p:sp>
        <p:nvSpPr>
          <p:cNvPr id="3" name="agenda card 1"/>
          <p:cNvSpPr/>
          <p:nvPr/>
        </p:nvSpPr>
        <p:spPr>
          <a:xfrm>
            <a:off x="548640" y="1600200"/>
            <a:ext cx="1696669" cy="3200400"/>
          </a:xfrm>
          <a:prstGeom prst="roundRect">
            <a:avLst>
              <a:gd name="adj" fmla="val 6467"/>
            </a:avLst>
          </a:prstGeom>
          <a:solidFill>
            <a:schemeClr val="bg2"/>
          </a:solidFill>
          <a:ln/>
        </p:spPr>
      </p:sp>
      <p:sp>
        <p:nvSpPr>
          <p:cNvPr id="4" name="agenda time 1"/>
          <p:cNvSpPr/>
          <p:nvPr/>
        </p:nvSpPr>
        <p:spPr>
          <a:xfrm>
            <a:off x="731520" y="1783080"/>
            <a:ext cx="1005840" cy="411480"/>
          </a:xfrm>
          <a:prstGeom prst="roundRect">
            <a:avLst>
              <a:gd name="adj" fmla="val 17778"/>
            </a:avLst>
          </a:prstGeom>
          <a:solidFill>
            <a:schemeClr val="tx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7830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0:00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423160"/>
            <a:ext cx="13309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00400"/>
            <a:ext cx="133090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Dataset, nf-core processing, single-omics results, integration basics</a:t>
            </a:r>
            <a:endParaRPr lang="en-US" sz="1400" dirty="0"/>
          </a:p>
        </p:txBody>
      </p:sp>
      <p:sp>
        <p:nvSpPr>
          <p:cNvPr id="8" name="agenda card 2"/>
          <p:cNvSpPr/>
          <p:nvPr/>
        </p:nvSpPr>
        <p:spPr>
          <a:xfrm>
            <a:off x="2428189" y="1600200"/>
            <a:ext cx="1696669" cy="3200400"/>
          </a:xfrm>
          <a:prstGeom prst="roundRect">
            <a:avLst>
              <a:gd name="adj" fmla="val 6467"/>
            </a:avLst>
          </a:prstGeom>
          <a:solidFill>
            <a:schemeClr val="bg2"/>
          </a:solidFill>
          <a:ln/>
        </p:spPr>
      </p:sp>
      <p:sp>
        <p:nvSpPr>
          <p:cNvPr id="9" name="agenda time 2"/>
          <p:cNvSpPr/>
          <p:nvPr/>
        </p:nvSpPr>
        <p:spPr>
          <a:xfrm>
            <a:off x="2611069" y="1783080"/>
            <a:ext cx="1005840" cy="411480"/>
          </a:xfrm>
          <a:prstGeom prst="roundRect">
            <a:avLst>
              <a:gd name="adj" fmla="val 17778"/>
            </a:avLst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611069" y="17830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0:25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611069" y="2423160"/>
            <a:ext cx="13309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Multi-omics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611069" y="3200400"/>
            <a:ext cx="133090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Short lecture: why and how to integrate</a:t>
            </a:r>
            <a:endParaRPr lang="en-US" sz="1400" dirty="0"/>
          </a:p>
        </p:txBody>
      </p:sp>
      <p:sp>
        <p:nvSpPr>
          <p:cNvPr id="13" name="agenda card 3"/>
          <p:cNvSpPr/>
          <p:nvPr/>
        </p:nvSpPr>
        <p:spPr>
          <a:xfrm>
            <a:off x="4307738" y="1600200"/>
            <a:ext cx="1696669" cy="3200400"/>
          </a:xfrm>
          <a:prstGeom prst="roundRect">
            <a:avLst>
              <a:gd name="adj" fmla="val 6467"/>
            </a:avLst>
          </a:prstGeom>
          <a:solidFill>
            <a:schemeClr val="bg2"/>
          </a:solidFill>
          <a:ln/>
        </p:spPr>
      </p:sp>
      <p:sp>
        <p:nvSpPr>
          <p:cNvPr id="14" name="agenda time 3"/>
          <p:cNvSpPr/>
          <p:nvPr/>
        </p:nvSpPr>
        <p:spPr>
          <a:xfrm>
            <a:off x="4490618" y="1783080"/>
            <a:ext cx="1005840" cy="411480"/>
          </a:xfrm>
          <a:prstGeom prst="roundRect">
            <a:avLst>
              <a:gd name="adj" fmla="val 17778"/>
            </a:avLst>
          </a:prstGeom>
          <a:solidFill>
            <a:schemeClr val="accent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490618" y="17830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0:35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490618" y="2423160"/>
            <a:ext cx="13309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Hands-on I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490618" y="3200400"/>
            <a:ext cx="133090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Integration — SNF and MOFA (Colab)</a:t>
            </a:r>
            <a:endParaRPr lang="en-US" sz="1400" dirty="0"/>
          </a:p>
        </p:txBody>
      </p:sp>
      <p:sp>
        <p:nvSpPr>
          <p:cNvPr id="18" name="agenda card 4"/>
          <p:cNvSpPr/>
          <p:nvPr/>
        </p:nvSpPr>
        <p:spPr>
          <a:xfrm>
            <a:off x="6187288" y="1600200"/>
            <a:ext cx="1696669" cy="3200400"/>
          </a:xfrm>
          <a:prstGeom prst="roundRect">
            <a:avLst>
              <a:gd name="adj" fmla="val 6467"/>
            </a:avLst>
          </a:prstGeom>
          <a:solidFill>
            <a:schemeClr val="bg2"/>
          </a:solidFill>
          <a:ln/>
        </p:spPr>
      </p:sp>
      <p:sp>
        <p:nvSpPr>
          <p:cNvPr id="19" name="agenda time 4"/>
          <p:cNvSpPr/>
          <p:nvPr/>
        </p:nvSpPr>
        <p:spPr>
          <a:xfrm>
            <a:off x="6370168" y="1783080"/>
            <a:ext cx="1005840" cy="411480"/>
          </a:xfrm>
          <a:prstGeom prst="roundRect">
            <a:avLst>
              <a:gd name="adj" fmla="val 17778"/>
            </a:avLst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70168" y="17830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1:10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370168" y="2423160"/>
            <a:ext cx="13309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Network biology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370168" y="3200400"/>
            <a:ext cx="133090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Short lecture: graphs, hubs, modules</a:t>
            </a:r>
            <a:endParaRPr lang="en-US" sz="1400" dirty="0"/>
          </a:p>
        </p:txBody>
      </p:sp>
      <p:sp>
        <p:nvSpPr>
          <p:cNvPr id="23" name="agenda card 5"/>
          <p:cNvSpPr/>
          <p:nvPr/>
        </p:nvSpPr>
        <p:spPr>
          <a:xfrm>
            <a:off x="8066837" y="1600200"/>
            <a:ext cx="1696669" cy="3200400"/>
          </a:xfrm>
          <a:prstGeom prst="roundRect">
            <a:avLst>
              <a:gd name="adj" fmla="val 6467"/>
            </a:avLst>
          </a:prstGeom>
          <a:solidFill>
            <a:schemeClr val="bg2"/>
          </a:solidFill>
          <a:ln/>
        </p:spPr>
      </p:sp>
      <p:sp>
        <p:nvSpPr>
          <p:cNvPr id="24" name="agenda time 5"/>
          <p:cNvSpPr/>
          <p:nvPr/>
        </p:nvSpPr>
        <p:spPr>
          <a:xfrm>
            <a:off x="8249717" y="1783080"/>
            <a:ext cx="1005840" cy="411480"/>
          </a:xfrm>
          <a:prstGeom prst="roundRect">
            <a:avLst>
              <a:gd name="adj" fmla="val 17778"/>
            </a:avLst>
          </a:prstGeom>
          <a:solidFill>
            <a:schemeClr val="accent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249717" y="17830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1:20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249717" y="2423160"/>
            <a:ext cx="13309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Hands-on II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8249717" y="3200400"/>
            <a:ext cx="133090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Networks, joint pathways, the methionine cycle (Colab)</a:t>
            </a:r>
            <a:endParaRPr lang="en-US" sz="1400" dirty="0"/>
          </a:p>
        </p:txBody>
      </p:sp>
      <p:sp>
        <p:nvSpPr>
          <p:cNvPr id="28" name="agenda card 6"/>
          <p:cNvSpPr/>
          <p:nvPr/>
        </p:nvSpPr>
        <p:spPr>
          <a:xfrm>
            <a:off x="9946386" y="1600200"/>
            <a:ext cx="1696669" cy="3200400"/>
          </a:xfrm>
          <a:prstGeom prst="roundRect">
            <a:avLst>
              <a:gd name="adj" fmla="val 6467"/>
            </a:avLst>
          </a:prstGeom>
          <a:solidFill>
            <a:schemeClr val="bg2"/>
          </a:solidFill>
          <a:ln/>
        </p:spPr>
      </p:sp>
      <p:sp>
        <p:nvSpPr>
          <p:cNvPr id="29" name="agenda time 6"/>
          <p:cNvSpPr/>
          <p:nvPr/>
        </p:nvSpPr>
        <p:spPr>
          <a:xfrm>
            <a:off x="10129266" y="1783080"/>
            <a:ext cx="1005840" cy="411480"/>
          </a:xfrm>
          <a:prstGeom prst="roundRect">
            <a:avLst>
              <a:gd name="adj" fmla="val 17778"/>
            </a:avLst>
          </a:prstGeom>
          <a:solidFill>
            <a:schemeClr val="tx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129266" y="17830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1:55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0129266" y="2423160"/>
            <a:ext cx="13309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Wrap-up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10129266" y="3200400"/>
            <a:ext cx="133090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What we can and cannot conclude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074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Hands-on blocks are highlighted in teal — about 70 of the 120 minutes are yours.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65176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 ·  One cohort, two instruments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947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et al., Front Immunol 2026;17:1818068 — open data, CC BY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clinical question: resistant or not, on day 0?</a:t>
            </a:r>
            <a:endParaRPr lang="en-US" sz="3200" dirty="0"/>
          </a:p>
        </p:txBody>
      </p:sp>
      <p:sp>
        <p:nvSpPr>
          <p:cNvPr id="3" name="stat card 1"/>
          <p:cNvSpPr/>
          <p:nvPr/>
        </p:nvSpPr>
        <p:spPr>
          <a:xfrm>
            <a:off x="548640" y="1600200"/>
            <a:ext cx="3474720" cy="3291840"/>
          </a:xfrm>
          <a:prstGeom prst="roundRect">
            <a:avLst>
              <a:gd name="adj" fmla="val 3333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8A96A8">
                <a:alpha val="2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82880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20–40 %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97180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mortality of carbapenem-resistant K. pneumoniae (CRKP) sepsis — about twice that of susceptible strains</a:t>
            </a:r>
            <a:endParaRPr lang="en-US" sz="1600" dirty="0"/>
          </a:p>
        </p:txBody>
      </p:sp>
      <p:sp>
        <p:nvSpPr>
          <p:cNvPr id="6" name="stat card 2"/>
          <p:cNvSpPr/>
          <p:nvPr/>
        </p:nvSpPr>
        <p:spPr>
          <a:xfrm>
            <a:off x="4297680" y="1600200"/>
            <a:ext cx="3474720" cy="3291840"/>
          </a:xfrm>
          <a:prstGeom prst="roundRect">
            <a:avLst>
              <a:gd name="adj" fmla="val 3333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8A96A8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572000" y="182880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1–3 days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297180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for blood culture and susceptibility testing — treatment cannot wait that long</a:t>
            </a:r>
            <a:endParaRPr lang="en-US" sz="1600" dirty="0"/>
          </a:p>
        </p:txBody>
      </p:sp>
      <p:sp>
        <p:nvSpPr>
          <p:cNvPr id="9" name="stat card 3"/>
          <p:cNvSpPr/>
          <p:nvPr/>
        </p:nvSpPr>
        <p:spPr>
          <a:xfrm>
            <a:off x="8046720" y="1600200"/>
            <a:ext cx="3474720" cy="3291840"/>
          </a:xfrm>
          <a:prstGeom prst="roundRect">
            <a:avLst>
              <a:gd name="adj" fmla="val 3333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8A96A8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321040" y="182880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 0</a:t>
            </a: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97180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can the host's own serum molecules tell a resistant from a susceptible infection?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2578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Carbapenems are antibiotics of last resort. A host-response test would guide empirical therapy before microbiology returns.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septic patients, three groups of 15</a:t>
            </a:r>
            <a:endParaRPr lang="en-US" sz="3200" dirty="0"/>
          </a:p>
        </p:txBody>
      </p:sp>
      <p:sp>
        <p:nvSpPr>
          <p:cNvPr id="3" name="group card Con"/>
          <p:cNvSpPr/>
          <p:nvPr/>
        </p:nvSpPr>
        <p:spPr>
          <a:xfrm>
            <a:off x="548640" y="1463040"/>
            <a:ext cx="60350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4" name="group Con disc"/>
          <p:cNvSpPr/>
          <p:nvPr/>
        </p:nvSpPr>
        <p:spPr>
          <a:xfrm>
            <a:off x="731520" y="1600200"/>
            <a:ext cx="731520" cy="731520"/>
          </a:xfrm>
          <a:prstGeom prst="ellipse">
            <a:avLst/>
          </a:prstGeom>
          <a:solidFill>
            <a:srgbClr val="4C72B0"/>
          </a:solidFill>
          <a:ln/>
        </p:spPr>
      </p:sp>
      <p:pic>
        <p:nvPicPr>
          <p:cNvPr id="5" name="group C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78308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0020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C72B0"/>
                </a:solidFill>
              </a:rPr>
              <a:t>Con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2926080" y="160020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Culture-negative sepsis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sample IDs Con1 … Con15</a:t>
            </a:r>
            <a:endParaRPr lang="en-US" sz="1500" dirty="0"/>
          </a:p>
        </p:txBody>
      </p:sp>
      <p:sp>
        <p:nvSpPr>
          <p:cNvPr id="8" name="group card CSKP"/>
          <p:cNvSpPr/>
          <p:nvPr/>
        </p:nvSpPr>
        <p:spPr>
          <a:xfrm>
            <a:off x="548640" y="2651760"/>
            <a:ext cx="60350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9" name="group CSKP disc"/>
          <p:cNvSpPr/>
          <p:nvPr/>
        </p:nvSpPr>
        <p:spPr>
          <a:xfrm>
            <a:off x="731520" y="2788920"/>
            <a:ext cx="731520" cy="731520"/>
          </a:xfrm>
          <a:prstGeom prst="ellipse">
            <a:avLst/>
          </a:prstGeom>
          <a:solidFill>
            <a:srgbClr val="DD8452"/>
          </a:solidFill>
          <a:ln/>
        </p:spPr>
      </p:sp>
      <p:pic>
        <p:nvPicPr>
          <p:cNvPr id="10" name="group CSK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97180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645920" y="27889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8452"/>
                </a:solidFill>
              </a:rPr>
              <a:t>CSKP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2926080" y="27889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Carbapenem-susceptible K. pneumoniae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sample IDs KP1 … KP15</a:t>
            </a:r>
            <a:endParaRPr lang="en-US" sz="1500" dirty="0"/>
          </a:p>
        </p:txBody>
      </p:sp>
      <p:sp>
        <p:nvSpPr>
          <p:cNvPr id="13" name="group card CRKP"/>
          <p:cNvSpPr/>
          <p:nvPr/>
        </p:nvSpPr>
        <p:spPr>
          <a:xfrm>
            <a:off x="548640" y="3840480"/>
            <a:ext cx="60350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14" name="group CRKP disc"/>
          <p:cNvSpPr/>
          <p:nvPr/>
        </p:nvSpPr>
        <p:spPr>
          <a:xfrm>
            <a:off x="731520" y="3977640"/>
            <a:ext cx="731520" cy="731520"/>
          </a:xfrm>
          <a:prstGeom prst="ellipse">
            <a:avLst/>
          </a:prstGeom>
          <a:solidFill>
            <a:srgbClr val="C44E52"/>
          </a:solidFill>
          <a:ln/>
        </p:spPr>
      </p:sp>
      <p:pic>
        <p:nvPicPr>
          <p:cNvPr id="15" name="group CRKP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16052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45920" y="397764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44E52"/>
                </a:solidFill>
              </a:rPr>
              <a:t>CRKP</a:t>
            </a:r>
            <a:endParaRPr lang="en-US" sz="2400" dirty="0"/>
          </a:p>
        </p:txBody>
      </p:sp>
      <p:sp>
        <p:nvSpPr>
          <p:cNvPr id="17" name="Text 12"/>
          <p:cNvSpPr txBox="1"/>
          <p:nvPr/>
        </p:nvSpPr>
        <p:spPr>
          <a:xfrm>
            <a:off x="2926080" y="39776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Carbapenem-resistant K. pneumoniae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sample IDs CRKP1 … CRKP15</a:t>
            </a:r>
            <a:endParaRPr lang="en-US" sz="1500" dirty="0"/>
          </a:p>
        </p:txBody>
      </p:sp>
      <p:sp>
        <p:nvSpPr>
          <p:cNvPr id="18" name="why it is hard"/>
          <p:cNvSpPr/>
          <p:nvPr/>
        </p:nvSpPr>
        <p:spPr>
          <a:xfrm>
            <a:off x="7040880" y="1463040"/>
            <a:ext cx="4602175" cy="3383280"/>
          </a:xfrm>
          <a:prstGeom prst="roundRect">
            <a:avLst>
              <a:gd name="adj" fmla="val 3243"/>
            </a:avLst>
          </a:prstGeom>
          <a:solidFill>
            <a:schemeClr val="tx1"/>
          </a:solidFill>
          <a:ln/>
          <a:effectLst>
            <a:outerShdw sx="100000" sy="100000" kx="0" ky="0" algn="bl" rotWithShape="0" blurRad="76200" dist="25400" dir="5400000">
              <a:srgbClr val="8A96A8">
                <a:alpha val="25000"/>
              </a:srgbClr>
            </a:outerShdw>
          </a:effectLst>
        </p:spPr>
      </p:sp>
      <p:sp>
        <p:nvSpPr>
          <p:cNvPr id="19" name="Text 14"/>
          <p:cNvSpPr txBox="1"/>
          <p:nvPr/>
        </p:nvSpPr>
        <p:spPr>
          <a:xfrm>
            <a:off x="73152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is hard</a:t>
            </a:r>
            <a:endParaRPr lang="en-US" sz="2000" dirty="0"/>
          </a:p>
        </p:txBody>
      </p:sp>
      <p:sp>
        <p:nvSpPr>
          <p:cNvPr id="20" name="Text 15"/>
          <p:cNvSpPr txBox="1"/>
          <p:nvPr/>
        </p:nvSpPr>
        <p:spPr>
          <a:xfrm>
            <a:off x="7315200" y="2240280"/>
            <a:ext cx="40233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Every patient is septic — the contrast is pathogen and resistance, not sick vs healthy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Expected effects are small; severity dominates the variance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15 per group: supervised models overfit easily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51663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Serum at diagnosis, four Shanghai hospitals, April–December 2025. A separate 45-patient validation cohort was measured by targeted PRM only (not deposited).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45 sera, measured twice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74980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  <a:gridCol w="274320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Proteomics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Metabolomics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Repository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PXD075261 (ProteomeXchange / iProX)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MTBLS14016 (MetaboLights)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timsTOF Pro (Bruker)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QTRAP 6500 (SCIEX)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Acquisition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diaPASEF — data-independent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MRM — widely targeted, ± ionisation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DIA-NN 1.9.2, library-free, MaxLFQ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Vendor MRM peak integration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1 458 protein groups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1 073 named metabolites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Pooled QC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injections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injections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values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27 %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5 %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pairing card"/>
          <p:cNvSpPr/>
          <p:nvPr/>
        </p:nvSpPr>
        <p:spPr>
          <a:xfrm>
            <a:off x="8412480" y="1417320"/>
            <a:ext cx="3230575" cy="3511296"/>
          </a:xfrm>
          <a:prstGeom prst="roundRect">
            <a:avLst>
              <a:gd name="adj" fmla="val 3397"/>
            </a:avLst>
          </a:prstGeom>
          <a:solidFill>
            <a:schemeClr val="bg2"/>
          </a:solidFill>
          <a:ln/>
        </p:spPr>
      </p:sp>
      <p:sp>
        <p:nvSpPr>
          <p:cNvPr id="5" name="pairing disc"/>
          <p:cNvSpPr/>
          <p:nvPr/>
        </p:nvSpPr>
        <p:spPr>
          <a:xfrm>
            <a:off x="8641080" y="164592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6" name="pairing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2530" y="1817370"/>
            <a:ext cx="342900" cy="3429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464040" y="16916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Pairing is the point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8641080" y="2514600"/>
            <a:ext cx="2834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Each patient has two descriptions of the same physiology. That is what makes integration possible — rather than decorative.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2578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Curated tables in the workshop repo (data/): protein_groups_matrix.tsv · metabolite_matrix.tsv · metabolite_annotation.tsv · sample_metadata.tsv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65176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 ·  From raw files to matrices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947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processing with Nextflow and nf-core pipelines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 pipeline, not a dozen tools by hand</a:t>
            </a:r>
            <a:endParaRPr lang="en-US" sz="3200" dirty="0"/>
          </a:p>
        </p:txBody>
      </p:sp>
      <p:sp>
        <p:nvSpPr>
          <p:cNvPr id="3" name="why Pinned versions disc"/>
          <p:cNvSpPr/>
          <p:nvPr/>
        </p:nvSpPr>
        <p:spPr>
          <a:xfrm>
            <a:off x="548640" y="1463040"/>
            <a:ext cx="731520" cy="73152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4" name="why Pinned versio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45920"/>
            <a:ext cx="365760" cy="365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08760" y="14630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Pinned versions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508760" y="184708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-r v2.3.0 fixes every tool version the run used</a:t>
            </a:r>
            <a:endParaRPr lang="en-US" sz="1500" dirty="0"/>
          </a:p>
        </p:txBody>
      </p:sp>
      <p:sp>
        <p:nvSpPr>
          <p:cNvPr id="7" name="why Containers disc"/>
          <p:cNvSpPr/>
          <p:nvPr/>
        </p:nvSpPr>
        <p:spPr>
          <a:xfrm>
            <a:off x="548640" y="2487168"/>
            <a:ext cx="731520" cy="73152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8" name="why Container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70048"/>
            <a:ext cx="365760" cy="3657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08760" y="24871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Containers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1508760" y="287121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Docker / Apptainer ship the exact software stack</a:t>
            </a:r>
            <a:endParaRPr lang="en-US" sz="1500" dirty="0"/>
          </a:p>
        </p:txBody>
      </p:sp>
      <p:sp>
        <p:nvSpPr>
          <p:cNvPr id="11" name="why Resume disc"/>
          <p:cNvSpPr/>
          <p:nvPr/>
        </p:nvSpPr>
        <p:spPr>
          <a:xfrm>
            <a:off x="548640" y="3511296"/>
            <a:ext cx="731520" cy="73152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2" name="why Resume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694176"/>
            <a:ext cx="365760" cy="3657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508760" y="351129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Resume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1508760" y="389534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-resume reuses finished steps after a failure</a:t>
            </a:r>
            <a:endParaRPr lang="en-US" sz="1500" dirty="0"/>
          </a:p>
        </p:txBody>
      </p:sp>
      <p:sp>
        <p:nvSpPr>
          <p:cNvPr id="15" name="why Standard metadata disc"/>
          <p:cNvSpPr/>
          <p:nvPr/>
        </p:nvSpPr>
        <p:spPr>
          <a:xfrm>
            <a:off x="548640" y="4535424"/>
            <a:ext cx="731520" cy="73152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6" name="why Standard metadata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718304"/>
            <a:ext cx="365760" cy="36576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508760" y="453542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Standard metadata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1508760" y="491947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SDRF / samplesheet describe every file and sample</a:t>
            </a:r>
            <a:endParaRPr lang="en-US" sz="1500" dirty="0"/>
          </a:p>
        </p:txBody>
      </p:sp>
      <p:sp>
        <p:nvSpPr>
          <p:cNvPr id="19" name="command card"/>
          <p:cNvSpPr/>
          <p:nvPr/>
        </p:nvSpPr>
        <p:spPr>
          <a:xfrm>
            <a:off x="6309360" y="1463040"/>
            <a:ext cx="5333695" cy="3794760"/>
          </a:xfrm>
          <a:prstGeom prst="roundRect">
            <a:avLst>
              <a:gd name="adj" fmla="val 2892"/>
            </a:avLst>
          </a:prstGeom>
          <a:solidFill>
            <a:schemeClr val="tx1"/>
          </a:solidFill>
          <a:ln/>
          <a:effectLst>
            <a:outerShdw sx="100000" sy="100000" kx="0" ky="0" algn="bl" rotWithShape="0" blurRad="76200" dist="25400" dir="5400000">
              <a:srgbClr val="8A96A8">
                <a:alpha val="25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6583680" y="16459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 run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6583680" y="214884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nextflow run bigbio/quantmsdiann -r v2.3.0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-profile docker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--input  PXD075261.sdrf.tsv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--database uniprot_human.fasta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--outdir results/PXD075261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-resume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6583680" y="44348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single dash = Nextflow option · double dash = pipeline parameter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623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Full cohort is a cluster job: 45 × 2.4 GB .d.zip, several CPU-hours per file, ≥ 32 GB RAM.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Proteomics: bigbio/quantmsdiann (DIA-NN)</a:t>
            </a:r>
            <a:endParaRPr lang="en-US" sz="3200" dirty="0"/>
          </a:p>
        </p:txBody>
      </p:sp>
      <p:sp>
        <p:nvSpPr>
          <p:cNvPr id="3" name="prot input SDRF"/>
          <p:cNvSpPr/>
          <p:nvPr/>
        </p:nvSpPr>
        <p:spPr>
          <a:xfrm>
            <a:off x="548640" y="1600200"/>
            <a:ext cx="1554480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002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SDRF</a:t>
            </a:r>
            <a:endParaRPr lang="en-US" sz="1400" dirty="0"/>
          </a:p>
        </p:txBody>
      </p:sp>
      <p:sp>
        <p:nvSpPr>
          <p:cNvPr id="5" name="prot input .d.zip raw"/>
          <p:cNvSpPr/>
          <p:nvPr/>
        </p:nvSpPr>
        <p:spPr>
          <a:xfrm>
            <a:off x="548640" y="2286000"/>
            <a:ext cx="1554480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2860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.d.zip raw</a:t>
            </a:r>
            <a:endParaRPr lang="en-US" sz="1400" dirty="0"/>
          </a:p>
        </p:txBody>
      </p:sp>
      <p:sp>
        <p:nvSpPr>
          <p:cNvPr id="7" name="prot input FASTA"/>
          <p:cNvSpPr/>
          <p:nvPr/>
        </p:nvSpPr>
        <p:spPr>
          <a:xfrm>
            <a:off x="548640" y="2971800"/>
            <a:ext cx="1554480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9718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FASTA</a:t>
            </a:r>
            <a:endParaRPr lang="en-US" sz="1400" dirty="0"/>
          </a:p>
        </p:txBody>
      </p:sp>
      <p:sp>
        <p:nvSpPr>
          <p:cNvPr id="9" name="prot step 1"/>
          <p:cNvSpPr/>
          <p:nvPr/>
        </p:nvSpPr>
        <p:spPr>
          <a:xfrm>
            <a:off x="2423160" y="1600200"/>
            <a:ext cx="1216152" cy="1874520"/>
          </a:xfrm>
          <a:prstGeom prst="roundRect">
            <a:avLst>
              <a:gd name="adj" fmla="val 9023"/>
            </a:avLst>
          </a:prstGeom>
          <a:solidFill>
            <a:schemeClr val="tx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532888" y="169164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532888" y="2194560"/>
            <a:ext cx="10332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Validate SDRF</a:t>
            </a:r>
            <a:endParaRPr lang="en-US" sz="1300" dirty="0"/>
          </a:p>
        </p:txBody>
      </p:sp>
      <p:sp>
        <p:nvSpPr>
          <p:cNvPr id="12" name="prot step 2"/>
          <p:cNvSpPr/>
          <p:nvPr/>
        </p:nvSpPr>
        <p:spPr>
          <a:xfrm>
            <a:off x="3749040" y="1600200"/>
            <a:ext cx="1216152" cy="1874520"/>
          </a:xfrm>
          <a:prstGeom prst="roundRect">
            <a:avLst>
              <a:gd name="adj" fmla="val 9023"/>
            </a:avLst>
          </a:prstGeom>
          <a:solidFill>
            <a:schemeClr val="tx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858768" y="169164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3858768" y="2194560"/>
            <a:ext cx="10332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Predict library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(deep learning)</a:t>
            </a:r>
            <a:endParaRPr lang="en-US" sz="1300" dirty="0"/>
          </a:p>
        </p:txBody>
      </p:sp>
      <p:sp>
        <p:nvSpPr>
          <p:cNvPr id="15" name="prot step 3"/>
          <p:cNvSpPr/>
          <p:nvPr/>
        </p:nvSpPr>
        <p:spPr>
          <a:xfrm>
            <a:off x="5074920" y="1600200"/>
            <a:ext cx="1216152" cy="1874520"/>
          </a:xfrm>
          <a:prstGeom prst="roundRect">
            <a:avLst>
              <a:gd name="adj" fmla="val 9023"/>
            </a:avLst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184648" y="169164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5184648" y="2194560"/>
            <a:ext cx="10332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Calibrate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per file</a:t>
            </a:r>
            <a:endParaRPr lang="en-US" sz="1300" dirty="0"/>
          </a:p>
        </p:txBody>
      </p:sp>
      <p:sp>
        <p:nvSpPr>
          <p:cNvPr id="18" name="prot step 4"/>
          <p:cNvSpPr/>
          <p:nvPr/>
        </p:nvSpPr>
        <p:spPr>
          <a:xfrm>
            <a:off x="6400800" y="1600200"/>
            <a:ext cx="1216152" cy="1874520"/>
          </a:xfrm>
          <a:prstGeom prst="roundRect">
            <a:avLst>
              <a:gd name="adj" fmla="val 9023"/>
            </a:avLst>
          </a:prstGeom>
          <a:solidFill>
            <a:schemeClr val="accent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10528" y="169164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510528" y="2194560"/>
            <a:ext cx="10332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Empirical library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from own data</a:t>
            </a:r>
            <a:endParaRPr lang="en-US" sz="1300" dirty="0"/>
          </a:p>
        </p:txBody>
      </p:sp>
      <p:sp>
        <p:nvSpPr>
          <p:cNvPr id="21" name="prot step 5"/>
          <p:cNvSpPr/>
          <p:nvPr/>
        </p:nvSpPr>
        <p:spPr>
          <a:xfrm>
            <a:off x="7726680" y="1600200"/>
            <a:ext cx="1216152" cy="1874520"/>
          </a:xfrm>
          <a:prstGeom prst="roundRect">
            <a:avLst>
              <a:gd name="adj" fmla="val 9023"/>
            </a:avLst>
          </a:prstGeom>
          <a:solidFill>
            <a:schemeClr val="accent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836408" y="169164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7836408" y="2194560"/>
            <a:ext cx="10332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Search each file</a:t>
            </a:r>
            <a:endParaRPr lang="en-US" sz="1300" dirty="0"/>
          </a:p>
        </p:txBody>
      </p:sp>
      <p:sp>
        <p:nvSpPr>
          <p:cNvPr id="24" name="prot step 6"/>
          <p:cNvSpPr/>
          <p:nvPr/>
        </p:nvSpPr>
        <p:spPr>
          <a:xfrm>
            <a:off x="9052560" y="1600200"/>
            <a:ext cx="1216152" cy="1874520"/>
          </a:xfrm>
          <a:prstGeom prst="roundRect">
            <a:avLst>
              <a:gd name="adj" fmla="val 9023"/>
            </a:avLst>
          </a:prstGeom>
          <a:solidFill>
            <a:schemeClr val="tx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62288" y="169164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9162288" y="2194560"/>
            <a:ext cx="10332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Quantify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MaxLFQ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074920" y="354787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steps 3–5: the two-pass trick that makes library-free DIA work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2423160" y="41148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report.pg_matrix.tsv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257800" y="4114800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protein groups × runs — the table analysed downstream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2423160" y="46177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multiqc_report.html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257800" y="4617720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IDs per run, RT stability, TIC — open this first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2423160" y="51206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*_msstats_in.csv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257800" y="5120640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long format for MSstats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41148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Outputs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57150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Paper settings mirrored: trypsin, ≤ 2 missed cleavages, 15 ppm, 1 % FDR, MBR on. Conda is not supported — DIA-NN needs a container.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Metabolomics: nf-core/metaboigniter (OpenMS)</a:t>
            </a:r>
            <a:endParaRPr lang="en-US" sz="3200" dirty="0"/>
          </a:p>
        </p:txBody>
      </p:sp>
      <p:sp>
        <p:nvSpPr>
          <p:cNvPr id="3" name="metab step 1"/>
          <p:cNvSpPr/>
          <p:nvPr/>
        </p:nvSpPr>
        <p:spPr>
          <a:xfrm>
            <a:off x="548640" y="1453896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453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4173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Peak picking</a:t>
            </a:r>
            <a:endParaRPr lang="en-US" sz="1500" dirty="0"/>
          </a:p>
        </p:txBody>
      </p:sp>
      <p:sp>
        <p:nvSpPr>
          <p:cNvPr id="6" name="metab step 2"/>
          <p:cNvSpPr/>
          <p:nvPr/>
        </p:nvSpPr>
        <p:spPr>
          <a:xfrm>
            <a:off x="548640" y="2002536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002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965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Feature detection</a:t>
            </a:r>
            <a:endParaRPr lang="en-US" sz="1500" dirty="0"/>
          </a:p>
        </p:txBody>
      </p:sp>
      <p:sp>
        <p:nvSpPr>
          <p:cNvPr id="9" name="metab step 3"/>
          <p:cNvSpPr/>
          <p:nvPr/>
        </p:nvSpPr>
        <p:spPr>
          <a:xfrm>
            <a:off x="548640" y="2551176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551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5146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Adduct grouping</a:t>
            </a:r>
            <a:endParaRPr lang="en-US" sz="1500" dirty="0"/>
          </a:p>
        </p:txBody>
      </p:sp>
      <p:sp>
        <p:nvSpPr>
          <p:cNvPr id="12" name="metab step 4"/>
          <p:cNvSpPr/>
          <p:nvPr/>
        </p:nvSpPr>
        <p:spPr>
          <a:xfrm>
            <a:off x="548640" y="3099816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099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30632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RT alignment</a:t>
            </a:r>
            <a:endParaRPr lang="en-US" sz="1500" dirty="0"/>
          </a:p>
        </p:txBody>
      </p:sp>
      <p:sp>
        <p:nvSpPr>
          <p:cNvPr id="15" name="metab step 5"/>
          <p:cNvSpPr/>
          <p:nvPr/>
        </p:nvSpPr>
        <p:spPr>
          <a:xfrm>
            <a:off x="548640" y="3648456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648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36118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Link across samples</a:t>
            </a:r>
            <a:endParaRPr lang="en-US" sz="1500" dirty="0"/>
          </a:p>
        </p:txBody>
      </p:sp>
      <p:sp>
        <p:nvSpPr>
          <p:cNvPr id="18" name="metab step 6"/>
          <p:cNvSpPr/>
          <p:nvPr/>
        </p:nvSpPr>
        <p:spPr>
          <a:xfrm>
            <a:off x="548640" y="4197096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4197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41605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Requantify</a:t>
            </a:r>
            <a:endParaRPr lang="en-US" sz="1500" dirty="0"/>
          </a:p>
        </p:txBody>
      </p:sp>
      <p:sp>
        <p:nvSpPr>
          <p:cNvPr id="21" name="metab step 7"/>
          <p:cNvSpPr/>
          <p:nvPr/>
        </p:nvSpPr>
        <p:spPr>
          <a:xfrm>
            <a:off x="548640" y="4745736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4745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97280" y="47091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Identify (SIRIUS, MS2Query)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3035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→ feature table: m/z · RT · adduct · intensity per sample</a:t>
            </a:r>
            <a:endParaRPr lang="en-US" sz="1400" dirty="0"/>
          </a:p>
        </p:txBody>
      </p:sp>
      <p:sp>
        <p:nvSpPr>
          <p:cNvPr id="25" name="caveat card"/>
          <p:cNvSpPr/>
          <p:nvPr/>
        </p:nvSpPr>
        <p:spPr>
          <a:xfrm>
            <a:off x="6035040" y="1417320"/>
            <a:ext cx="5608015" cy="425196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/>
        </p:spPr>
      </p:sp>
      <p:sp>
        <p:nvSpPr>
          <p:cNvPr id="26" name="caveat disc"/>
          <p:cNvSpPr/>
          <p:nvPr/>
        </p:nvSpPr>
        <p:spPr>
          <a:xfrm>
            <a:off x="6263640" y="164592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7" name="cavea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35090" y="1817370"/>
            <a:ext cx="342900" cy="34290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7086600" y="169164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cohort cannot go through it</a:t>
            </a:r>
            <a:endParaRPr lang="en-US" sz="1900" dirty="0"/>
          </a:p>
        </p:txBody>
      </p:sp>
      <p:sp>
        <p:nvSpPr>
          <p:cNvPr id="29" name="Text 26"/>
          <p:cNvSpPr txBox="1"/>
          <p:nvPr/>
        </p:nvSpPr>
        <p:spPr>
          <a:xfrm>
            <a:off x="6309360" y="2514600"/>
            <a:ext cx="5120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metaboigniter is untargeted: it picks peaks from full-scan spectra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MTBLS14016 is targeted MRM: each mzML holds ~1 550 SRM chromatograms and zero spectra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Course solution: show where an MRM peak area comes from, then run metaboigniter on a small untargeted study (MTBLS8735)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The cohort matrix = vendor-integrated MRM peak areas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Traps that come with real public data</a:t>
            </a:r>
            <a:endParaRPr lang="en-US" sz="3200" dirty="0"/>
          </a:p>
        </p:txBody>
      </p:sp>
      <p:sp>
        <p:nvSpPr>
          <p:cNvPr id="3" name="trap 1"/>
          <p:cNvSpPr/>
          <p:nvPr/>
        </p:nvSpPr>
        <p:spPr>
          <a:xfrm>
            <a:off x="548640" y="1417320"/>
            <a:ext cx="544068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4" name="trap 1 disc"/>
          <p:cNvSpPr/>
          <p:nvPr/>
        </p:nvSpPr>
        <p:spPr>
          <a:xfrm>
            <a:off x="777240" y="169164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trap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8690" y="1863090"/>
            <a:ext cx="342900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916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Sample names differ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645920" y="2194560"/>
            <a:ext cx="4114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DIA-NN headers say CPKP1–15, everything else CRKP1–15. Join on the wrong string and 15 patients vanish silently.</a:t>
            </a:r>
            <a:endParaRPr lang="en-US" sz="1400" dirty="0"/>
          </a:p>
        </p:txBody>
      </p:sp>
      <p:sp>
        <p:nvSpPr>
          <p:cNvPr id="8" name="trap 2"/>
          <p:cNvSpPr/>
          <p:nvPr/>
        </p:nvSpPr>
        <p:spPr>
          <a:xfrm>
            <a:off x="6172200" y="1417320"/>
            <a:ext cx="544068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9" name="trap 2 disc"/>
          <p:cNvSpPr/>
          <p:nvPr/>
        </p:nvSpPr>
        <p:spPr>
          <a:xfrm>
            <a:off x="6400800" y="169164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trap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0" y="1863090"/>
            <a:ext cx="342900" cy="3429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69480" y="16916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QCs are not patients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7269480" y="2194560"/>
            <a:ext cx="4114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QC_pool1–3 vs QC01–06 — exclude before integrating. The notebooks assert 45 shared patients.</a:t>
            </a:r>
            <a:endParaRPr lang="en-US" sz="1400" dirty="0"/>
          </a:p>
        </p:txBody>
      </p:sp>
      <p:sp>
        <p:nvSpPr>
          <p:cNvPr id="13" name="trap 3"/>
          <p:cNvSpPr/>
          <p:nvPr/>
        </p:nvSpPr>
        <p:spPr>
          <a:xfrm>
            <a:off x="548640" y="3566160"/>
            <a:ext cx="544068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4" name="trap 3 disc"/>
          <p:cNvSpPr/>
          <p:nvPr/>
        </p:nvSpPr>
        <p:spPr>
          <a:xfrm>
            <a:off x="777240" y="384048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trap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90" y="4011930"/>
            <a:ext cx="342900" cy="3429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45920" y="38404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Broken metadata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1645920" y="4343400"/>
            <a:ext cx="4114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two MetaboLights MAF files are byte-identical; assay tables pair samples with the wrong files.</a:t>
            </a:r>
            <a:endParaRPr lang="en-US" sz="1400" dirty="0"/>
          </a:p>
        </p:txBody>
      </p:sp>
      <p:sp>
        <p:nvSpPr>
          <p:cNvPr id="18" name="trap 4"/>
          <p:cNvSpPr/>
          <p:nvPr/>
        </p:nvSpPr>
        <p:spPr>
          <a:xfrm>
            <a:off x="6172200" y="3566160"/>
            <a:ext cx="5440680" cy="1920240"/>
          </a:xfrm>
          <a:prstGeom prst="roundRect">
            <a:avLst>
              <a:gd name="adj" fmla="val 5714"/>
            </a:avLst>
          </a:prstGeom>
          <a:solidFill>
            <a:schemeClr val="tx1"/>
          </a:solidFill>
          <a:ln/>
        </p:spPr>
      </p:sp>
      <p:sp>
        <p:nvSpPr>
          <p:cNvPr id="19" name="trap 4 disc"/>
          <p:cNvSpPr/>
          <p:nvPr/>
        </p:nvSpPr>
        <p:spPr>
          <a:xfrm>
            <a:off x="6400800" y="384048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0" name="trap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0" y="4011930"/>
            <a:ext cx="342900" cy="3429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269480" y="38404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order = group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7269480" y="4343400"/>
            <a:ext cx="4114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All Con, then all CSKP, then all CRKP. Instrument drift is inseparable from biology; no injection order for metabolomics.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8064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Design lesson that costs nothing at the bench: randomise or interleave injection order — and deposit it.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65176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 ·  What each layer says on its own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947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comparison: CRKP vs CSKP — same bacterium, different resistance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Proteomics: six decisions from matrix to list</a:t>
            </a:r>
            <a:endParaRPr lang="en-US" sz="3200" dirty="0"/>
          </a:p>
        </p:txBody>
      </p:sp>
      <p:sp>
        <p:nvSpPr>
          <p:cNvPr id="3" name="prot flow log2"/>
          <p:cNvSpPr/>
          <p:nvPr/>
        </p:nvSpPr>
        <p:spPr>
          <a:xfrm>
            <a:off x="548640" y="1417320"/>
            <a:ext cx="1734769" cy="68580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417320"/>
            <a:ext cx="12775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log2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94560"/>
            <a:ext cx="17347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multiplicative → additive</a:t>
            </a:r>
            <a:endParaRPr lang="en-US" sz="1300" dirty="0"/>
          </a:p>
        </p:txBody>
      </p:sp>
      <p:sp>
        <p:nvSpPr>
          <p:cNvPr id="6" name="prot flow Filter"/>
          <p:cNvSpPr/>
          <p:nvPr/>
        </p:nvSpPr>
        <p:spPr>
          <a:xfrm>
            <a:off x="2420569" y="1417320"/>
            <a:ext cx="1734769" cy="68580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649169" y="1417320"/>
            <a:ext cx="12775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Filter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420569" y="2194560"/>
            <a:ext cx="17347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≥ 70 % of patients</a:t>
            </a:r>
            <a:endParaRPr lang="en-US" sz="1300" dirty="0"/>
          </a:p>
        </p:txBody>
      </p:sp>
      <p:sp>
        <p:nvSpPr>
          <p:cNvPr id="9" name="prot flow Impute"/>
          <p:cNvSpPr/>
          <p:nvPr/>
        </p:nvSpPr>
        <p:spPr>
          <a:xfrm>
            <a:off x="4292498" y="1417320"/>
            <a:ext cx="1734769" cy="68580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21098" y="1417320"/>
            <a:ext cx="12775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Impute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292498" y="2194560"/>
            <a:ext cx="17347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down-shifted normal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(missing = low)</a:t>
            </a:r>
            <a:endParaRPr lang="en-US" sz="1300" dirty="0"/>
          </a:p>
        </p:txBody>
      </p:sp>
      <p:sp>
        <p:nvSpPr>
          <p:cNvPr id="12" name="prot flow Normalise"/>
          <p:cNvSpPr/>
          <p:nvPr/>
        </p:nvSpPr>
        <p:spPr>
          <a:xfrm>
            <a:off x="6164428" y="1417320"/>
            <a:ext cx="1734769" cy="68580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93028" y="1417320"/>
            <a:ext cx="12775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Normalise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164428" y="2194560"/>
            <a:ext cx="17347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sample median</a:t>
            </a:r>
            <a:endParaRPr lang="en-US" sz="1300" dirty="0"/>
          </a:p>
        </p:txBody>
      </p:sp>
      <p:sp>
        <p:nvSpPr>
          <p:cNvPr id="15" name="prot flow Test"/>
          <p:cNvSpPr/>
          <p:nvPr/>
        </p:nvSpPr>
        <p:spPr>
          <a:xfrm>
            <a:off x="8036357" y="1417320"/>
            <a:ext cx="1734769" cy="68580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64957" y="1417320"/>
            <a:ext cx="12775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Test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036357" y="2194560"/>
            <a:ext cx="17347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ANOVA, t-test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CRKP vs CSKP</a:t>
            </a:r>
            <a:endParaRPr lang="en-US" sz="1300" dirty="0"/>
          </a:p>
        </p:txBody>
      </p:sp>
      <p:sp>
        <p:nvSpPr>
          <p:cNvPr id="18" name="prot flow Enrich"/>
          <p:cNvSpPr/>
          <p:nvPr/>
        </p:nvSpPr>
        <p:spPr>
          <a:xfrm>
            <a:off x="9908286" y="1417320"/>
            <a:ext cx="1734769" cy="68580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136886" y="1417320"/>
            <a:ext cx="12775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Enrich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9908286" y="2194560"/>
            <a:ext cx="17347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GO / KEGG,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measured background</a:t>
            </a:r>
            <a:endParaRPr lang="en-US" sz="1300" dirty="0"/>
          </a:p>
        </p:txBody>
      </p:sp>
      <p:sp>
        <p:nvSpPr>
          <p:cNvPr id="21" name="prot stat 1"/>
          <p:cNvSpPr/>
          <p:nvPr/>
        </p:nvSpPr>
        <p:spPr>
          <a:xfrm>
            <a:off x="548640" y="324612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77240" y="33832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1 458</a:t>
            </a:r>
            <a:endParaRPr lang="en-US" sz="44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429768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protein groups</a:t>
            </a:r>
            <a:endParaRPr lang="en-US" sz="1400" dirty="0"/>
          </a:p>
        </p:txBody>
      </p:sp>
      <p:sp>
        <p:nvSpPr>
          <p:cNvPr id="24" name="prot stat 2"/>
          <p:cNvSpPr/>
          <p:nvPr/>
        </p:nvSpPr>
        <p:spPr>
          <a:xfrm>
            <a:off x="3383280" y="324612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611880" y="33832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</a:t>
            </a:r>
            <a:endParaRPr lang="en-US" sz="4400" dirty="0"/>
          </a:p>
        </p:txBody>
      </p:sp>
      <p:sp>
        <p:nvSpPr>
          <p:cNvPr id="26" name="Text 24"/>
          <p:cNvSpPr txBox="1"/>
          <p:nvPr/>
        </p:nvSpPr>
        <p:spPr>
          <a:xfrm>
            <a:off x="3611880" y="429768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published DEPs, CRKP vs CSKP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(68 up · 17 down)</a:t>
            </a:r>
            <a:endParaRPr lang="en-US" sz="1400" dirty="0"/>
          </a:p>
        </p:txBody>
      </p:sp>
      <p:sp>
        <p:nvSpPr>
          <p:cNvPr id="27" name="prot stat 3"/>
          <p:cNvSpPr/>
          <p:nvPr/>
        </p:nvSpPr>
        <p:spPr>
          <a:xfrm>
            <a:off x="6217920" y="324612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46520" y="33832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</a:t>
            </a:r>
            <a:endParaRPr lang="en-US" sz="4400" dirty="0"/>
          </a:p>
        </p:txBody>
      </p:sp>
      <p:sp>
        <p:nvSpPr>
          <p:cNvPr id="29" name="Text 27"/>
          <p:cNvSpPr txBox="1"/>
          <p:nvPr/>
        </p:nvSpPr>
        <p:spPr>
          <a:xfrm>
            <a:off x="6446520" y="429768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proteins rising stepwise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Con → CSKP → CRKP</a:t>
            </a:r>
            <a:endParaRPr lang="en-US" sz="1400" dirty="0"/>
          </a:p>
        </p:txBody>
      </p:sp>
      <p:sp>
        <p:nvSpPr>
          <p:cNvPr id="30" name="prot stat 4"/>
          <p:cNvSpPr/>
          <p:nvPr/>
        </p:nvSpPr>
        <p:spPr>
          <a:xfrm>
            <a:off x="9052560" y="324612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281160" y="33832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0.92</a:t>
            </a:r>
            <a:endParaRPr lang="en-US" sz="4400" dirty="0"/>
          </a:p>
        </p:txBody>
      </p:sp>
      <p:sp>
        <p:nvSpPr>
          <p:cNvPr id="32" name="Text 30"/>
          <p:cNvSpPr txBox="1"/>
          <p:nvPr/>
        </p:nvSpPr>
        <p:spPr>
          <a:xfrm>
            <a:off x="9281160" y="429768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AUC, 4-protein panel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(discovery cohort)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5321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Paper's DEP rule: unadjusted p &lt; 0.05 and |log2FC| ≥ 0.58 — far fewer proteins survive 5 % FDR. Hypothesis-generating, then validated by PRM.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Proteomics: antigen presentation and a 4-protein panel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60350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34924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* driven by the same HLA-C / B2M / CALR genes</a:t>
            </a:r>
            <a:endParaRPr lang="en-US" sz="1100" dirty="0"/>
          </a:p>
        </p:txBody>
      </p:sp>
      <p:sp>
        <p:nvSpPr>
          <p:cNvPr id="5" name="prot finding 1"/>
          <p:cNvSpPr/>
          <p:nvPr/>
        </p:nvSpPr>
        <p:spPr>
          <a:xfrm>
            <a:off x="6949440" y="1508760"/>
            <a:ext cx="292608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406640" y="146304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Immune recognition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406640" y="187452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HLA-C, B2M, CALR, CANX, CTSL — MHC class I antigen presentation shifts with resistance</a:t>
            </a:r>
            <a:endParaRPr lang="en-US" sz="1400" dirty="0"/>
          </a:p>
        </p:txBody>
      </p:sp>
      <p:sp>
        <p:nvSpPr>
          <p:cNvPr id="8" name="prot finding 2"/>
          <p:cNvSpPr/>
          <p:nvPr/>
        </p:nvSpPr>
        <p:spPr>
          <a:xfrm>
            <a:off x="6949440" y="2834640"/>
            <a:ext cx="292608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406640" y="278892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Diagnostic panel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406640" y="320040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IGHV1-8 · ITGA2 · PKP1 · IGFBP6 — AUC 0.920 (LASSO, 70/30 split), confirmed by PRM in a second cohort</a:t>
            </a:r>
            <a:endParaRPr lang="en-US" sz="1400" dirty="0"/>
          </a:p>
        </p:txBody>
      </p:sp>
      <p:sp>
        <p:nvSpPr>
          <p:cNvPr id="11" name="prot finding 3"/>
          <p:cNvSpPr/>
          <p:nvPr/>
        </p:nvSpPr>
        <p:spPr>
          <a:xfrm>
            <a:off x="6949440" y="4160520"/>
            <a:ext cx="292608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406640" y="411480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Network hubs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7406640" y="452628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CD44 and B2M; coagulation (VWF) among stepwise-rising proteins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Metabolomics: the QC samples become the ruler</a:t>
            </a:r>
            <a:endParaRPr lang="en-US" sz="3200" dirty="0"/>
          </a:p>
        </p:txBody>
      </p:sp>
      <p:sp>
        <p:nvSpPr>
          <p:cNvPr id="3" name="metab flow 80 % rule"/>
          <p:cNvSpPr/>
          <p:nvPr/>
        </p:nvSpPr>
        <p:spPr>
          <a:xfrm>
            <a:off x="548640" y="1417320"/>
            <a:ext cx="1734769" cy="685800"/>
          </a:xfrm>
          <a:prstGeom prst="chevron">
            <a:avLst/>
          </a:prstGeom>
          <a:solidFill>
            <a:schemeClr val="accent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417320"/>
            <a:ext cx="12775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80 % rule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94560"/>
            <a:ext cx="17347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measured in ≥ 80 % of patients</a:t>
            </a:r>
            <a:endParaRPr lang="en-US" sz="1300" dirty="0"/>
          </a:p>
        </p:txBody>
      </p:sp>
      <p:sp>
        <p:nvSpPr>
          <p:cNvPr id="6" name="metab flow CV filter"/>
          <p:cNvSpPr/>
          <p:nvPr/>
        </p:nvSpPr>
        <p:spPr>
          <a:xfrm>
            <a:off x="2420569" y="1417320"/>
            <a:ext cx="1734769" cy="685800"/>
          </a:xfrm>
          <a:prstGeom prst="chevron">
            <a:avLst/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649169" y="1417320"/>
            <a:ext cx="12775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CV filter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420569" y="2194560"/>
            <a:ext cx="17347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QC CV &lt; patient CV</a:t>
            </a:r>
            <a:endParaRPr lang="en-US" sz="1300" dirty="0"/>
          </a:p>
        </p:txBody>
      </p:sp>
      <p:sp>
        <p:nvSpPr>
          <p:cNvPr id="9" name="metab flow D-ratio ≤ 0.5"/>
          <p:cNvSpPr/>
          <p:nvPr/>
        </p:nvSpPr>
        <p:spPr>
          <a:xfrm>
            <a:off x="4292498" y="1417320"/>
            <a:ext cx="1734769" cy="685800"/>
          </a:xfrm>
          <a:prstGeom prst="chevron">
            <a:avLst/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21098" y="1417320"/>
            <a:ext cx="12775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D-ratio ≤ 0.5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292498" y="2194560"/>
            <a:ext cx="17347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technical / biological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dispersion (MAD)</a:t>
            </a:r>
            <a:endParaRPr lang="en-US" sz="1300" dirty="0"/>
          </a:p>
        </p:txBody>
      </p:sp>
      <p:sp>
        <p:nvSpPr>
          <p:cNvPr id="12" name="metab flow Half-min"/>
          <p:cNvSpPr/>
          <p:nvPr/>
        </p:nvSpPr>
        <p:spPr>
          <a:xfrm>
            <a:off x="6164428" y="1417320"/>
            <a:ext cx="1734769" cy="685800"/>
          </a:xfrm>
          <a:prstGeom prst="chevron">
            <a:avLst/>
          </a:prstGeom>
          <a:solidFill>
            <a:schemeClr val="accent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93028" y="1417320"/>
            <a:ext cx="12775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Half-min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164428" y="2194560"/>
            <a:ext cx="17347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missing = below LOQ</a:t>
            </a:r>
            <a:endParaRPr lang="en-US" sz="1300" dirty="0"/>
          </a:p>
        </p:txBody>
      </p:sp>
      <p:sp>
        <p:nvSpPr>
          <p:cNvPr id="15" name="metab flow ANCOVA"/>
          <p:cNvSpPr/>
          <p:nvPr/>
        </p:nvSpPr>
        <p:spPr>
          <a:xfrm>
            <a:off x="8036357" y="1417320"/>
            <a:ext cx="1734769" cy="685800"/>
          </a:xfrm>
          <a:prstGeom prst="chevron">
            <a:avLst/>
          </a:prstGeom>
          <a:solidFill>
            <a:schemeClr val="accent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64957" y="1417320"/>
            <a:ext cx="12775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ANCOVA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036357" y="2194560"/>
            <a:ext cx="17347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group effect,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adjusted for age</a:t>
            </a:r>
            <a:endParaRPr lang="en-US" sz="1300" dirty="0"/>
          </a:p>
        </p:txBody>
      </p:sp>
      <p:sp>
        <p:nvSpPr>
          <p:cNvPr id="18" name="metab flow KEGG"/>
          <p:cNvSpPr/>
          <p:nvPr/>
        </p:nvSpPr>
        <p:spPr>
          <a:xfrm>
            <a:off x="9908286" y="1417320"/>
            <a:ext cx="1734769" cy="685800"/>
          </a:xfrm>
          <a:prstGeom prst="chevron">
            <a:avLst/>
          </a:prstGeom>
          <a:solidFill>
            <a:schemeClr val="accent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136886" y="1417320"/>
            <a:ext cx="12775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KEGG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9908286" y="2194560"/>
            <a:ext cx="17347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compound → pathway</a:t>
            </a:r>
            <a:endParaRPr lang="en-US" sz="1300" dirty="0"/>
          </a:p>
        </p:txBody>
      </p:sp>
      <p:sp>
        <p:nvSpPr>
          <p:cNvPr id="21" name="metab stat 1"/>
          <p:cNvSpPr/>
          <p:nvPr/>
        </p:nvSpPr>
        <p:spPr>
          <a:xfrm>
            <a:off x="548640" y="324612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77240" y="33832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1 073</a:t>
            </a:r>
            <a:endParaRPr lang="en-US" sz="44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429768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named metabolites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+ 6 pooled QC injections</a:t>
            </a:r>
            <a:endParaRPr lang="en-US" sz="1400" dirty="0"/>
          </a:p>
        </p:txBody>
      </p:sp>
      <p:sp>
        <p:nvSpPr>
          <p:cNvPr id="24" name="metab stat 2"/>
          <p:cNvSpPr/>
          <p:nvPr/>
        </p:nvSpPr>
        <p:spPr>
          <a:xfrm>
            <a:off x="3383280" y="324612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611880" y="33832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128</a:t>
            </a:r>
            <a:endParaRPr lang="en-US" sz="4400" dirty="0"/>
          </a:p>
        </p:txBody>
      </p:sp>
      <p:sp>
        <p:nvSpPr>
          <p:cNvPr id="26" name="Text 24"/>
          <p:cNvSpPr txBox="1"/>
          <p:nvPr/>
        </p:nvSpPr>
        <p:spPr>
          <a:xfrm>
            <a:off x="3611880" y="429768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published DEMs, CRKP vs CSKP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(71 up · 57 down)</a:t>
            </a:r>
            <a:endParaRPr lang="en-US" sz="1400" dirty="0"/>
          </a:p>
        </p:txBody>
      </p:sp>
      <p:sp>
        <p:nvSpPr>
          <p:cNvPr id="27" name="metab stat 3"/>
          <p:cNvSpPr/>
          <p:nvPr/>
        </p:nvSpPr>
        <p:spPr>
          <a:xfrm>
            <a:off x="6217920" y="324612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46520" y="33832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VIP &gt; 1</a:t>
            </a:r>
            <a:endParaRPr lang="en-US" sz="4400" dirty="0"/>
          </a:p>
        </p:txBody>
      </p:sp>
      <p:sp>
        <p:nvSpPr>
          <p:cNvPr id="29" name="Text 27"/>
          <p:cNvSpPr txBox="1"/>
          <p:nvPr/>
        </p:nvSpPr>
        <p:spPr>
          <a:xfrm>
            <a:off x="6446520" y="429768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OPLS-DA + t-test p &lt; 0.05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(paper's rule)</a:t>
            </a:r>
            <a:endParaRPr lang="en-US" sz="1400" dirty="0"/>
          </a:p>
        </p:txBody>
      </p:sp>
      <p:sp>
        <p:nvSpPr>
          <p:cNvPr id="30" name="metab stat 4"/>
          <p:cNvSpPr/>
          <p:nvPr/>
        </p:nvSpPr>
        <p:spPr>
          <a:xfrm>
            <a:off x="9052560" y="324612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281160" y="33832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</a:t>
            </a:r>
            <a:endParaRPr lang="en-US" sz="4400" dirty="0"/>
          </a:p>
        </p:txBody>
      </p:sp>
      <p:sp>
        <p:nvSpPr>
          <p:cNvPr id="32" name="Text 30"/>
          <p:cNvSpPr txBox="1"/>
          <p:nvPr/>
        </p:nvSpPr>
        <p:spPr>
          <a:xfrm>
            <a:off x="9281160" y="429768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drift correction possible —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injection order never deposited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5321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Three steps differ from proteomics: QC-based filtering, a different meaning of 'missing', and a covariate in the test.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Metabolomics: lipid fuel and amino-acid metabolism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60350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34924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Broad maps (Metabolic pathways, 31; Thermogenesis, 16) omitted</a:t>
            </a:r>
            <a:endParaRPr lang="en-US" sz="1100" dirty="0"/>
          </a:p>
        </p:txBody>
      </p:sp>
      <p:sp>
        <p:nvSpPr>
          <p:cNvPr id="5" name="metab finding 1"/>
          <p:cNvSpPr/>
          <p:nvPr/>
        </p:nvSpPr>
        <p:spPr>
          <a:xfrm>
            <a:off x="6949440" y="1508760"/>
            <a:ext cx="292608" cy="29260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406640" y="146304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Fatty-acid fuel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406640" y="187452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Acylcarnitines (C16-OH, C17:0) and free fatty acids higher in CRKP — a shift in mitochondrial fuel use</a:t>
            </a:r>
            <a:endParaRPr lang="en-US" sz="1400" dirty="0"/>
          </a:p>
        </p:txBody>
      </p:sp>
      <p:sp>
        <p:nvSpPr>
          <p:cNvPr id="8" name="metab finding 2"/>
          <p:cNvSpPr/>
          <p:nvPr/>
        </p:nvSpPr>
        <p:spPr>
          <a:xfrm>
            <a:off x="6949440" y="2834640"/>
            <a:ext cx="292608" cy="29260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406640" y="278892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Amino acids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406640" y="320040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Lysine up; amino-acid biosynthesis, D-amino-acid and arginine/proline pathways enriched</a:t>
            </a:r>
            <a:endParaRPr lang="en-US" sz="1400" dirty="0"/>
          </a:p>
        </p:txBody>
      </p:sp>
      <p:sp>
        <p:nvSpPr>
          <p:cNvPr id="11" name="metab finding 3"/>
          <p:cNvSpPr/>
          <p:nvPr/>
        </p:nvSpPr>
        <p:spPr>
          <a:xfrm>
            <a:off x="6949440" y="4160520"/>
            <a:ext cx="292608" cy="29260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406640" y="411480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Methionine cycle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7406640" y="452628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Cysteine &amp; methionine metabolism — the pathway where the two layers will meet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lessons before we integrate</a:t>
            </a:r>
            <a:endParaRPr lang="en-US" sz="3200" dirty="0"/>
          </a:p>
        </p:txBody>
      </p:sp>
      <p:sp>
        <p:nvSpPr>
          <p:cNvPr id="3" name="lesson 1"/>
          <p:cNvSpPr/>
          <p:nvPr/>
        </p:nvSpPr>
        <p:spPr>
          <a:xfrm>
            <a:off x="548640" y="1463040"/>
            <a:ext cx="5440680" cy="3931920"/>
          </a:xfrm>
          <a:prstGeom prst="roundRect">
            <a:avLst>
              <a:gd name="adj" fmla="val 2791"/>
            </a:avLst>
          </a:prstGeom>
          <a:solidFill>
            <a:schemeClr val="tx1"/>
          </a:solidFill>
          <a:ln/>
          <a:effectLst>
            <a:outerShdw sx="100000" sy="100000" kx="0" ky="0" algn="bl" rotWithShape="0" blurRad="76200" dist="25400" dir="5400000">
              <a:srgbClr val="8A96A8">
                <a:alpha val="25000"/>
              </a:srgbClr>
            </a:outerShdw>
          </a:effectLst>
        </p:spPr>
      </p:sp>
      <p:sp>
        <p:nvSpPr>
          <p:cNvPr id="4" name="lesson 1 disc"/>
          <p:cNvSpPr/>
          <p:nvPr/>
        </p:nvSpPr>
        <p:spPr>
          <a:xfrm>
            <a:off x="868680" y="1737360"/>
            <a:ext cx="822960" cy="82296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5" name="lesso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" y="194310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7432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Severity dominates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383280"/>
            <a:ext cx="4800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In PCA neither layer separates Con, CSKP and CRKP. The largest variance is how ill each patient is — the resistance signal is a small perturbation on top.</a:t>
            </a:r>
            <a:endParaRPr lang="en-US" sz="1600" dirty="0"/>
          </a:p>
        </p:txBody>
      </p:sp>
      <p:sp>
        <p:nvSpPr>
          <p:cNvPr id="8" name="lesson 2"/>
          <p:cNvSpPr/>
          <p:nvPr/>
        </p:nvSpPr>
        <p:spPr>
          <a:xfrm>
            <a:off x="6172200" y="1463040"/>
            <a:ext cx="5440680" cy="3931920"/>
          </a:xfrm>
          <a:prstGeom prst="roundRect">
            <a:avLst>
              <a:gd name="adj" fmla="val 2791"/>
            </a:avLst>
          </a:prstGeom>
          <a:solidFill>
            <a:schemeClr val="accent4"/>
          </a:solidFill>
          <a:ln/>
          <a:effectLst>
            <a:outerShdw sx="100000" sy="100000" kx="0" ky="0" algn="bl" rotWithShape="0" blurRad="76200" dist="25400" dir="5400000">
              <a:srgbClr val="8A96A8">
                <a:alpha val="25000"/>
              </a:srgbClr>
            </a:outerShdw>
          </a:effectLst>
        </p:spPr>
      </p:sp>
      <p:sp>
        <p:nvSpPr>
          <p:cNvPr id="9" name="lesson 2 disc"/>
          <p:cNvSpPr/>
          <p:nvPr/>
        </p:nvSpPr>
        <p:spPr>
          <a:xfrm>
            <a:off x="6492240" y="1737360"/>
            <a:ext cx="822960" cy="82296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10" name="lesso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7980" y="194310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92240" y="27432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list = data + choices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3383280"/>
            <a:ext cx="4800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Re-analysing the same matrix reproduces the published effect sizes closely, but not the same list. Filtering, imputation and thresholds change membership.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So the question for integration is not 'do the groups separate?' but 'what structure is shared, and where does mechanism cross layers?'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65176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 ·  Integration in three minutes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947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enough to start the notebooks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to combine two layers</a:t>
            </a:r>
            <a:endParaRPr lang="en-US" sz="3200" dirty="0"/>
          </a:p>
        </p:txBody>
      </p:sp>
      <p:sp>
        <p:nvSpPr>
          <p:cNvPr id="3" name="strategy Early"/>
          <p:cNvSpPr/>
          <p:nvPr/>
        </p:nvSpPr>
        <p:spPr>
          <a:xfrm>
            <a:off x="548640" y="146304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8A96A8">
                <a:alpha val="25000"/>
              </a:srgbClr>
            </a:outerShdw>
          </a:effectLst>
        </p:spPr>
      </p:sp>
      <p:sp>
        <p:nvSpPr>
          <p:cNvPr id="4" name="strategy head Early"/>
          <p:cNvSpPr/>
          <p:nvPr/>
        </p:nvSpPr>
        <p:spPr>
          <a:xfrm>
            <a:off x="822960" y="1691640"/>
            <a:ext cx="2971800" cy="548640"/>
          </a:xfrm>
          <a:prstGeom prst="roundRect">
            <a:avLst>
              <a:gd name="adj" fmla="val 13333"/>
            </a:avLst>
          </a:prstGeom>
          <a:solidFill>
            <a:schemeClr val="accent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69164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Early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6888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Concatenate matrices, analyse as one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4612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PCA, penalised regression on the joint matrix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2062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3"/>
                </a:solidFill>
              </a:rPr>
              <a:t>The wider, noisier layer shouts down the other</a:t>
            </a:r>
            <a:endParaRPr lang="en-US" sz="1400" dirty="0"/>
          </a:p>
        </p:txBody>
      </p:sp>
      <p:sp>
        <p:nvSpPr>
          <p:cNvPr id="9" name="strategy Intermediate"/>
          <p:cNvSpPr/>
          <p:nvPr/>
        </p:nvSpPr>
        <p:spPr>
          <a:xfrm>
            <a:off x="4297680" y="146304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8A96A8">
                <a:alpha val="25000"/>
              </a:srgbClr>
            </a:outerShdw>
          </a:effectLst>
        </p:spPr>
      </p:sp>
      <p:sp>
        <p:nvSpPr>
          <p:cNvPr id="10" name="strategy head Intermediate"/>
          <p:cNvSpPr/>
          <p:nvPr/>
        </p:nvSpPr>
        <p:spPr>
          <a:xfrm>
            <a:off x="4572000" y="1691640"/>
            <a:ext cx="2971800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0" y="169164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Intermediate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46888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Learn a shared latent space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324612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SNF, MOFA, MCIA, DIABLO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42062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4"/>
                </a:solidFill>
              </a:rPr>
              <a:t>Default for discovery — Hands-on I</a:t>
            </a:r>
            <a:endParaRPr lang="en-US" sz="1400" dirty="0"/>
          </a:p>
        </p:txBody>
      </p:sp>
      <p:sp>
        <p:nvSpPr>
          <p:cNvPr id="15" name="strategy Late"/>
          <p:cNvSpPr/>
          <p:nvPr/>
        </p:nvSpPr>
        <p:spPr>
          <a:xfrm>
            <a:off x="8046720" y="146304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8A96A8">
                <a:alpha val="25000"/>
              </a:srgbClr>
            </a:outerShdw>
          </a:effectLst>
        </p:spPr>
      </p:sp>
      <p:sp>
        <p:nvSpPr>
          <p:cNvPr id="16" name="strategy head Late"/>
          <p:cNvSpPr/>
          <p:nvPr/>
        </p:nvSpPr>
        <p:spPr>
          <a:xfrm>
            <a:off x="8321040" y="1691640"/>
            <a:ext cx="2971800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21040" y="169164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Late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246888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Analyse each layer, combine results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324612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Joint pathway analysis, rank aggregation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42062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Interpretable, robust — Hands-on II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577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Unsupervised first: with 15 per group, supervised methods overfit. Use labels only to check what you found.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zero: two views of the same patients</a:t>
            </a:r>
            <a:endParaRPr lang="en-US" sz="3200" dirty="0"/>
          </a:p>
        </p:txBody>
      </p:sp>
      <p:sp>
        <p:nvSpPr>
          <p:cNvPr id="3" name="prep 1"/>
          <p:cNvSpPr/>
          <p:nvPr/>
        </p:nvSpPr>
        <p:spPr>
          <a:xfrm>
            <a:off x="548640" y="1417320"/>
            <a:ext cx="548640" cy="548640"/>
          </a:xfrm>
          <a:prstGeom prst="roundRect">
            <a:avLst>
              <a:gd name="adj" fmla="val 13333"/>
            </a:avLst>
          </a:prstGeom>
          <a:solidFill>
            <a:schemeClr val="tx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417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Intersect IDs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3108960" y="14173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assert 45 shared patients</a:t>
            </a:r>
            <a:endParaRPr lang="en-US" sz="1500" dirty="0"/>
          </a:p>
        </p:txBody>
      </p:sp>
      <p:sp>
        <p:nvSpPr>
          <p:cNvPr id="7" name="prep 2"/>
          <p:cNvSpPr/>
          <p:nvPr/>
        </p:nvSpPr>
        <p:spPr>
          <a:xfrm>
            <a:off x="548640" y="2194560"/>
            <a:ext cx="548640" cy="548640"/>
          </a:xfrm>
          <a:prstGeom prst="roundRect">
            <a:avLst>
              <a:gd name="adj" fmla="val 13333"/>
            </a:avLst>
          </a:prstGeom>
          <a:solidFill>
            <a:schemeClr val="tx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1945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log2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10896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both are multiplicative</a:t>
            </a:r>
            <a:endParaRPr lang="en-US" sz="1500" dirty="0"/>
          </a:p>
        </p:txBody>
      </p:sp>
      <p:sp>
        <p:nvSpPr>
          <p:cNvPr id="11" name="prep 3"/>
          <p:cNvSpPr/>
          <p:nvPr/>
        </p:nvSpPr>
        <p:spPr>
          <a:xfrm>
            <a:off x="548640" y="2971800"/>
            <a:ext cx="548640" cy="548640"/>
          </a:xfrm>
          <a:prstGeom prst="roundRect">
            <a:avLst>
              <a:gd name="adj" fmla="val 13333"/>
            </a:avLst>
          </a:prstGeom>
          <a:solidFill>
            <a:schemeClr val="tx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9718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Filter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108960" y="29718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≤ 30 % missing</a:t>
            </a:r>
            <a:endParaRPr lang="en-US" sz="1500" dirty="0"/>
          </a:p>
        </p:txBody>
      </p:sp>
      <p:sp>
        <p:nvSpPr>
          <p:cNvPr id="15" name="prep 4"/>
          <p:cNvSpPr/>
          <p:nvPr/>
        </p:nvSpPr>
        <p:spPr>
          <a:xfrm>
            <a:off x="548640" y="3749040"/>
            <a:ext cx="548640" cy="548640"/>
          </a:xfrm>
          <a:prstGeom prst="roundRect">
            <a:avLst>
              <a:gd name="adj" fmla="val 13333"/>
            </a:avLst>
          </a:prstGeom>
          <a:solidFill>
            <a:schemeClr val="tx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749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37490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Impute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3108960" y="37490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feature minimum</a:t>
            </a:r>
            <a:endParaRPr lang="en-US" sz="1500" dirty="0"/>
          </a:p>
        </p:txBody>
      </p:sp>
      <p:sp>
        <p:nvSpPr>
          <p:cNvPr id="19" name="prep 5"/>
          <p:cNvSpPr/>
          <p:nvPr/>
        </p:nvSpPr>
        <p:spPr>
          <a:xfrm>
            <a:off x="548640" y="4526280"/>
            <a:ext cx="548640" cy="548640"/>
          </a:xfrm>
          <a:prstGeom prst="roundRect">
            <a:avLst>
              <a:gd name="adj" fmla="val 13333"/>
            </a:avLst>
          </a:prstGeom>
          <a:solidFill>
            <a:schemeClr val="tx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526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45262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z-score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3108960" y="45262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per feature</a:t>
            </a:r>
            <a:endParaRPr lang="en-US" sz="1500" dirty="0"/>
          </a:p>
        </p:txBody>
      </p:sp>
      <p:sp>
        <p:nvSpPr>
          <p:cNvPr id="23" name="assert code"/>
          <p:cNvSpPr/>
          <p:nvPr/>
        </p:nvSpPr>
        <p:spPr>
          <a:xfrm>
            <a:off x="6217920" y="1417320"/>
            <a:ext cx="5425135" cy="1600200"/>
          </a:xfrm>
          <a:prstGeom prst="roundRect">
            <a:avLst>
              <a:gd name="adj" fmla="val 6857"/>
            </a:avLst>
          </a:prstGeom>
          <a:solidFill>
            <a:schemeClr val="tx1"/>
          </a:solidFill>
          <a:ln/>
          <a:effectLst>
            <a:outerShdw sx="100000" sy="100000" kx="0" ky="0" algn="bl" rotWithShape="0" blurRad="76200" dist="25400" dir="5400000">
              <a:srgbClr val="8A96A8">
                <a:alpha val="2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446520" y="160020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shared = [s for s in metadata.index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if s in proteins and s in metabolites]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 len(shared) == 45,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"layers no longer describe one cohort"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217920" y="3291840"/>
            <a:ext cx="542513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Silent sample mismatches are the most common way multi-omics produces confident nonsense: shapes still match, code still runs.</a:t>
            </a:r>
            <a:endParaRPr lang="en-US" sz="1500" dirty="0"/>
          </a:p>
          <a:p>
            <a:pPr indent="0" marL="0">
              <a:buNone/>
            </a:pPr>
            <a:r>
              <a:rPr lang="en-US" sz="600" dirty="0">
                <a:solidFill>
                  <a:schemeClr val="tx2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z-scoring stops one feature dominating by units and one layer dominating by dynamic range.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methods you will run</a:t>
            </a:r>
            <a:endParaRPr lang="en-US" sz="3200" dirty="0"/>
          </a:p>
        </p:txBody>
      </p:sp>
      <p:sp>
        <p:nvSpPr>
          <p:cNvPr id="3" name="method 1"/>
          <p:cNvSpPr/>
          <p:nvPr/>
        </p:nvSpPr>
        <p:spPr>
          <a:xfrm>
            <a:off x="548640" y="1417320"/>
            <a:ext cx="5440680" cy="41148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/>
        </p:spPr>
      </p:sp>
      <p:sp>
        <p:nvSpPr>
          <p:cNvPr id="4" name="method 1 disc"/>
          <p:cNvSpPr/>
          <p:nvPr/>
        </p:nvSpPr>
        <p:spPr>
          <a:xfrm>
            <a:off x="822960" y="1645920"/>
            <a:ext cx="777240" cy="7772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5" name="method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0" y="1840230"/>
            <a:ext cx="388620" cy="3886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16459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Similarity Network Fusion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2057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Compare patients, not features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697480"/>
            <a:ext cx="4892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Per layer: patient × patient similarity network (K nearest neighbours)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Fuse by diffusion: similarities supported by both layers are reinforced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Spectral clustering → compare clusters with groups (NMI, ARI) and clinical labs</a:t>
            </a:r>
            <a:endParaRPr lang="en-US" sz="1500" dirty="0"/>
          </a:p>
        </p:txBody>
      </p:sp>
      <p:sp>
        <p:nvSpPr>
          <p:cNvPr id="9" name="method 2"/>
          <p:cNvSpPr/>
          <p:nvPr/>
        </p:nvSpPr>
        <p:spPr>
          <a:xfrm>
            <a:off x="6172200" y="1417320"/>
            <a:ext cx="5440680" cy="41148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/>
        </p:spPr>
      </p:sp>
      <p:sp>
        <p:nvSpPr>
          <p:cNvPr id="10" name="method 2 disc"/>
          <p:cNvSpPr/>
          <p:nvPr/>
        </p:nvSpPr>
        <p:spPr>
          <a:xfrm>
            <a:off x="6446520" y="1645920"/>
            <a:ext cx="777240" cy="7772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1" name="method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0830" y="1840230"/>
            <a:ext cx="388620" cy="3886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406640" y="16459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Multi-Omics Factor Analysis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7406640" y="2057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Find the sources of variation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446520" y="2697480"/>
            <a:ext cx="4892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Data ≈ factors (Z) × weights (W), one weight matrix per layer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Variance explained per factor and layer: shared vs layer-specific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Correlate factors with group, CRP, PCT, creatinine; inspect top weights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57150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Mantel test first: do patients who look alike in the proteome also look alike in the metabolome?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layers meet: the methionine cycle</a:t>
            </a:r>
            <a:endParaRPr lang="en-US" sz="3200" dirty="0"/>
          </a:p>
        </p:txBody>
      </p:sp>
      <p:sp>
        <p:nvSpPr>
          <p:cNvPr id="3" name="cycle Methionine"/>
          <p:cNvSpPr/>
          <p:nvPr/>
        </p:nvSpPr>
        <p:spPr>
          <a:xfrm>
            <a:off x="640080" y="2286000"/>
            <a:ext cx="13258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2286000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Methionine</a:t>
            </a:r>
            <a:endParaRPr lang="en-US" sz="1400" dirty="0"/>
          </a:p>
        </p:txBody>
      </p:sp>
      <p:sp>
        <p:nvSpPr>
          <p:cNvPr id="5" name="cycle arrow"/>
          <p:cNvSpPr/>
          <p:nvPr/>
        </p:nvSpPr>
        <p:spPr>
          <a:xfrm>
            <a:off x="1965960" y="2606040"/>
            <a:ext cx="914400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6" name="cycle SAM"/>
          <p:cNvSpPr/>
          <p:nvPr/>
        </p:nvSpPr>
        <p:spPr>
          <a:xfrm>
            <a:off x="2880360" y="2286000"/>
            <a:ext cx="13258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880360" y="2286000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SAM</a:t>
            </a:r>
            <a:endParaRPr lang="en-US" sz="1400" dirty="0"/>
          </a:p>
        </p:txBody>
      </p:sp>
      <p:sp>
        <p:nvSpPr>
          <p:cNvPr id="8" name="cycle arrow"/>
          <p:cNvSpPr/>
          <p:nvPr/>
        </p:nvSpPr>
        <p:spPr>
          <a:xfrm>
            <a:off x="4206240" y="2606040"/>
            <a:ext cx="914400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9" name="cycle SAH"/>
          <p:cNvSpPr/>
          <p:nvPr/>
        </p:nvSpPr>
        <p:spPr>
          <a:xfrm>
            <a:off x="5120640" y="2286000"/>
            <a:ext cx="13258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120640" y="2286000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SAH</a:t>
            </a:r>
            <a:endParaRPr lang="en-US" sz="1400" dirty="0"/>
          </a:p>
        </p:txBody>
      </p:sp>
      <p:sp>
        <p:nvSpPr>
          <p:cNvPr id="11" name="cycle arrow"/>
          <p:cNvSpPr/>
          <p:nvPr/>
        </p:nvSpPr>
        <p:spPr>
          <a:xfrm>
            <a:off x="5779008" y="2926080"/>
            <a:ext cx="0" cy="82296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2" name="cycle Homocysteine"/>
          <p:cNvSpPr/>
          <p:nvPr/>
        </p:nvSpPr>
        <p:spPr>
          <a:xfrm>
            <a:off x="5120640" y="3749040"/>
            <a:ext cx="13258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120640" y="3749040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Homocysteine</a:t>
            </a:r>
            <a:endParaRPr lang="en-US" sz="1400" dirty="0"/>
          </a:p>
        </p:txBody>
      </p:sp>
      <p:sp>
        <p:nvSpPr>
          <p:cNvPr id="14" name="cycle arrow"/>
          <p:cNvSpPr/>
          <p:nvPr/>
        </p:nvSpPr>
        <p:spPr>
          <a:xfrm>
            <a:off x="5779008" y="4389120"/>
            <a:ext cx="0" cy="68580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5" name="cycle Cysteine"/>
          <p:cNvSpPr/>
          <p:nvPr/>
        </p:nvSpPr>
        <p:spPr>
          <a:xfrm>
            <a:off x="5120640" y="5074920"/>
            <a:ext cx="13258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120640" y="5074920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Cysteine</a:t>
            </a:r>
            <a:endParaRPr lang="en-US" sz="1400" dirty="0"/>
          </a:p>
        </p:txBody>
      </p:sp>
      <p:sp>
        <p:nvSpPr>
          <p:cNvPr id="17" name="cycle arrow"/>
          <p:cNvSpPr/>
          <p:nvPr/>
        </p:nvSpPr>
        <p:spPr>
          <a:xfrm>
            <a:off x="5120640" y="4069080"/>
            <a:ext cx="-3154680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8" name="cycle arrow up"/>
          <p:cNvSpPr/>
          <p:nvPr/>
        </p:nvSpPr>
        <p:spPr>
          <a:xfrm flipV="1">
            <a:off x="1298448" y="2926080"/>
            <a:ext cx="0" cy="114300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9" name="cycle MAT2B"/>
          <p:cNvSpPr/>
          <p:nvPr/>
        </p:nvSpPr>
        <p:spPr>
          <a:xfrm>
            <a:off x="2880360" y="1371600"/>
            <a:ext cx="13258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880360" y="1371600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MAT2B</a:t>
            </a:r>
            <a:endParaRPr lang="en-US" sz="1400" dirty="0"/>
          </a:p>
        </p:txBody>
      </p:sp>
      <p:sp>
        <p:nvSpPr>
          <p:cNvPr id="21" name="MAT2B link"/>
          <p:cNvSpPr/>
          <p:nvPr/>
        </p:nvSpPr>
        <p:spPr>
          <a:xfrm>
            <a:off x="3538728" y="2011680"/>
            <a:ext cx="0" cy="54864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dash"/>
          </a:ln>
        </p:spPr>
      </p:sp>
      <p:sp>
        <p:nvSpPr>
          <p:cNvPr id="22" name="cycle AHCY"/>
          <p:cNvSpPr/>
          <p:nvPr/>
        </p:nvSpPr>
        <p:spPr>
          <a:xfrm>
            <a:off x="6675120" y="3063240"/>
            <a:ext cx="13258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75120" y="3063240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AHCY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011680" y="41148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remethylation (betaine, folate)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537960" y="52120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→ glutathione</a:t>
            </a:r>
            <a:endParaRPr lang="en-US" sz="1300" dirty="0"/>
          </a:p>
        </p:txBody>
      </p:sp>
      <p:sp>
        <p:nvSpPr>
          <p:cNvPr id="26" name="joint pathway card"/>
          <p:cNvSpPr/>
          <p:nvPr/>
        </p:nvSpPr>
        <p:spPr>
          <a:xfrm>
            <a:off x="8275320" y="1417320"/>
            <a:ext cx="3367735" cy="4160520"/>
          </a:xfrm>
          <a:prstGeom prst="roundRect">
            <a:avLst>
              <a:gd name="adj" fmla="val 3258"/>
            </a:avLst>
          </a:prstGeom>
          <a:solidFill>
            <a:schemeClr val="tx1"/>
          </a:solidFill>
          <a:ln/>
          <a:effectLst>
            <a:outerShdw sx="100000" sy="100000" kx="0" ky="0" algn="bl" rotWithShape="0" blurRad="76200" dist="25400" dir="5400000">
              <a:srgbClr val="8A96A8">
                <a:alpha val="2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503920" y="16002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Published joint pathway analysis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8503920" y="2286000"/>
            <a:ext cx="3017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Cysteine &amp; methionine metabolism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MAT2B + SAM + pyruvate · p = 0.011 · FDR 0.57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chemeClr val="bg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One-carbon pool by folate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MAT2B + SAM · p = 0.026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chemeClr val="bg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Three features, weak alone — but a specific hypothesis you will test with the measurements.</a:t>
            </a:r>
            <a:endParaRPr lang="en-US" sz="1400" dirty="0"/>
          </a:p>
        </p:txBody>
      </p:sp>
      <p:sp>
        <p:nvSpPr>
          <p:cNvPr id="29" name="legend protein"/>
          <p:cNvSpPr/>
          <p:nvPr/>
        </p:nvSpPr>
        <p:spPr>
          <a:xfrm>
            <a:off x="640080" y="5577840"/>
            <a:ext cx="274320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05840" y="5577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enzyme (protein)</a:t>
            </a:r>
            <a:endParaRPr lang="en-US" sz="1200" dirty="0"/>
          </a:p>
        </p:txBody>
      </p:sp>
      <p:sp>
        <p:nvSpPr>
          <p:cNvPr id="31" name="legend metabolite"/>
          <p:cNvSpPr/>
          <p:nvPr/>
        </p:nvSpPr>
        <p:spPr>
          <a:xfrm>
            <a:off x="2834640" y="5577840"/>
            <a:ext cx="274320" cy="2743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200400" y="55778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metabolite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turn: two notebooks in Google Colab</a:t>
            </a:r>
            <a:endParaRPr lang="en-US" sz="3200" dirty="0"/>
          </a:p>
        </p:txBody>
      </p:sp>
      <p:sp>
        <p:nvSpPr>
          <p:cNvPr id="3" name="notebook 1"/>
          <p:cNvSpPr/>
          <p:nvPr/>
        </p:nvSpPr>
        <p:spPr>
          <a:xfrm>
            <a:off x="548640" y="1371600"/>
            <a:ext cx="54406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8A96A8">
                <a:alpha val="25000"/>
              </a:srgbClr>
            </a:outerShdw>
          </a:effectLst>
        </p:spPr>
      </p:sp>
      <p:sp>
        <p:nvSpPr>
          <p:cNvPr id="4" name="notebook 1 disc"/>
          <p:cNvSpPr/>
          <p:nvPr/>
        </p:nvSpPr>
        <p:spPr>
          <a:xfrm>
            <a:off x="822960" y="160020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5" name="notebook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78308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6002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Multi-omics I — Integration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892040" y="16002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~35 min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notebooks/01_multiomics_integration.ipynb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971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Questions to answer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383280"/>
            <a:ext cx="4892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Is the Mantel correlation positive? Shared or complementary signal?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Do SNF clusters match the groups — or a clinical lab?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Which MOFA factor tracks group, which tracks CRP / creatinine?</a:t>
            </a:r>
            <a:endParaRPr lang="en-US" sz="1500" dirty="0"/>
          </a:p>
        </p:txBody>
      </p:sp>
      <p:sp>
        <p:nvSpPr>
          <p:cNvPr id="11" name="notebook 2"/>
          <p:cNvSpPr/>
          <p:nvPr/>
        </p:nvSpPr>
        <p:spPr>
          <a:xfrm>
            <a:off x="6172200" y="1371600"/>
            <a:ext cx="54406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8A96A8">
                <a:alpha val="25000"/>
              </a:srgbClr>
            </a:outerShdw>
          </a:effectLst>
        </p:spPr>
      </p:sp>
      <p:sp>
        <p:nvSpPr>
          <p:cNvPr id="12" name="notebook 2 disc"/>
          <p:cNvSpPr/>
          <p:nvPr/>
        </p:nvSpPr>
        <p:spPr>
          <a:xfrm>
            <a:off x="6446520" y="160020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3" name="notebook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78308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360920" y="16002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Multi-omics II — Networks &amp; pathways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10515600" y="16002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~35 min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6446520" y="25146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notebooks/02_multiomics_networks(_with_AUC).ipynb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6446520" y="2971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Questions to answer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6446520" y="3383280"/>
            <a:ext cx="4892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How many protein–metabolite edges survive FDR 5 % vs 20 %?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Who are the hubs — controllers or markers of global state?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Does MAT2B correlate with SAM? Would you believe it?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github.com/biosustain/dsp_multiomics_workshop  ·  open each notebook from the README  ·  Runtime → Run all first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686800" cy="17373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 home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749040"/>
            <a:ext cx="10515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Preprocessing is a chain of decisions — pin pipelines, record metadata, randomise run order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A differential list is the data plus the analyst's choices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Integration pays off where mechanism crosses layers, not where groups separate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Networks generate hypotheses; validation needs another cohort</a:t>
            </a:r>
            <a:endParaRPr lang="en-US" sz="18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703320"/>
            <a:ext cx="8686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ultiomics DBC">
  <a:themeElements>
    <a:clrScheme name="Multiomics DBC">
      <a:dk1>
        <a:srgbClr val="15233B"/>
      </a:dk1>
      <a:lt1>
        <a:srgbClr val="FFFFFF"/>
      </a:lt1>
      <a:dk2>
        <a:srgbClr val="2B3B57"/>
      </a:dk2>
      <a:lt2>
        <a:srgbClr val="EEF2F7"/>
      </a:lt2>
      <a:accent1>
        <a:srgbClr val="4C72B0"/>
      </a:accent1>
      <a:accent2>
        <a:srgbClr val="DD8452"/>
      </a:accent2>
      <a:accent3>
        <a:srgbClr val="C44E52"/>
      </a:accent3>
      <a:accent4>
        <a:srgbClr val="2A9D8F"/>
      </a:accent4>
      <a:accent5>
        <a:srgbClr val="5B6573"/>
      </a:accent5>
      <a:accent6>
        <a:srgbClr val="C9D1DC"/>
      </a:accent6>
      <a:hlink>
        <a:srgbClr val="4C72B0"/>
      </a:hlink>
      <a:folHlink>
        <a:srgbClr val="5B6573"/>
      </a:folHlink>
    </a:clrScheme>
    <a:fontScheme name="Multiomics DBC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Multi-omics analysis — DBC 2026 workshop</dc:title>
  <dc:subject>PptxGenJS Presentation</dc:subject>
  <dc:creator>Multiomics Analytics Group, DTU Biosustain</dc:creator>
  <cp:lastModifiedBy>Multiomics Analytics Group, DTU Biosustain</cp:lastModifiedBy>
  <cp:revision>1</cp:revision>
  <dcterms:created xsi:type="dcterms:W3CDTF">2026-10-19T16:46:14Z</dcterms:created>
  <dcterms:modified xsi:type="dcterms:W3CDTF">2026-10-19T16:46:14Z</dcterms:modified>
</cp:coreProperties>
</file>