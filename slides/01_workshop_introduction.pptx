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74" r:id="rId26"/>
    <p:sldId id="288" r:id="rId27"/>
    <p:sldId id="278" r:id="rId28"/>
    <p:sldId id="279" r:id="rId29"/>
    <p:sldId id="283" r:id="rId30"/>
    <p:sldId id="290"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60304"/>
  </p:normalViewPr>
  <p:slideViewPr>
    <p:cSldViewPr snapToGrid="0" snapToObjects="1">
      <p:cViewPr varScale="1">
        <p:scale>
          <a:sx n="73" d="100"/>
          <a:sy n="73" d="100"/>
        </p:scale>
        <p:origin x="21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enrichment, CRKP vs CSKP (−log10 p)</a:t>
            </a:r>
          </a:p>
        </c:rich>
      </c:tx>
      <c:overlay val="0"/>
    </c:title>
    <c:autoTitleDeleted val="0"/>
    <c:plotArea>
      <c:layout/>
      <c:barChart>
        <c:barDir val="bar"/>
        <c:grouping val="clustered"/>
        <c:varyColors val="0"/>
        <c:ser>
          <c:idx val="0"/>
          <c:order val="0"/>
          <c:tx>
            <c:strRef>
              <c:f>Sheet1!$B$1</c:f>
              <c:strCache>
                <c:ptCount val="1"/>
                <c:pt idx="0">
                  <c:v>-log10 p</c:v>
                </c:pt>
              </c:strCache>
            </c:strRef>
          </c:tx>
          <c:spPr>
            <a:solidFill>
              <a:srgbClr val="4C72B0"/>
            </a:solidFill>
            <a:effectLst/>
          </c:spPr>
          <c:invertIfNegative val="0"/>
          <c:dLbls>
            <c:numFmt formatCode="0.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Calcium signalling</c:v>
                </c:pt>
                <c:pt idx="1">
                  <c:v>Phosphatidylinositol signalling</c:v>
                </c:pt>
                <c:pt idx="2">
                  <c:v>Phagosome</c:v>
                </c:pt>
                <c:pt idx="3">
                  <c:v>HCMV infection*</c:v>
                </c:pt>
                <c:pt idx="4">
                  <c:v>Antigen processing &amp; presentation</c:v>
                </c:pt>
                <c:pt idx="5">
                  <c:v>HIV-1 infection*</c:v>
                </c:pt>
              </c:strCache>
            </c:strRef>
          </c:cat>
          <c:val>
            <c:numRef>
              <c:f>Sheet1!$B$2:$B$7</c:f>
              <c:numCache>
                <c:formatCode>General</c:formatCode>
                <c:ptCount val="6"/>
                <c:pt idx="0">
                  <c:v>1.75</c:v>
                </c:pt>
                <c:pt idx="1">
                  <c:v>1.82</c:v>
                </c:pt>
                <c:pt idx="2">
                  <c:v>2.0499999999999998</c:v>
                </c:pt>
                <c:pt idx="3">
                  <c:v>2.78</c:v>
                </c:pt>
                <c:pt idx="4">
                  <c:v>2.78</c:v>
                </c:pt>
                <c:pt idx="5">
                  <c:v>3.6</c:v>
                </c:pt>
              </c:numCache>
            </c:numRef>
          </c:val>
          <c:extLst>
            <c:ext xmlns:c16="http://schemas.microsoft.com/office/drawing/2014/chart" uri="{C3380CC4-5D6E-409C-BE32-E72D297353CC}">
              <c16:uniqueId val="{00000000-EAFD-764A-81B3-381A480B33F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pathways, CRKP vs CSKP (number of DEMs)</a:t>
            </a:r>
          </a:p>
        </c:rich>
      </c:tx>
      <c:overlay val="0"/>
    </c:title>
    <c:autoTitleDeleted val="0"/>
    <c:plotArea>
      <c:layout/>
      <c:barChart>
        <c:barDir val="bar"/>
        <c:grouping val="clustered"/>
        <c:varyColors val="0"/>
        <c:ser>
          <c:idx val="0"/>
          <c:order val="0"/>
          <c:tx>
            <c:strRef>
              <c:f>Sheet1!$B$1</c:f>
              <c:strCache>
                <c:ptCount val="1"/>
                <c:pt idx="0">
                  <c:v>DEMs</c:v>
                </c:pt>
              </c:strCache>
            </c:strRef>
          </c:tx>
          <c:spPr>
            <a:solidFill>
              <a:srgbClr val="DD8452"/>
            </a:solidFill>
            <a:effectLst/>
          </c:spPr>
          <c:invertIfNegative val="0"/>
          <c:dLbls>
            <c:numFmt formatCode="#,##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Arginine &amp; proline metabolism</c:v>
                </c:pt>
                <c:pt idx="1">
                  <c:v>Protein digestion &amp; absorption</c:v>
                </c:pt>
                <c:pt idx="2">
                  <c:v>Aminoacyl-tRNA biosynthesis</c:v>
                </c:pt>
                <c:pt idx="3">
                  <c:v>D-Amino acid metabolism</c:v>
                </c:pt>
                <c:pt idx="4">
                  <c:v>Biosynthesis of amino acids</c:v>
                </c:pt>
                <c:pt idx="5">
                  <c:v>ABC transporters</c:v>
                </c:pt>
              </c:strCache>
            </c:strRef>
          </c:cat>
          <c:val>
            <c:numRef>
              <c:f>Sheet1!$B$2:$B$7</c:f>
              <c:numCache>
                <c:formatCode>General</c:formatCode>
                <c:ptCount val="6"/>
                <c:pt idx="0">
                  <c:v>4</c:v>
                </c:pt>
                <c:pt idx="1">
                  <c:v>5</c:v>
                </c:pt>
                <c:pt idx="2">
                  <c:v>5</c:v>
                </c:pt>
                <c:pt idx="3">
                  <c:v>5</c:v>
                </c:pt>
                <c:pt idx="4">
                  <c:v>6</c:v>
                </c:pt>
                <c:pt idx="5">
                  <c:v>11</c:v>
                </c:pt>
              </c:numCache>
            </c:numRef>
          </c:val>
          <c:extLst>
            <c:ext xmlns:c16="http://schemas.microsoft.com/office/drawing/2014/chart" uri="{C3380CC4-5D6E-409C-BE32-E72D297353CC}">
              <c16:uniqueId val="{00000000-DFD6-F84D-9866-9D9639302FA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workshop. </a:t>
            </a:r>
          </a:p>
          <a:p>
            <a:endParaRPr lang="en-US" dirty="0"/>
          </a:p>
          <a:p>
            <a:r>
              <a:rPr lang="en-US" dirty="0"/>
              <a:t>In two hours we go from one real clinical cohort to a cross-omics hypothesis.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plan for the next two hours:</a:t>
            </a:r>
          </a:p>
          <a:p>
            <a:endParaRPr lang="en-US" dirty="0"/>
          </a:p>
          <a:p>
            <a:r>
              <a:rPr lang="en-US" dirty="0"/>
              <a:t> I will give you About 20/25 minutes of context, then you can work at your own pace in the notebooks. Notebooks run in Google </a:t>
            </a:r>
            <a:r>
              <a:rPr lang="en-US" dirty="0" err="1"/>
              <a:t>Colab</a:t>
            </a:r>
            <a:r>
              <a:rPr lang="en-US" dirty="0"/>
              <a:t> – no need of installations. </a:t>
            </a:r>
          </a:p>
          <a:p>
            <a:endParaRPr lang="en-US" dirty="0"/>
          </a:p>
          <a:p>
            <a:r>
              <a:rPr lang="en-US" dirty="0"/>
              <a:t>You can also run it locally if you want to deal with the installations or already have the tools/libraries installed</a:t>
            </a:r>
            <a:br>
              <a:rPr lang="en-US" dirty="0"/>
            </a:br>
            <a:br>
              <a:rPr lang="en-US" dirty="0"/>
            </a:br>
            <a:r>
              <a:rPr lang="en-US" dirty="0"/>
              <a:t>Before each hands/on you can read in 10/15 min of theory from the slide decks.</a:t>
            </a:r>
          </a:p>
          <a:p>
            <a:endParaRPr lang="en-US" dirty="0"/>
          </a:p>
          <a:p>
            <a:r>
              <a:rPr lang="en-US" dirty="0"/>
              <a:t>Timings are a guide. If Colab installs are slow, start Hands-on I while reading the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the study, we have a cohort that has data from two instruments, so we have proteomics and metabolomics data</a:t>
            </a:r>
            <a:br>
              <a:rPr lang="en-US" dirty="0"/>
            </a:br>
            <a:br>
              <a:rPr lang="en-US" dirty="0"/>
            </a:br>
            <a:r>
              <a:rPr lang="en-US" dirty="0"/>
              <a:t>See the reference here if you want to scheme through the paper or read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in this paper was whether </a:t>
            </a:r>
            <a:r>
              <a:rPr lang="en-US" sz="1200" b="1" dirty="0">
                <a:solidFill>
                  <a:schemeClr val="tx1"/>
                </a:solidFill>
                <a:latin typeface="Cambria" pitchFamily="34" charset="0"/>
                <a:ea typeface="Cambria" pitchFamily="34" charset="-122"/>
                <a:cs typeface="Cambria" pitchFamily="34" charset="-120"/>
              </a:rPr>
              <a:t>serum profiles tell a resistant from a susceptible Klebsiella pneumoniae infection on day 0 (time of sepsis diagnosis)?</a:t>
            </a:r>
          </a:p>
          <a:p>
            <a:endParaRPr lang="en-US" sz="1200" b="1" dirty="0">
              <a:solidFill>
                <a:schemeClr val="tx1"/>
              </a:solidFill>
              <a:latin typeface="Cambria" pitchFamily="34" charset="0"/>
            </a:endParaRPr>
          </a:p>
          <a:p>
            <a:r>
              <a:rPr lang="en-US" dirty="0"/>
              <a:t>Sepsis is a dysregulated host response; K. pneumoniae is a common cause of sepsis; </a:t>
            </a:r>
          </a:p>
          <a:p>
            <a:endParaRPr lang="en-US" dirty="0"/>
          </a:p>
          <a:p>
            <a:r>
              <a:rPr lang="en-US" dirty="0"/>
              <a:t>resistant strains of this bacteria roughly double mortality.</a:t>
            </a:r>
          </a:p>
          <a:p>
            <a:endParaRPr lang="en-US" dirty="0"/>
          </a:p>
          <a:p>
            <a:r>
              <a:rPr lang="en-US" dirty="0"/>
              <a:t>Blood culture and susceptibility testing take about 1-3 days and sometimes treatment can wait that long </a:t>
            </a:r>
          </a:p>
          <a:p>
            <a:endParaRPr lang="en-US" dirty="0"/>
          </a:p>
          <a:p>
            <a:r>
              <a:rPr lang="en-US" dirty="0"/>
              <a:t>So it would be great if just wit serum proteins or metabolites we can tell a resistant from a susceptible infection!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study of 45 septic patients divided on three </a:t>
            </a:r>
            <a:r>
              <a:rPr lang="en-US" dirty="0" err="1"/>
              <a:t>pathogeneicity</a:t>
            </a:r>
            <a:r>
              <a:rPr lang="en-US" dirty="0"/>
              <a:t> groups of 15 patients each</a:t>
            </a:r>
            <a:br>
              <a:rPr lang="en-US" dirty="0"/>
            </a:br>
            <a:br>
              <a:rPr lang="en-US" dirty="0"/>
            </a:br>
            <a:r>
              <a:rPr lang="en-US" dirty="0"/>
              <a:t>Culture negative sepsis (on all microbiology tests)</a:t>
            </a:r>
          </a:p>
          <a:p>
            <a:r>
              <a:rPr lang="en-US" dirty="0"/>
              <a:t>Carbapenem-susceptible K. pneumoniae sepsis</a:t>
            </a:r>
          </a:p>
          <a:p>
            <a:r>
              <a:rPr lang="en-US" dirty="0"/>
              <a:t>Carbapenem-resistant K. pneumoniae sepsis</a:t>
            </a:r>
            <a:br>
              <a:rPr lang="en-US" dirty="0"/>
            </a:br>
            <a:endParaRPr lang="en-US" dirty="0"/>
          </a:p>
          <a:p>
            <a:r>
              <a:rPr lang="en-US" dirty="0"/>
              <a:t>Why this analysis is hard?</a:t>
            </a:r>
          </a:p>
          <a:p>
            <a:br>
              <a:rPr lang="en-US" dirty="0"/>
            </a:br>
            <a:r>
              <a:rPr lang="en-US" dirty="0"/>
              <a:t>Notice that all patients are sick, so the contrasts  here are between susceptible and resistant</a:t>
            </a:r>
          </a:p>
          <a:p>
            <a:r>
              <a:rPr lang="en-US" dirty="0"/>
              <a:t>Expect that infection severity will dominate the variance, resistance effect should be a small one compared to severity</a:t>
            </a:r>
          </a:p>
          <a:p>
            <a:r>
              <a:rPr lang="en-US" dirty="0"/>
              <a:t>Sample size 15 per group supervised methods will tend to overfit</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45 samples we measured proteomics and metabolomics with two different technologies: </a:t>
            </a:r>
          </a:p>
          <a:p>
            <a:r>
              <a:rPr lang="en-US" dirty="0"/>
              <a:t>untargeted-</a:t>
            </a:r>
            <a:r>
              <a:rPr lang="en-US" dirty="0" err="1"/>
              <a:t>ish</a:t>
            </a:r>
            <a:r>
              <a:rPr lang="en-US" dirty="0"/>
              <a:t> DIA proteomics with many missing values, </a:t>
            </a:r>
          </a:p>
          <a:p>
            <a:r>
              <a:rPr lang="en-US" dirty="0"/>
              <a:t>and targeted MRM metabolomics with few. </a:t>
            </a:r>
          </a:p>
          <a:p>
            <a:endParaRPr lang="en-US" dirty="0"/>
          </a:p>
          <a:p>
            <a:r>
              <a:rPr lang="en-US" dirty="0"/>
              <a:t>Both datasets were deposited publicly. We tank the authors! </a:t>
            </a:r>
          </a:p>
          <a:p>
            <a:endParaRPr lang="en-US" dirty="0"/>
          </a:p>
          <a:p>
            <a:r>
              <a:rPr lang="en-US" dirty="0"/>
              <a:t>Today you are not going to process the data again, The notebooks read small curated tables straight from GitHub.</a:t>
            </a:r>
          </a:p>
          <a:p>
            <a:endParaRPr lang="en-US" dirty="0"/>
          </a:p>
          <a:p>
            <a:r>
              <a:rPr lang="en-US" dirty="0"/>
              <a:t>The patients have two descriptions of the same physiology which makes integration possible and exciting.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briefly about the processing</a:t>
            </a:r>
          </a:p>
          <a:p>
            <a:endParaRPr lang="en-US" dirty="0"/>
          </a:p>
          <a:p>
            <a:r>
              <a:rPr lang="en-US" dirty="0"/>
              <a:t>How we go from raw files to feature intensity matrices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use curated pipelines instead of many tools one after another</a:t>
            </a:r>
            <a:br>
              <a:rPr lang="en-US" dirty="0"/>
            </a:br>
            <a:br>
              <a:rPr lang="en-US" dirty="0"/>
            </a:br>
            <a:r>
              <a:rPr lang="en-US" dirty="0"/>
              <a:t>At BRIGHT we are setting a collection of </a:t>
            </a:r>
            <a:r>
              <a:rPr lang="en-US" dirty="0" err="1"/>
              <a:t>Nextflow</a:t>
            </a:r>
            <a:r>
              <a:rPr lang="en-US" dirty="0"/>
              <a:t> pipelines as default to work with different omics.</a:t>
            </a:r>
            <a:br>
              <a:rPr lang="en-US" dirty="0"/>
            </a:br>
            <a:br>
              <a:rPr lang="en-US" dirty="0"/>
            </a:br>
            <a:r>
              <a:rPr lang="en-US" dirty="0"/>
              <a:t>It is recommendable as we have pinned versions with a clear map of what versions were used of each tool in each pipeline version</a:t>
            </a:r>
          </a:p>
          <a:p>
            <a:r>
              <a:rPr lang="en-US" dirty="0"/>
              <a:t>We ensure reproducibility by using containers (Docker/</a:t>
            </a:r>
            <a:r>
              <a:rPr lang="en-US" dirty="0" err="1"/>
              <a:t>apptainer</a:t>
            </a:r>
            <a:r>
              <a:rPr lang="en-US" dirty="0"/>
              <a:t>) shipped together with the software</a:t>
            </a:r>
          </a:p>
          <a:p>
            <a:r>
              <a:rPr lang="en-US" dirty="0" err="1"/>
              <a:t>Nextflow</a:t>
            </a:r>
            <a:r>
              <a:rPr lang="en-US" dirty="0"/>
              <a:t> offers the possibility of resume pipelines from wherever they stopped/fail</a:t>
            </a:r>
          </a:p>
          <a:p>
            <a:r>
              <a:rPr lang="en-US" dirty="0"/>
              <a:t>And we can use standards defined by the </a:t>
            </a:r>
            <a:r>
              <a:rPr lang="en-US" dirty="0" err="1"/>
              <a:t>Nextflow</a:t>
            </a:r>
            <a:r>
              <a:rPr lang="en-US" dirty="0"/>
              <a:t> community or other communities , f </a:t>
            </a:r>
            <a:r>
              <a:rPr lang="en-US" dirty="0" err="1"/>
              <a:t>eg</a:t>
            </a:r>
            <a:r>
              <a:rPr lang="en-US" dirty="0"/>
              <a:t> proteomics standards use </a:t>
            </a:r>
            <a:r>
              <a:rPr lang="en-US" dirty="0" err="1"/>
              <a:t>sdrf</a:t>
            </a:r>
            <a:r>
              <a:rPr lang="en-US" dirty="0"/>
              <a:t> format for </a:t>
            </a:r>
            <a:r>
              <a:rPr lang="en-US" dirty="0" err="1"/>
              <a:t>samplesheets</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Briefly Nextflow is a workflow orchestrator engine and a workflow programming language </a:t>
            </a:r>
            <a:br>
              <a:rPr lang="en-DK" dirty="0"/>
            </a:br>
            <a:endParaRPr lang="en-DK" dirty="0"/>
          </a:p>
          <a:p>
            <a:r>
              <a:rPr lang="en-DK" dirty="0"/>
              <a:t>It allows us to have reproducible runs</a:t>
            </a:r>
          </a:p>
          <a:p>
            <a:r>
              <a:rPr lang="en-DK" dirty="0"/>
              <a:t>Portable and scalable pipelines between different platforms</a:t>
            </a:r>
          </a:p>
          <a:p>
            <a:r>
              <a:rPr lang="en-DK" dirty="0"/>
              <a:t>And it integrates with existing tools and industry standards</a:t>
            </a:r>
            <a:br>
              <a:rPr lang="en-DK" dirty="0"/>
            </a:br>
            <a:br>
              <a:rPr lang="en-DK" dirty="0"/>
            </a:br>
            <a:r>
              <a:rPr lang="en-DK" dirty="0"/>
              <a:t>Nf-core initiative is a collection of curated Nextflow pipelines that you can use to process many different data types (about 158 different pipeline nowadays) built in a modular way so that you can reuse the modules to build yours</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the proteomics data we use </a:t>
            </a: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the pipeline does.</a:t>
            </a:r>
            <a:br>
              <a:rPr lang="en-US" dirty="0"/>
            </a:br>
            <a:br>
              <a:rPr lang="en-US" dirty="0"/>
            </a:br>
            <a:r>
              <a:rPr lang="en-US" dirty="0"/>
              <a:t>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DK" dirty="0"/>
              <a:t>F</a:t>
            </a:r>
            <a:r>
              <a:rPr lang="en-GB" dirty="0"/>
              <a:t>o</a:t>
            </a:r>
            <a:r>
              <a:rPr lang="en-DK" dirty="0"/>
              <a:t>r metabolomics we are integrationg in our structure metaboigniter which is based on OpenMS tools</a:t>
            </a:r>
          </a:p>
          <a:p>
            <a:endParaRPr lang="en-DK" dirty="0"/>
          </a:p>
          <a:p>
            <a:r>
              <a:rPr lang="en-DK" dirty="0"/>
              <a:t>What the pipeline does.</a:t>
            </a:r>
          </a:p>
          <a:p>
            <a:endParaRPr lang="en-DK" dirty="0"/>
          </a:p>
          <a:p>
            <a:endParaRPr lang="en-DK" dirty="0"/>
          </a:p>
          <a:p>
            <a:endParaRPr lang="en-DK" dirty="0"/>
          </a:p>
        </p:txBody>
      </p:sp>
    </p:spTree>
    <p:extLst>
      <p:ext uri="{BB962C8B-B14F-4D97-AF65-F5344CB8AC3E}">
        <p14:creationId xmlns:p14="http://schemas.microsoft.com/office/powerpoint/2010/main" val="3457171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run the original course one day just keep in mind that </a:t>
            </a:r>
            <a:r>
              <a:rPr lang="en-US" dirty="0" err="1"/>
              <a:t>metaboigniter</a:t>
            </a:r>
            <a:r>
              <a:rPr lang="en-US" dirty="0"/>
              <a:t> is for untargeted </a:t>
            </a:r>
            <a:r>
              <a:rPr lang="en-US" dirty="0" err="1"/>
              <a:t>metabolics</a:t>
            </a:r>
            <a:r>
              <a:rPr lang="en-US" dirty="0"/>
              <a:t>, and in the paper they used targeted MRM metabolomics.</a:t>
            </a:r>
          </a:p>
          <a:p>
            <a:endParaRPr lang="en-US" dirty="0"/>
          </a:p>
          <a:p>
            <a:r>
              <a:rPr lang="en-US" dirty="0"/>
              <a:t>Untargeted and targeted strategies have different acquisition methods and answer different questions. </a:t>
            </a:r>
            <a:br>
              <a:rPr lang="en-US" dirty="0"/>
            </a:br>
            <a:br>
              <a:rPr lang="en-US" dirty="0"/>
            </a:br>
            <a:r>
              <a:rPr lang="en-US" dirty="0"/>
              <a:t>So in the original course they used another untargeted dataset to show how to process the data</a:t>
            </a:r>
          </a:p>
          <a:p>
            <a:endParaRPr lang="en-US" dirty="0"/>
          </a:p>
          <a:p>
            <a:r>
              <a:rPr lang="en-US" dirty="0"/>
              <a:t>Here today, in the repo you have the feature intensities already processed and ready for the multiomics integration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use of public data we should be aware of few traps.</a:t>
            </a:r>
            <a:br>
              <a:rPr lang="en-US" dirty="0"/>
            </a:br>
            <a:br>
              <a:rPr lang="en-US" dirty="0"/>
            </a:br>
            <a:r>
              <a:rPr lang="en-US" dirty="0"/>
              <a:t>Sample names sometimes differ and they need to be </a:t>
            </a:r>
            <a:r>
              <a:rPr lang="en-US" dirty="0" err="1"/>
              <a:t>harmonise</a:t>
            </a:r>
            <a:r>
              <a:rPr lang="en-US" dirty="0"/>
              <a:t> before the analysis</a:t>
            </a:r>
          </a:p>
          <a:p>
            <a:endParaRPr lang="en-US" dirty="0"/>
          </a:p>
          <a:p>
            <a:r>
              <a:rPr lang="en-US" dirty="0"/>
              <a:t>Sometimes the metadata is broken or missing</a:t>
            </a:r>
            <a:br>
              <a:rPr lang="en-US" dirty="0"/>
            </a:br>
            <a:endParaRPr lang="en-US" dirty="0"/>
          </a:p>
          <a:p>
            <a:r>
              <a:rPr lang="en-US" dirty="0"/>
              <a:t>We need to </a:t>
            </a:r>
            <a:r>
              <a:rPr lang="en-US" dirty="0" err="1"/>
              <a:t>rememeber</a:t>
            </a:r>
            <a:r>
              <a:rPr lang="en-US" dirty="0"/>
              <a:t> to remove QC samples, they are not patients!</a:t>
            </a:r>
            <a:br>
              <a:rPr lang="en-US" dirty="0"/>
            </a:br>
            <a:endParaRPr lang="en-US" dirty="0"/>
          </a:p>
          <a:p>
            <a:r>
              <a:rPr lang="en-US" dirty="0"/>
              <a:t>We need to be aware that we should </a:t>
            </a:r>
            <a:r>
              <a:rPr lang="en-US" sz="1200" i="1" dirty="0" err="1">
                <a:solidFill>
                  <a:schemeClr val="accent5"/>
                </a:solidFill>
              </a:rPr>
              <a:t>randomise</a:t>
            </a:r>
            <a:r>
              <a:rPr lang="en-US" sz="1200" i="1" dirty="0">
                <a:solidFill>
                  <a:schemeClr val="accent5"/>
                </a:solidFill>
              </a:rPr>
              <a:t> or interleave injection order — and deposit these orders in the archives together with the samples</a:t>
            </a:r>
            <a:br>
              <a:rPr lang="en-US" dirty="0"/>
            </a:br>
            <a:endParaRPr lang="en-US" dirty="0"/>
          </a:p>
          <a:p>
            <a:r>
              <a:rPr lang="en-US" sz="1200" dirty="0">
                <a:solidFill>
                  <a:schemeClr val="accent6"/>
                </a:solidFill>
              </a:rPr>
              <a:t>In the paper, for Proteomics they injected the samples as in the same order as in the groups, therefore  instrument drift is inseparable from biology; no injection order was communicated for metabolomics.</a:t>
            </a:r>
            <a:r>
              <a:rPr lang="en-US" dirty="0"/>
              <a:t>;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 bit about the paper findings for each data type</a:t>
            </a:r>
          </a:p>
          <a:p>
            <a:endParaRPr lang="en-US" dirty="0"/>
          </a:p>
          <a:p>
            <a:r>
              <a:rPr lang="en-US" dirty="0"/>
              <a:t>Keep in mind that the most important contrast is susceptible vs resistant infection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data analysis each decision that you take influences the results.</a:t>
            </a:r>
          </a:p>
          <a:p>
            <a:endParaRPr lang="en-US" dirty="0"/>
          </a:p>
          <a:p>
            <a:r>
              <a:rPr lang="en-US" dirty="0"/>
              <a:t>In Proteomics, they log2 transformed the data, filter proteins that were not in at least 70%, imputed from a </a:t>
            </a:r>
            <a:r>
              <a:rPr lang="en-US" dirty="0" err="1"/>
              <a:t>down+shifted</a:t>
            </a:r>
            <a:r>
              <a:rPr lang="en-US" dirty="0"/>
              <a:t> normal distribution, normalized by the median and tested the differences with ANOVA and </a:t>
            </a:r>
            <a:r>
              <a:rPr lang="en-US" dirty="0" err="1"/>
              <a:t>t+test</a:t>
            </a:r>
            <a:r>
              <a:rPr lang="en-US" dirty="0"/>
              <a:t> and performed an enrichment analysis using KEGG database.</a:t>
            </a:r>
          </a:p>
          <a:p>
            <a:endParaRPr lang="en-US" dirty="0"/>
          </a:p>
          <a:p>
            <a:r>
              <a:rPr lang="en-US" dirty="0"/>
              <a:t>From 1458 proteins considered they found 85 differentially regulated proteins when comparing susceptible vs resistant with 51 proteins increasing ins stepwise con susceptible and resistant. They used a classifier to find a panel of four proteins that can predict the </a:t>
            </a:r>
            <a:r>
              <a:rPr lang="en-US" dirty="0" err="1"/>
              <a:t>pathogeneicity</a:t>
            </a:r>
            <a:r>
              <a:rPr lang="en-US" dirty="0"/>
              <a:t> group with an AUC 0.92 and validated in an external cohort.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they run enrichment analysis they found enriched </a:t>
            </a:r>
            <a:r>
              <a:rPr lang="en-US" dirty="0" err="1"/>
              <a:t>viral+infection</a:t>
            </a:r>
            <a:r>
              <a:rPr lang="en-US" dirty="0"/>
              <a:t> related pathways, </a:t>
            </a:r>
            <a:r>
              <a:rPr lang="en-DK" dirty="0"/>
              <a:t>antigen presentation, and phagosome function</a:t>
            </a:r>
            <a:endParaRPr lang="en-US" dirty="0"/>
          </a:p>
          <a:p>
            <a:endParaRPr lang="en-US" dirty="0"/>
          </a:p>
          <a:p>
            <a:endParaRPr lang="en-US" dirty="0"/>
          </a:p>
          <a:p>
            <a:r>
              <a:rPr lang="en-US" dirty="0"/>
              <a:t>The panel AUC comes from a single split chosen on test performance, so read it as optimistic; the PRM validation cohort is the stronger evidence.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viral-infection KEGG terms are generic: they contain the antigen-presentation genes.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metabolomics part again decisions that can affect the results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2"/>
                </a:solidFill>
              </a:rPr>
              <a:t>They took metabolites measured in ≥ 80 % of patients</a:t>
            </a:r>
            <a:endParaRPr lang="en-US" sz="1200" dirty="0"/>
          </a:p>
          <a:p>
            <a:endParaRPr lang="en-US" dirty="0"/>
          </a:p>
          <a:p>
            <a:r>
              <a:rPr lang="en-US" dirty="0"/>
              <a:t>Different way of filtering the metabolites: CV of the qc samples had to be lower than the CV of patients </a:t>
            </a:r>
            <a:br>
              <a:rPr lang="en-US" dirty="0"/>
            </a:br>
            <a:br>
              <a:rPr lang="en-US" dirty="0"/>
            </a:br>
            <a:r>
              <a:rPr lang="en-US" dirty="0"/>
              <a:t>Technical biological dispersion  &lt; 0.5 </a:t>
            </a:r>
          </a:p>
          <a:p>
            <a:endParaRPr lang="en-US" dirty="0"/>
          </a:p>
          <a:p>
            <a:r>
              <a:rPr lang="en-US" dirty="0"/>
              <a:t>They run an </a:t>
            </a:r>
            <a:r>
              <a:rPr lang="en-US" dirty="0" err="1"/>
              <a:t>ancova</a:t>
            </a:r>
            <a:r>
              <a:rPr lang="en-US" dirty="0"/>
              <a:t> to figure out the effect of the group but here they adjusted for age</a:t>
            </a:r>
          </a:p>
          <a:p>
            <a:endParaRPr lang="en-US" dirty="0"/>
          </a:p>
          <a:p>
            <a:r>
              <a:rPr lang="en-US" dirty="0"/>
              <a:t>For enrichment they used KEGG also</a:t>
            </a:r>
          </a:p>
          <a:p>
            <a:endParaRPr lang="en-US" dirty="0"/>
          </a:p>
          <a:p>
            <a:r>
              <a:rPr lang="en-US" dirty="0"/>
              <a:t>Here they considered 1073 metabolites and found 128 differentially regulated between susceptible and resistant group</a:t>
            </a:r>
          </a:p>
          <a:p>
            <a:endParaRPr lang="en-US" dirty="0"/>
          </a:p>
          <a:p>
            <a:endParaRPr lang="en-US" dirty="0"/>
          </a:p>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they did enrichment analysis they found thermogenesis and </a:t>
            </a:r>
            <a:r>
              <a:rPr lang="en-US" dirty="0" err="1"/>
              <a:t>aminoacid</a:t>
            </a:r>
            <a:r>
              <a:rPr lang="en-US" dirty="0"/>
              <a:t> and fatty acid degradation pathways enriched in resistant group</a:t>
            </a:r>
            <a:br>
              <a:rPr lang="en-US" dirty="0"/>
            </a:br>
            <a:br>
              <a:rPr lang="en-US" dirty="0"/>
            </a:br>
            <a:r>
              <a:rPr lang="en-US" dirty="0"/>
              <a:t>And the most interesting finding was about the methionine cycle. </a:t>
            </a:r>
            <a:r>
              <a:rPr lang="en-US" sz="1200" dirty="0">
                <a:solidFill>
                  <a:schemeClr val="tx2"/>
                </a:solidFill>
              </a:rPr>
              <a:t>Integrated pathway analysis of proteomic and metabolomic data highlighted dysregulation in cysteine/methionine metabolism and the folate-mediated one-carbon pool, with MAT2B as a key connecting protein. Keep that one in mind for later in our integration exercises.</a:t>
            </a:r>
            <a:r>
              <a:rPr lang="en-US" dirty="0"/>
              <a:t> </a:t>
            </a:r>
          </a:p>
          <a:p>
            <a:endParaRPr lang="en-US" dirty="0"/>
          </a:p>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before we integrate</a:t>
            </a:r>
          </a:p>
          <a:p>
            <a:endParaRPr lang="en-US" dirty="0"/>
          </a:p>
          <a:p>
            <a:r>
              <a:rPr lang="en-US" dirty="0"/>
              <a:t>Sepsis severity dominates, the largest variance is about how ill a patient is, the resistance effect is probably a small perturbation in the top</a:t>
            </a:r>
          </a:p>
          <a:p>
            <a:endParaRPr lang="en-US" dirty="0"/>
          </a:p>
          <a:p>
            <a:r>
              <a:rPr lang="en-US" dirty="0"/>
              <a:t>Also a results list of proteins and metabolites  is a product of the data plus our data analysis choices</a:t>
            </a:r>
          </a:p>
          <a:p>
            <a:endParaRPr lang="en-US" dirty="0"/>
          </a:p>
          <a:p>
            <a:r>
              <a:rPr lang="en-US" dirty="0"/>
              <a:t>These two points set expectations for the hands-on: our methods will probably not recover the three groups cleanly, and that is a result, not a failure.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chemeClr val="accent5"/>
                </a:solidFill>
              </a:rPr>
              <a:t>So the question for integration is not 'do the groups separate?’ is more 'what structure is shared between layers, and where does a mechanism cross layers?'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few slides about integration and the methods you are going to see in the hands-on</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of all why is multiomics integration key?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Discover mechanisms that were hidden on single omics analysis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Refine phenotypic subtypes: for example disease severity, disease stages, inflammation profiles….besides our study groups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Find better biomarkers  for across layers mechanisms that improve disease diagnosis, prognosis, </a:t>
            </a:r>
            <a:r>
              <a:rPr lang="en-US" dirty="0" err="1"/>
              <a:t>etc</a:t>
            </a:r>
            <a:r>
              <a:rPr lang="en-US" dirty="0"/>
              <a:t>…</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There are two types of data integration: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horizontal where we integrate different studies of the same omics</a:t>
            </a:r>
          </a:p>
          <a:p>
            <a:pPr marL="0" lvl="0" indent="0" algn="l" rtl="0">
              <a:spcBef>
                <a:spcPts val="0"/>
              </a:spcBef>
              <a:spcAft>
                <a:spcPts val="0"/>
              </a:spcAft>
              <a:buNone/>
            </a:pPr>
            <a:r>
              <a:rPr lang="en-US" dirty="0"/>
              <a:t>2 vertical where we integrate different omics on the same study (what we have in out integration of today’s workshop)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Both types are tackled with different methods and approaches.</a:t>
            </a:r>
            <a:endParaRPr dirty="0"/>
          </a:p>
        </p:txBody>
      </p:sp>
      <p:sp>
        <p:nvSpPr>
          <p:cNvPr id="90" name="Google Shape;90;g390d080a095_1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Before integration there is a step 0 very important!</a:t>
            </a:r>
          </a:p>
          <a:p>
            <a:endParaRPr lang="en-US" dirty="0"/>
          </a:p>
          <a:p>
            <a:r>
              <a:rPr lang="en-US" dirty="0"/>
              <a:t>We have </a:t>
            </a:r>
            <a:r>
              <a:rPr lang="en-US" sz="1200" b="1" dirty="0">
                <a:solidFill>
                  <a:schemeClr val="tx1"/>
                </a:solidFill>
                <a:latin typeface="Cambria" pitchFamily="34" charset="0"/>
                <a:ea typeface="Cambria" pitchFamily="34" charset="-122"/>
                <a:cs typeface="Cambria" pitchFamily="34" charset="-120"/>
              </a:rPr>
              <a:t>two physiology views of the same patients</a:t>
            </a:r>
          </a:p>
          <a:p>
            <a:endParaRPr lang="en-US" sz="1200" b="1" dirty="0">
              <a:solidFill>
                <a:schemeClr val="tx1"/>
              </a:solidFill>
              <a:latin typeface="Cambria" pitchFamily="34" charset="0"/>
            </a:endParaRPr>
          </a:p>
          <a:p>
            <a:r>
              <a:rPr lang="en-US" dirty="0"/>
              <a:t>The same recipe needs to be applied symmetrically to both layers for them to be comparable</a:t>
            </a:r>
          </a:p>
          <a:p>
            <a:endParaRPr lang="en-US" dirty="0"/>
          </a:p>
          <a:p>
            <a:r>
              <a:rPr lang="en-US" dirty="0"/>
              <a:t>In both layers we are going to check that the IDs are the same – silent sample mismatches is a common cause of producing no sense results</a:t>
            </a:r>
          </a:p>
          <a:p>
            <a:endParaRPr lang="en-US" dirty="0"/>
          </a:p>
          <a:p>
            <a:r>
              <a:rPr lang="en-US" dirty="0"/>
              <a:t>log2 transform the data so that we can observe changes among high and among low abundant features</a:t>
            </a:r>
          </a:p>
          <a:p>
            <a:endParaRPr lang="en-US" dirty="0"/>
          </a:p>
          <a:p>
            <a:r>
              <a:rPr lang="en-US" dirty="0"/>
              <a:t>we are going to filter out low prevalent features</a:t>
            </a:r>
          </a:p>
          <a:p>
            <a:endParaRPr lang="en-US" dirty="0"/>
          </a:p>
          <a:p>
            <a:r>
              <a:rPr lang="en-US" dirty="0"/>
              <a:t>and impute data with the lowest value for each feature – usually in label free MS studies they consider that inf a value is not observed it is because it is low below limit of detection</a:t>
            </a:r>
          </a:p>
          <a:p>
            <a:endParaRPr lang="en-US" dirty="0"/>
          </a:p>
          <a:p>
            <a:r>
              <a:rPr lang="en-US" dirty="0"/>
              <a:t>and finally we z-score per feature and </a:t>
            </a:r>
            <a:r>
              <a:rPr lang="en-US" sz="1200" dirty="0">
                <a:solidFill>
                  <a:schemeClr val="tx2"/>
                </a:solidFill>
              </a:rPr>
              <a:t>that stops one feature dominating by units and one layer dominating by dynamic range</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method that you will see is Similarity network fusion</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Example of the switches turning on/off features</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now it is your turn to get hands on data integration.</a:t>
            </a:r>
          </a:p>
          <a:p>
            <a:endParaRPr lang="en-US" dirty="0"/>
          </a:p>
          <a:p>
            <a:r>
              <a:rPr lang="en-US" dirty="0"/>
              <a:t>As I said there are two slide decks to read before the hands-on if you want, otherwise you jump directly to the hands on notebook in google </a:t>
            </a:r>
            <a:r>
              <a:rPr lang="en-US" dirty="0" err="1"/>
              <a:t>colab</a:t>
            </a:r>
            <a:r>
              <a:rPr lang="en-US" dirty="0"/>
              <a:t>. </a:t>
            </a:r>
          </a:p>
          <a:p>
            <a:endParaRPr lang="en-US" dirty="0"/>
          </a:p>
          <a:p>
            <a:r>
              <a:rPr lang="en-US" dirty="0"/>
              <a:t>Both notebooks are self-contained: they download the curated tables from the workshop repository on GitHub and need no output from earlier sessions.</a:t>
            </a:r>
          </a:p>
          <a:p>
            <a:endParaRPr lang="en-US" dirty="0"/>
          </a:p>
          <a:p>
            <a:r>
              <a:rPr lang="en-US" dirty="0" err="1"/>
              <a:t>Cytoscape</a:t>
            </a:r>
            <a:r>
              <a:rPr lang="en-US" dirty="0"/>
              <a:t> export is optional; skip it if Cytoscape is not installed.</a:t>
            </a:r>
            <a:br>
              <a:rPr lang="en-US" dirty="0"/>
            </a:br>
            <a:endParaRPr lang="en-US" dirty="0"/>
          </a:p>
          <a:p>
            <a:r>
              <a:rPr lang="en-US" dirty="0"/>
              <a:t>Focus on having a general idea of what we do instead of getting stuck on each single detail. The material is open and you can get back to it later whenever you want to consolidate your understanding.</a:t>
            </a:r>
          </a:p>
          <a:p>
            <a:br>
              <a:rPr lang="en-US" dirty="0"/>
            </a:br>
            <a:r>
              <a:rPr lang="en-US" dirty="0"/>
              <a:t>When there are 5 min left we will wrap up and answer </a:t>
            </a:r>
            <a:r>
              <a:rPr lang="en-US"/>
              <a:t>together these </a:t>
            </a:r>
            <a:r>
              <a:rPr lang="en-US" dirty="0"/>
              <a:t>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25/10/2026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4.jpg"/><Relationship Id="rId4" Type="http://schemas.openxmlformats.org/officeDocument/2006/relationships/image" Target="../media/image23.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 (time of sepsis diagnosis)?</a:t>
            </a:r>
            <a:endParaRPr lang="en-US" sz="3200" dirty="0"/>
          </a:p>
        </p:txBody>
      </p:sp>
      <p:sp>
        <p:nvSpPr>
          <p:cNvPr id="3" name="stat card 1"/>
          <p:cNvSpPr/>
          <p:nvPr/>
        </p:nvSpPr>
        <p:spPr>
          <a:xfrm>
            <a:off x="54894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3265" y="2651760"/>
            <a:ext cx="292608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20–40 %</a:t>
            </a:r>
            <a:endParaRPr lang="en-US" sz="5400" dirty="0"/>
          </a:p>
        </p:txBody>
      </p:sp>
      <p:sp>
        <p:nvSpPr>
          <p:cNvPr id="5" name="Text 3"/>
          <p:cNvSpPr txBox="1"/>
          <p:nvPr/>
        </p:nvSpPr>
        <p:spPr>
          <a:xfrm>
            <a:off x="82326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98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305" y="265176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30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702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345" y="265176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34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945" y="608076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13" name="TextBox 12">
            <a:extLst>
              <a:ext uri="{FF2B5EF4-FFF2-40B4-BE49-F238E27FC236}">
                <a16:creationId xmlns:a16="http://schemas.microsoft.com/office/drawing/2014/main" id="{6FCF298C-20FB-F960-A2D0-9C5322D5DECF}"/>
              </a:ext>
            </a:extLst>
          </p:cNvPr>
          <p:cNvSpPr txBox="1"/>
          <p:nvPr/>
        </p:nvSpPr>
        <p:spPr>
          <a:xfrm>
            <a:off x="670254" y="1855694"/>
            <a:ext cx="9011627" cy="369332"/>
          </a:xfrm>
          <a:prstGeom prst="rect">
            <a:avLst/>
          </a:prstGeom>
          <a:noFill/>
        </p:spPr>
        <p:txBody>
          <a:bodyPr wrap="square" rtlCol="0">
            <a:spAutoFit/>
          </a:bodyPr>
          <a:lstStyle/>
          <a:p>
            <a:r>
              <a:rPr lang="en-US" dirty="0"/>
              <a:t>Sepsis is a dysregulated host response; K. pneumoniae is a common cause of sepsis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2627555" cy="731520"/>
          </a:xfrm>
          <a:prstGeom prst="rect">
            <a:avLst/>
          </a:prstGeom>
          <a:noFill/>
          <a:ln/>
        </p:spPr>
        <p:txBody>
          <a:bodyPr wrap="square" lIns="0" tIns="0" rIns="0" bIns="0" rtlCol="0" anchor="ctr"/>
          <a:lstStyle/>
          <a:p>
            <a:pPr marL="0" indent="0">
              <a:buNone/>
            </a:pPr>
            <a:r>
              <a:rPr lang="en-US" sz="1500" dirty="0">
                <a:solidFill>
                  <a:schemeClr val="tx1"/>
                </a:solidFill>
              </a:rPr>
              <a:t>Culture-negative (on all microbiology tests)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a:t>
            </a:r>
            <a:r>
              <a:rPr lang="en-US" sz="1500" dirty="0" err="1">
                <a:solidFill>
                  <a:schemeClr val="bg1"/>
                </a:solidFill>
              </a:rPr>
              <a:t>pathogeneicity</a:t>
            </a:r>
            <a:r>
              <a:rPr lang="en-US" sz="1500" dirty="0">
                <a:solidFill>
                  <a:schemeClr val="bg1"/>
                </a:solidFill>
              </a:rPr>
              <a:t>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pPr marL="0" indent="0">
              <a:buNone/>
            </a:pPr>
            <a:r>
              <a:rPr lang="en-US" sz="1300" dirty="0">
                <a:solidFill>
                  <a:schemeClr val="accent5"/>
                </a:solidFill>
              </a:rPr>
              <a:t>Serum at diagnosis, four Shanghai hospitals, April–December 2025. A separate 45-patient validation cohort was measured by targeted PRM only (not deposited).</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3146"/>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655344866"/>
              </p:ext>
            </p:extLst>
          </p:nvPr>
        </p:nvGraphicFramePr>
        <p:xfrm>
          <a:off x="548640" y="2053009"/>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2053009"/>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81609"/>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453059"/>
            <a:ext cx="342900" cy="342900"/>
          </a:xfrm>
          <a:prstGeom prst="rect">
            <a:avLst/>
          </a:prstGeom>
        </p:spPr>
      </p:pic>
      <p:sp>
        <p:nvSpPr>
          <p:cNvPr id="3" name="Text 3"/>
          <p:cNvSpPr txBox="1"/>
          <p:nvPr/>
        </p:nvSpPr>
        <p:spPr>
          <a:xfrm>
            <a:off x="9464040" y="2327329"/>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150289"/>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39" y="5955258"/>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101852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a:t>
            </a:r>
            <a:r>
              <a:rPr lang="en-US" dirty="0" err="1"/>
              <a:t>ish</a:t>
            </a:r>
            <a:r>
              <a:rPr lang="en-US" dirty="0"/>
              <a:t>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v2.3.0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v2.3.0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3"/>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548640" y="1417320"/>
            <a:ext cx="1734769" cy="685800"/>
          </a:xfrm>
          <a:prstGeom prst="chevron">
            <a:avLst/>
          </a:prstGeom>
          <a:solidFill>
            <a:schemeClr val="accent1"/>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2420569" y="1417320"/>
            <a:ext cx="1734769" cy="685800"/>
          </a:xfrm>
          <a:prstGeom prst="chevron">
            <a:avLst/>
          </a:prstGeom>
          <a:solidFill>
            <a:schemeClr val="accent1"/>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 70 % of patients</a:t>
            </a:r>
            <a:endParaRPr lang="en-US" sz="1300" dirty="0"/>
          </a:p>
        </p:txBody>
      </p:sp>
      <p:sp>
        <p:nvSpPr>
          <p:cNvPr id="9" name="prot flow Impute"/>
          <p:cNvSpPr/>
          <p:nvPr/>
        </p:nvSpPr>
        <p:spPr>
          <a:xfrm>
            <a:off x="4292498"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2" name="prot flow Normalise"/>
          <p:cNvSpPr/>
          <p:nvPr/>
        </p:nvSpPr>
        <p:spPr>
          <a:xfrm>
            <a:off x="6164428" y="1417320"/>
            <a:ext cx="1734769" cy="685800"/>
          </a:xfrm>
          <a:prstGeom prst="chevron">
            <a:avLst/>
          </a:prstGeom>
          <a:solidFill>
            <a:schemeClr val="accent1"/>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Normalise</a:t>
            </a:r>
            <a:endParaRPr lang="en-US" sz="16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sample median</a:t>
            </a:r>
            <a:endParaRPr lang="en-US" sz="1300" dirty="0"/>
          </a:p>
        </p:txBody>
      </p:sp>
      <p:sp>
        <p:nvSpPr>
          <p:cNvPr id="15" name="prot flow Test"/>
          <p:cNvSpPr/>
          <p:nvPr/>
        </p:nvSpPr>
        <p:spPr>
          <a:xfrm>
            <a:off x="8036357"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9908286"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r>
              <a:rPr lang="en-US" sz="1400" dirty="0">
                <a:solidFill>
                  <a:schemeClr val="tx2"/>
                </a:solidFill>
              </a:rPr>
              <a:t>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 driven by the same HLA-C / B2M / CALR genes</a:t>
            </a:r>
            <a:endParaRPr lang="en-US" sz="11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975360" y="5669280"/>
            <a:ext cx="5181600" cy="646331"/>
          </a:xfrm>
          <a:prstGeom prst="rect">
            <a:avLst/>
          </a:prstGeom>
          <a:noFill/>
        </p:spPr>
        <p:txBody>
          <a:bodyPr wrap="square" rtlCol="0">
            <a:spAutoFit/>
          </a:bodyPr>
          <a:lstStyle/>
          <a:p>
            <a:r>
              <a:rPr lang="en-DK" dirty="0"/>
              <a:t>enriched in viral infection-related pathways, antigen presentation, and phagosome function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p>
          <a:p>
            <a:pPr algn="ctr"/>
            <a:r>
              <a:rPr lang="en-US" sz="1400" dirty="0"/>
              <a:t>near 0 is biology, near 1 is measurement noise</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Half-min</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Broad maps (Metabolic pathways, 31; Thermogenesis, 16) omitted</a:t>
            </a:r>
            <a:endParaRPr lang="en-US" sz="11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83680" y="3914954"/>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48640" y="5623560"/>
            <a:ext cx="4480560" cy="646331"/>
          </a:xfrm>
          <a:prstGeom prst="rect">
            <a:avLst/>
          </a:prstGeom>
          <a:noFill/>
        </p:spPr>
        <p:txBody>
          <a:bodyPr wrap="square" rtlCol="0">
            <a:spAutoFit/>
          </a:bodyPr>
          <a:lstStyle/>
          <a:p>
            <a:r>
              <a:rPr lang="en-DK" dirty="0"/>
              <a:t>enrichment in thermogenesis and amino acid/fatty acid degradation pathways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In PCA neither data layer separates the </a:t>
            </a:r>
            <a:r>
              <a:rPr lang="en-US" sz="1600" dirty="0" err="1">
                <a:solidFill>
                  <a:schemeClr val="bg1"/>
                </a:solidFill>
              </a:rPr>
              <a:t>pathogeneicity</a:t>
            </a:r>
            <a:r>
              <a:rPr lang="en-US" sz="1600" dirty="0">
                <a:solidFill>
                  <a:schemeClr val="bg1"/>
                </a:solidFill>
              </a:rPr>
              <a:t> groups: Con, CSKP and CRKP.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2110155" y="5623560"/>
            <a:ext cx="8335108" cy="457200"/>
          </a:xfrm>
          <a:prstGeom prst="rect">
            <a:avLst/>
          </a:prstGeom>
          <a:noFill/>
          <a:ln/>
        </p:spPr>
        <p:txBody>
          <a:bodyPr wrap="square" lIns="0" tIns="0" rIns="0" bIns="0" rtlCol="0" anchor="t"/>
          <a:lstStyle/>
          <a:p>
            <a:pPr marL="0" indent="0">
              <a:buNone/>
            </a:pPr>
            <a:r>
              <a:rPr lang="en-US" i="1" dirty="0">
                <a:solidFill>
                  <a:schemeClr val="accent5"/>
                </a:solidFill>
              </a:rPr>
              <a:t>So the question for integration is not 'do the groups separate?' but 'what structure is shared, and where does mechanism cross layers?'</a:t>
            </a:r>
            <a:endParaRPr lang="en-US"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0381"/>
            <a:ext cx="11094415" cy="777240"/>
          </a:xfrm>
          <a:prstGeom prst="rect">
            <a:avLst/>
          </a:prstGeom>
          <a:noFill/>
          <a:ln/>
        </p:spPr>
        <p:txBody>
          <a:bodyPr wrap="square" lIns="0" tIns="0" rIns="0" bIns="0" rtlCol="0" anchor="ctr"/>
          <a:lstStyle/>
          <a:p>
            <a:r>
              <a:rPr lang="en-US" sz="3200" b="1" dirty="0">
                <a:solidFill>
                  <a:schemeClr val="tx1"/>
                </a:solidFill>
                <a:latin typeface="Cambria" pitchFamily="34" charset="0"/>
                <a:ea typeface="Cambria" pitchFamily="34" charset="-122"/>
                <a:cs typeface="Cambria" pitchFamily="34" charset="-120"/>
              </a:rPr>
              <a:t>Step zero: two physiology views of the same patients</a:t>
            </a:r>
            <a:br>
              <a:rPr lang="en-US" sz="3200" b="1" dirty="0">
                <a:solidFill>
                  <a:schemeClr val="tx1"/>
                </a:solidFill>
                <a:latin typeface="Cambria" pitchFamily="34" charset="0"/>
                <a:ea typeface="Cambria" pitchFamily="34" charset="-122"/>
                <a:cs typeface="Cambria" pitchFamily="34" charset="-120"/>
              </a:rPr>
            </a:br>
            <a:r>
              <a:rPr lang="en-US" dirty="0"/>
              <a:t>The same recipe applied symmetrically to both layers</a:t>
            </a:r>
            <a:endParaRPr lang="en-US" sz="3200" dirty="0"/>
          </a:p>
        </p:txBody>
      </p:sp>
      <p:sp>
        <p:nvSpPr>
          <p:cNvPr id="3" name="prep 1"/>
          <p:cNvSpPr/>
          <p:nvPr/>
        </p:nvSpPr>
        <p:spPr>
          <a:xfrm>
            <a:off x="548640" y="1914859"/>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91485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91485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914859"/>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692099"/>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69209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69209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692099"/>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3469339"/>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346933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346933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3469339"/>
            <a:ext cx="2743200" cy="548640"/>
          </a:xfrm>
          <a:prstGeom prst="rect">
            <a:avLst/>
          </a:prstGeom>
          <a:noFill/>
          <a:ln/>
        </p:spPr>
        <p:txBody>
          <a:bodyPr wrap="square" lIns="0" tIns="0" rIns="0" bIns="0" rtlCol="0" anchor="ctr"/>
          <a:lstStyle/>
          <a:p>
            <a:pPr marL="0" indent="0">
              <a:buNone/>
            </a:pPr>
            <a:r>
              <a:rPr lang="en-US" sz="1500">
                <a:solidFill>
                  <a:schemeClr val="tx2"/>
                </a:solidFill>
              </a:rPr>
              <a:t>≤ 35 </a:t>
            </a:r>
            <a:r>
              <a:rPr lang="en-US" sz="1500" dirty="0">
                <a:solidFill>
                  <a:schemeClr val="tx2"/>
                </a:solidFill>
              </a:rPr>
              <a:t>% missing</a:t>
            </a:r>
            <a:endParaRPr lang="en-US" sz="1500" dirty="0"/>
          </a:p>
        </p:txBody>
      </p:sp>
      <p:sp>
        <p:nvSpPr>
          <p:cNvPr id="15" name="prep 4"/>
          <p:cNvSpPr/>
          <p:nvPr/>
        </p:nvSpPr>
        <p:spPr>
          <a:xfrm>
            <a:off x="548640" y="4246579"/>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424657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424657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4246579"/>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5023819"/>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502381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502381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a:t>
            </a:r>
            <a:endParaRPr lang="en-US" sz="1700" dirty="0"/>
          </a:p>
        </p:txBody>
      </p:sp>
      <p:sp>
        <p:nvSpPr>
          <p:cNvPr id="22" name="Text 20"/>
          <p:cNvSpPr txBox="1"/>
          <p:nvPr/>
        </p:nvSpPr>
        <p:spPr>
          <a:xfrm>
            <a:off x="3108960" y="5023819"/>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914859"/>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2097739"/>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789379"/>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174590"/>
            <a:ext cx="11360800" cy="763600"/>
          </a:xfrm>
          <a:prstGeom prst="rect">
            <a:avLst/>
          </a:prstGeom>
        </p:spPr>
        <p:txBody>
          <a:bodyPr spcFirstLastPara="1" wrap="square" lIns="121900" tIns="121900" rIns="121900" bIns="121900" anchor="t" anchorCtr="0">
            <a:normAutofit fontScale="90000"/>
          </a:bodyPr>
          <a:lstStyle/>
          <a:p>
            <a:pPr algn="l"/>
            <a:r>
              <a:rPr lang="es" b="1" dirty="0"/>
              <a:t>Method: Similarity Network Fusion (SNF)</a:t>
            </a:r>
            <a:endParaRPr b="1" dirty="0"/>
          </a:p>
        </p:txBody>
      </p:sp>
      <p:sp>
        <p:nvSpPr>
          <p:cNvPr id="263" name="Google Shape;263;p30"/>
          <p:cNvSpPr txBox="1">
            <a:spLocks noGrp="1"/>
          </p:cNvSpPr>
          <p:nvPr>
            <p:ph type="body" idx="1"/>
          </p:nvPr>
        </p:nvSpPr>
        <p:spPr>
          <a:xfrm>
            <a:off x="415600" y="1175186"/>
            <a:ext cx="11242163" cy="2616000"/>
          </a:xfrm>
          <a:prstGeom prst="rect">
            <a:avLst/>
          </a:prstGeom>
        </p:spPr>
        <p:txBody>
          <a:bodyPr spcFirstLastPara="1" wrap="square" lIns="121900" tIns="121900" rIns="121900" bIns="121900" anchor="t" anchorCtr="0">
            <a:normAutofit/>
          </a:bodyPr>
          <a:lstStyle/>
          <a:p>
            <a:pPr marL="0" indent="0">
              <a:buNone/>
            </a:pPr>
            <a:r>
              <a:rPr lang="es" sz="2000" dirty="0"/>
              <a:t>A </a:t>
            </a:r>
            <a:r>
              <a:rPr lang="es" sz="2000" b="1" dirty="0"/>
              <a:t>network-based method</a:t>
            </a:r>
            <a:r>
              <a:rPr lang="es" sz="2000" dirty="0"/>
              <a:t> to find sample subtypes (compares patients, not variables)</a:t>
            </a:r>
            <a:endParaRPr sz="2000" dirty="0"/>
          </a:p>
          <a:p>
            <a:pPr marL="0" indent="0">
              <a:spcBef>
                <a:spcPts val="1600"/>
              </a:spcBef>
              <a:buNone/>
            </a:pPr>
            <a:r>
              <a:rPr lang="es" sz="2000" b="1" dirty="0"/>
              <a:t>Step 1</a:t>
            </a:r>
            <a:r>
              <a:rPr lang="es" sz="2000" dirty="0"/>
              <a:t> Builds a </a:t>
            </a:r>
            <a:r>
              <a:rPr lang="es" sz="2000" b="1" dirty="0"/>
              <a:t>patient similarity network</a:t>
            </a:r>
            <a:r>
              <a:rPr lang="es" sz="2000" dirty="0"/>
              <a:t> for each omic data type (e.g based on gene expression, DNA methylation, proteome and metabolome intensities, etc… ).</a:t>
            </a:r>
            <a:endParaRPr sz="2000" dirty="0"/>
          </a:p>
          <a:p>
            <a:pPr marL="0" indent="0">
              <a:spcBef>
                <a:spcPts val="1600"/>
              </a:spcBef>
              <a:buNone/>
            </a:pPr>
            <a:r>
              <a:rPr lang="es" sz="2000" b="1" dirty="0"/>
              <a:t>Step 2</a:t>
            </a:r>
            <a:r>
              <a:rPr lang="es" sz="2000" dirty="0"/>
              <a:t> Iteratively </a:t>
            </a:r>
            <a:r>
              <a:rPr lang="es" sz="2000" b="1" dirty="0"/>
              <a:t>fuses</a:t>
            </a:r>
            <a:r>
              <a:rPr lang="es" sz="2000" dirty="0"/>
              <a:t> these networks into a </a:t>
            </a:r>
            <a:r>
              <a:rPr lang="es" sz="2000" b="1" dirty="0"/>
              <a:t>single, comprehensive patient network</a:t>
            </a:r>
            <a:r>
              <a:rPr lang="es" sz="2000" dirty="0"/>
              <a:t>.</a:t>
            </a:r>
            <a:endParaRPr sz="2000" dirty="0"/>
          </a:p>
          <a:p>
            <a:pPr marL="0" indent="0">
              <a:spcBef>
                <a:spcPts val="1600"/>
              </a:spcBef>
              <a:spcAft>
                <a:spcPts val="1600"/>
              </a:spcAft>
              <a:buNone/>
            </a:pPr>
            <a:endParaRPr sz="2000" dirty="0"/>
          </a:p>
        </p:txBody>
      </p:sp>
      <p:sp>
        <p:nvSpPr>
          <p:cNvPr id="264" name="Google Shape;264;p30"/>
          <p:cNvSpPr txBox="1"/>
          <p:nvPr/>
        </p:nvSpPr>
        <p:spPr>
          <a:xfrm>
            <a:off x="1019568" y="6113120"/>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547684" y="3313912"/>
            <a:ext cx="7153209" cy="2422690"/>
          </a:xfrm>
          <a:prstGeom prst="rect">
            <a:avLst/>
          </a:prstGeom>
          <a:noFill/>
          <a:ln>
            <a:noFill/>
          </a:ln>
        </p:spPr>
      </p:pic>
      <p:sp>
        <p:nvSpPr>
          <p:cNvPr id="3" name="TextBox 2">
            <a:extLst>
              <a:ext uri="{FF2B5EF4-FFF2-40B4-BE49-F238E27FC236}">
                <a16:creationId xmlns:a16="http://schemas.microsoft.com/office/drawing/2014/main" id="{07EF7C12-F690-7EB3-FE61-DF799E0A80E8}"/>
              </a:ext>
            </a:extLst>
          </p:cNvPr>
          <p:cNvSpPr txBox="1"/>
          <p:nvPr/>
        </p:nvSpPr>
        <p:spPr>
          <a:xfrm>
            <a:off x="7838377" y="3264456"/>
            <a:ext cx="4461200" cy="2759730"/>
          </a:xfrm>
          <a:prstGeom prst="rect">
            <a:avLst/>
          </a:prstGeom>
          <a:noFill/>
        </p:spPr>
        <p:txBody>
          <a:bodyPr wrap="square">
            <a:spAutoFit/>
          </a:bodyPr>
          <a:lstStyle/>
          <a:p>
            <a:pPr marL="0" indent="0">
              <a:buNone/>
            </a:pPr>
            <a:r>
              <a:rPr lang="en-GB" sz="2000" dirty="0"/>
              <a:t>The f</a:t>
            </a:r>
            <a:r>
              <a:rPr lang="en-GB" sz="2000" b="1" dirty="0"/>
              <a:t>usion process</a:t>
            </a:r>
            <a:r>
              <a:rPr lang="en-GB" sz="2000" dirty="0"/>
              <a:t> keeps </a:t>
            </a:r>
            <a:r>
              <a:rPr lang="en-GB" sz="2000" b="1" dirty="0"/>
              <a:t>strong similarities</a:t>
            </a:r>
            <a:r>
              <a:rPr lang="en-GB" sz="2000" dirty="0"/>
              <a:t> found </a:t>
            </a:r>
            <a:r>
              <a:rPr lang="en-GB" sz="2000" b="1" dirty="0"/>
              <a:t>in multiple omics layers</a:t>
            </a:r>
            <a:r>
              <a:rPr lang="en-GB" sz="2000" dirty="0"/>
              <a:t> and filters out weak, "noisy" connections.</a:t>
            </a:r>
          </a:p>
          <a:p>
            <a:pPr marL="0" indent="0">
              <a:spcBef>
                <a:spcPts val="1600"/>
              </a:spcBef>
              <a:buNone/>
            </a:pPr>
            <a:r>
              <a:rPr lang="en-GB" sz="2000" dirty="0"/>
              <a:t>The final </a:t>
            </a:r>
            <a:r>
              <a:rPr lang="en-GB" sz="2000" b="1" dirty="0"/>
              <a:t>fused network</a:t>
            </a:r>
            <a:r>
              <a:rPr lang="en-GB" sz="2000" dirty="0"/>
              <a:t> represents a </a:t>
            </a:r>
            <a:r>
              <a:rPr lang="en-GB" sz="2000" b="1" dirty="0"/>
              <a:t>robust measure of patient similarity</a:t>
            </a:r>
            <a:r>
              <a:rPr lang="en-GB" sz="2000" dirty="0"/>
              <a:t> which is then used for </a:t>
            </a:r>
            <a:r>
              <a:rPr lang="en-GB" sz="2000" b="1" dirty="0"/>
              <a:t>clustering and comparison with clinical groups.</a:t>
            </a:r>
            <a:endParaRPr lang="en-GB"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7017290" cy="5632311"/>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dirty="0"/>
              <a:t>To find the </a:t>
            </a:r>
            <a:r>
              <a:rPr lang="en-US" sz="2000" b="1" dirty="0"/>
              <a:t>sources of variation</a:t>
            </a:r>
            <a:endParaRPr lang="en-GB" sz="2000" b="1"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 (dimensionality reduction tool)</a:t>
            </a:r>
            <a:endParaRPr lang="en-GB" sz="2000" dirty="0"/>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dirty="0"/>
              <a:t>Network Biology Analysis</a:t>
            </a:r>
            <a:endParaRPr sz="3227" b="1" dirty="0"/>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In network biology the primary goal is to find </a:t>
            </a:r>
            <a:r>
              <a:rPr lang="es" sz="1800" b="1" dirty="0"/>
              <a:t>modules</a:t>
            </a:r>
            <a:r>
              <a:rPr lang="es" sz="1800" dirty="0"/>
              <a:t> of </a:t>
            </a:r>
            <a:r>
              <a:rPr lang="es" sz="1800" b="1" dirty="0"/>
              <a:t>highly correlated features</a:t>
            </a:r>
            <a:r>
              <a:rPr lang="es" sz="1800" dirty="0"/>
              <a:t> (e.g., co-expressed genes, correlated proteins and metabolites).</a:t>
            </a:r>
            <a:endParaRPr sz="1800" dirty="0"/>
          </a:p>
          <a:p>
            <a:pPr marL="0" indent="0">
              <a:lnSpc>
                <a:spcPct val="150000"/>
              </a:lnSpc>
              <a:spcBef>
                <a:spcPts val="1867"/>
              </a:spcBef>
              <a:buClr>
                <a:schemeClr val="dk1"/>
              </a:buClr>
              <a:buSzPts val="1100"/>
              <a:buNone/>
            </a:pPr>
            <a:r>
              <a:rPr lang="es" sz="1800" dirty="0">
                <a:solidFill>
                  <a:srgbClr val="1E293B"/>
                </a:solidFill>
              </a:rPr>
              <a:t>We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proteins</a:t>
            </a:r>
            <a:r>
              <a:rPr lang="es" sz="1800" dirty="0">
                <a:solidFill>
                  <a:srgbClr val="1E293B"/>
                </a:solidFill>
              </a:rPr>
              <a:t> (from proteomics)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proteins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the </a:t>
            </a:r>
            <a:r>
              <a:rPr lang="en-US" sz="1500">
                <a:solidFill>
                  <a:schemeClr val="tx2"/>
                </a:solidFill>
              </a:rPr>
              <a:t>clinical variables?</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github.com/biosustain/dsp_multiomics_workshop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548792" y="708660"/>
            <a:ext cx="11302889" cy="5909310"/>
          </a:xfrm>
          <a:prstGeom prst="rect">
            <a:avLst/>
          </a:prstGeom>
          <a:noFill/>
        </p:spPr>
        <p:txBody>
          <a:bodyPr wrap="square" rtlCol="0">
            <a:spAutoFit/>
          </a:bodyPr>
          <a:lstStyle/>
          <a:p>
            <a:r>
              <a:rPr lang="en-DK" b="1" dirty="0"/>
              <a:t>Multi-omics I — Integration</a:t>
            </a:r>
            <a:endParaRPr lang="en-DK" dirty="0"/>
          </a:p>
          <a:p>
            <a:pPr lvl="0"/>
            <a:r>
              <a:rPr lang="en-DK" dirty="0">
                <a:solidFill>
                  <a:srgbClr val="FF0000"/>
                </a:solidFill>
              </a:rPr>
              <a:t>1. Is the Mantel correlation between the two layers positive? Is the signal shared or complementary?</a:t>
            </a:r>
          </a:p>
          <a:p>
            <a:pPr lvl="0"/>
            <a:endParaRPr lang="en-DK" dirty="0"/>
          </a:p>
          <a:p>
            <a:pPr lvl="0"/>
            <a:r>
              <a:rPr lang="en-DK" i="1" dirty="0"/>
              <a:t>The correlation is slightly positive (rho=0.058), but almost zero and statistically non-significant (p = 0.491). This indicates that the global structures of the proteome and the metabolome in this cohort do not strongly mirror each other. Therefore, the signal is highly complementary rather than shared; each layer captures unique biological dimensions of the host response.</a:t>
            </a:r>
          </a:p>
          <a:p>
            <a:pPr lvl="0"/>
            <a:endParaRPr lang="en-DK" i="1" dirty="0"/>
          </a:p>
          <a:p>
            <a:pPr lvl="0"/>
            <a:r>
              <a:rPr lang="en-DK" dirty="0">
                <a:solidFill>
                  <a:srgbClr val="FF0000"/>
                </a:solidFill>
              </a:rPr>
              <a:t>2. Do the SNF clusters match the pathogeneicity groups — or the clinical variables?</a:t>
            </a:r>
          </a:p>
          <a:p>
            <a:pPr lvl="0"/>
            <a:endParaRPr lang="en-DK" dirty="0"/>
          </a:p>
          <a:p>
            <a:r>
              <a:rPr lang="en-GB" i="1" dirty="0"/>
              <a:t>The clusters do not match the pathogen resistance groups (CSKP vs. CRKP). Instead, they match clinical variables representing the severity of the inflammatory host response. </a:t>
            </a:r>
            <a:r>
              <a:rPr lang="en-DK" dirty="0"/>
              <a:t>Cluster 1 is characterized by a significantly higher systemic inflammatory profile, while cluster 0 and 2 contain mostly culture negative samples / less severe sepsis.</a:t>
            </a:r>
          </a:p>
          <a:p>
            <a:pPr lvl="0"/>
            <a:endParaRPr lang="en-DK" dirty="0"/>
          </a:p>
          <a:p>
            <a:pPr lvl="0"/>
            <a:r>
              <a:rPr lang="en-DK" dirty="0">
                <a:solidFill>
                  <a:srgbClr val="FF0000"/>
                </a:solidFill>
              </a:rPr>
              <a:t>3. Which MOFA factor tracks group, and which tracks CRP, procalcitonin or creatinine?</a:t>
            </a:r>
          </a:p>
          <a:p>
            <a:pPr lvl="0"/>
            <a:endParaRPr lang="en-DK" dirty="0"/>
          </a:p>
          <a:p>
            <a:r>
              <a:rPr lang="en-DK" i="1" dirty="0"/>
              <a:t>Factor 2 is the most highly associated with clinical groups (Kruskal-Wallis p = 0.000022).</a:t>
            </a:r>
          </a:p>
          <a:p>
            <a:r>
              <a:rPr lang="en-DK" i="1" dirty="0"/>
              <a:t>Factor 1 has the strongest relationship with systemic inflammatory markers, showing a moderate Spearman correlation with Procalcitonin (rho = 0.452) and CRP (rho = 0.260)</a:t>
            </a:r>
            <a:br>
              <a:rPr lang="en-DK" i="1" dirty="0"/>
            </a:br>
            <a:r>
              <a:rPr lang="en-DK" i="1" dirty="0"/>
              <a:t>Factor 4 has the strongest relationship with renal function exhibiting a moderate correlation with creatinine (rho = 0.483)</a:t>
            </a:r>
          </a:p>
        </p:txBody>
      </p:sp>
    </p:spTree>
    <p:extLst>
      <p:ext uri="{BB962C8B-B14F-4D97-AF65-F5344CB8AC3E}">
        <p14:creationId xmlns:p14="http://schemas.microsoft.com/office/powerpoint/2010/main" val="13112806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548792" y="671691"/>
            <a:ext cx="11094415" cy="5909310"/>
          </a:xfrm>
          <a:prstGeom prst="rect">
            <a:avLst/>
          </a:prstGeom>
          <a:noFill/>
        </p:spPr>
        <p:txBody>
          <a:bodyPr wrap="square" rtlCol="0">
            <a:spAutoFit/>
          </a:bodyPr>
          <a:lstStyle/>
          <a:p>
            <a:r>
              <a:rPr lang="en-DK" b="1" dirty="0"/>
              <a:t>Multi-omics II — Networks and pathways</a:t>
            </a:r>
            <a:endParaRPr lang="en-DK" dirty="0"/>
          </a:p>
          <a:p>
            <a:pPr lvl="0"/>
            <a:r>
              <a:rPr lang="en-DK" dirty="0">
                <a:solidFill>
                  <a:srgbClr val="FF0000"/>
                </a:solidFill>
              </a:rPr>
              <a:t>1. How many protein–metabolite edges survive FDR 5 %, and how many FDR 20 %?</a:t>
            </a:r>
          </a:p>
          <a:p>
            <a:pPr lvl="0"/>
            <a:r>
              <a:rPr lang="en-DK" i="1" dirty="0"/>
              <a:t>At FDR 5% only 8 edges survive (with a Spearman rho &gt; 0.45.</a:t>
            </a:r>
          </a:p>
          <a:p>
            <a:pPr lvl="0"/>
            <a:r>
              <a:rPr lang="en-DK" i="1" dirty="0"/>
              <a:t>At FDR 20% 492 edges survive (331 positive, 161 negative). This gives us enough network structure to map out metabolic communities, but with the warning that about 1 in 5 edges (around 98 of them) are expected to be false positives.</a:t>
            </a:r>
          </a:p>
          <a:p>
            <a:pPr lvl="0"/>
            <a:endParaRPr lang="en-DK" dirty="0"/>
          </a:p>
          <a:p>
            <a:pPr lvl="0"/>
            <a:r>
              <a:rPr lang="en-DK" dirty="0">
                <a:solidFill>
                  <a:srgbClr val="FF0000"/>
                </a:solidFill>
              </a:rPr>
              <a:t>2. Who are the hubs — metabolic controllers, or markers of a global state?</a:t>
            </a:r>
          </a:p>
          <a:p>
            <a:r>
              <a:rPr lang="en-GB" i="1" dirty="0"/>
              <a:t>Mostly markers of a global state. </a:t>
            </a:r>
            <a:r>
              <a:rPr lang="en-DK" i="1" dirty="0"/>
              <a:t>For example, the top protein hub F7 (Coagulation Factor VII) and immunoglobulins like IGKV2-29 (which has 31 partners) correlate with many metabolites because they all independently track the systemic collapse, vascular damage, and immune exhaustion of severe CRKP sepsis.</a:t>
            </a:r>
            <a:endParaRPr lang="en-GB" dirty="0"/>
          </a:p>
          <a:p>
            <a:pPr lvl="0"/>
            <a:endParaRPr lang="en-DK" dirty="0"/>
          </a:p>
          <a:p>
            <a:pPr lvl="0"/>
            <a:r>
              <a:rPr lang="en-DK" dirty="0">
                <a:solidFill>
                  <a:srgbClr val="FF0000"/>
                </a:solidFill>
              </a:rPr>
              <a:t>3. Does MAT2B correlate with S-adenosylmethionine (SAM)? Would you believe it?</a:t>
            </a:r>
          </a:p>
          <a:p>
            <a:r>
              <a:rPr lang="en-DK" dirty="0"/>
              <a:t>Yes, they correlate: rho = 0.38; p = 0.0358</a:t>
            </a:r>
          </a:p>
          <a:p>
            <a:pPr lvl="0"/>
            <a:r>
              <a:rPr lang="en-DK" dirty="0"/>
              <a:t>I would believe it with strong skepticism. Why?</a:t>
            </a:r>
            <a:br>
              <a:rPr lang="en-DK" dirty="0"/>
            </a:br>
            <a:r>
              <a:rPr lang="en-DK" dirty="0"/>
              <a:t>	- Very Small Sample Size: MAT2B is only measured in 30 out of 45 patients. </a:t>
            </a:r>
          </a:p>
          <a:p>
            <a:pPr lvl="0"/>
            <a:r>
              <a:rPr lang="en-DK" dirty="0"/>
              <a:t>	- Leakage vs. Activity: MAT2B is an </a:t>
            </a:r>
            <a:r>
              <a:rPr lang="en-DK" i="1" dirty="0"/>
              <a:t>intracellular</a:t>
            </a:r>
            <a:r>
              <a:rPr lang="en-DK" dirty="0"/>
              <a:t> enzyme. Finding it in the </a:t>
            </a:r>
            <a:r>
              <a:rPr lang="en-DK" i="1" dirty="0"/>
              <a:t>serum</a:t>
            </a:r>
            <a:r>
              <a:rPr lang="en-DK" dirty="0"/>
              <a:t> likely means cell death and tissue damage rather than active serum enzyme kinetics.</a:t>
            </a:r>
          </a:p>
          <a:p>
            <a:pPr lvl="0"/>
            <a:r>
              <a:rPr lang="en-DK" dirty="0"/>
              <a:t>	- Circular Reasoning: We specifically zoomed in on the methionine cycle because the paper's pathway analysis (with FDR = 0.57) pointed us there. Finding a correlation here is a coherence check, not independent biological confirmation.</a:t>
            </a:r>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4944</TotalTime>
  <Words>5243</Words>
  <Application>Microsoft Macintosh PowerPoint</Application>
  <PresentationFormat>Widescreen</PresentationFormat>
  <Paragraphs>559</Paragraphs>
  <Slides>30</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 (time of sepsis diagnosis)?</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physiology views of the same patients The same recipe applied symmetrically to both layers</vt:lpstr>
      <vt:lpstr>Method: Similarity Network Fusion (SNF)</vt:lpstr>
      <vt:lpstr>Method: Multi-Omics Factor Analysis (MOFA)</vt:lpstr>
      <vt:lpstr>Network Biology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Alberto Pallejà Caro</cp:lastModifiedBy>
  <cp:revision>30</cp:revision>
  <dcterms:created xsi:type="dcterms:W3CDTF">2026-10-19T16:46:14Z</dcterms:created>
  <dcterms:modified xsi:type="dcterms:W3CDTF">2026-10-26T00:05:29Z</dcterms:modified>
</cp:coreProperties>
</file>