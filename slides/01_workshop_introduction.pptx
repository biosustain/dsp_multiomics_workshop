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82" r:id="rId10"/>
    <p:sldId id="280" r:id="rId11"/>
    <p:sldId id="281" r:id="rId12"/>
    <p:sldId id="265" r:id="rId13"/>
    <p:sldId id="266" r:id="rId14"/>
    <p:sldId id="267" r:id="rId15"/>
    <p:sldId id="268" r:id="rId16"/>
    <p:sldId id="269" r:id="rId17"/>
    <p:sldId id="270" r:id="rId18"/>
    <p:sldId id="271" r:id="rId19"/>
    <p:sldId id="272" r:id="rId20"/>
    <p:sldId id="273" r:id="rId21"/>
    <p:sldId id="284" r:id="rId22"/>
    <p:sldId id="285" r:id="rId23"/>
    <p:sldId id="275" r:id="rId24"/>
    <p:sldId id="286" r:id="rId25"/>
    <p:sldId id="274" r:id="rId26"/>
    <p:sldId id="288" r:id="rId27"/>
    <p:sldId id="278" r:id="rId28"/>
    <p:sldId id="279" r:id="rId29"/>
    <p:sldId id="283" r:id="rId30"/>
    <p:sldId id="290"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5F595B-C8E8-50F0-5249-6F34D8E482DE}">
          <p14:sldIdLst>
            <p14:sldId id="256"/>
            <p14:sldId id="257"/>
          </p14:sldIdLst>
        </p14:section>
        <p14:section name="The study" id="{027E6C05-04BA-64B8-FC43-A4D85B7979B9}">
          <p14:sldIdLst>
            <p14:sldId id="258"/>
            <p14:sldId id="259"/>
            <p14:sldId id="260"/>
            <p14:sldId id="261"/>
          </p14:sldIdLst>
        </p14:section>
        <p14:section name="Processing" id="{453F18C7-E90D-B954-F935-9D671F92CC08}">
          <p14:sldIdLst>
            <p14:sldId id="262"/>
            <p14:sldId id="263"/>
            <p14:sldId id="282"/>
            <p14:sldId id="280"/>
            <p14:sldId id="281"/>
            <p14:sldId id="265"/>
            <p14:sldId id="266"/>
          </p14:sldIdLst>
        </p14:section>
        <p14:section name="Findings" id="{A1536319-7838-AB06-FDEF-2A4F3347F9B6}">
          <p14:sldIdLst>
            <p14:sldId id="267"/>
            <p14:sldId id="268"/>
            <p14:sldId id="269"/>
            <p14:sldId id="270"/>
            <p14:sldId id="271"/>
            <p14:sldId id="272"/>
          </p14:sldIdLst>
        </p14:section>
        <p14:section name="Integration" id="{1F218A16-B711-21B4-0C99-CC79A31722FB}">
          <p14:sldIdLst>
            <p14:sldId id="273"/>
            <p14:sldId id="284"/>
            <p14:sldId id="285"/>
            <p14:sldId id="275"/>
            <p14:sldId id="286"/>
            <p14:sldId id="274"/>
            <p14:sldId id="288"/>
          </p14:sldIdLst>
        </p14:section>
        <p14:section name="Hands-on" id="{95CC07A4-1B98-81EE-5960-6F184FF4FAE0}">
          <p14:sldIdLst>
            <p14:sldId id="278"/>
          </p14:sldIdLst>
        </p14:section>
        <p14:section name="Close" id="{667BE58D-5B6E-77FD-1576-325C7C4790D7}">
          <p14:sldIdLst>
            <p14:sldId id="279"/>
            <p14:sldId id="283"/>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99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24"/>
    <p:restoredTop sz="60274"/>
  </p:normalViewPr>
  <p:slideViewPr>
    <p:cSldViewPr snapToGrid="0" snapToObjects="1">
      <p:cViewPr varScale="1">
        <p:scale>
          <a:sx n="74" d="100"/>
          <a:sy n="74" d="100"/>
        </p:scale>
        <p:origin x="23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152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workshop. </a:t>
            </a:r>
          </a:p>
          <a:p>
            <a:endParaRPr lang="en-US" dirty="0"/>
          </a:p>
          <a:p>
            <a:r>
              <a:rPr lang="en-US" dirty="0"/>
              <a:t>In two hours we go from one real clinical cohort to a cross-omics hypothesis.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plan for the next two hours:</a:t>
            </a:r>
          </a:p>
          <a:p>
            <a:endParaRPr lang="en-US" dirty="0"/>
          </a:p>
          <a:p>
            <a:r>
              <a:rPr lang="en-US" dirty="0"/>
              <a:t> I will give you About 20/25 minutes of context, then you can work at your own pace in the notebooks. Notebooks run in Google </a:t>
            </a:r>
            <a:r>
              <a:rPr lang="en-US" dirty="0" err="1"/>
              <a:t>Colab</a:t>
            </a:r>
            <a:r>
              <a:rPr lang="en-US" dirty="0"/>
              <a:t> – no need of installations. </a:t>
            </a:r>
          </a:p>
          <a:p>
            <a:endParaRPr lang="en-US" dirty="0"/>
          </a:p>
          <a:p>
            <a:r>
              <a:rPr lang="en-US" dirty="0"/>
              <a:t>You can also run it locally if you want to deal with the installations or already have the tools/libraries installed</a:t>
            </a:r>
            <a:br>
              <a:rPr lang="en-US" dirty="0"/>
            </a:br>
            <a:br>
              <a:rPr lang="en-US" dirty="0"/>
            </a:br>
            <a:r>
              <a:rPr lang="en-US" dirty="0"/>
              <a:t>Before each hands/on you can read in 10/15 min of theory from the slide decks.</a:t>
            </a:r>
          </a:p>
          <a:p>
            <a:endParaRPr lang="en-US" dirty="0"/>
          </a:p>
          <a:p>
            <a:r>
              <a:rPr lang="en-US" dirty="0"/>
              <a:t>Timings are a guide. If Colab installs are slow, start Hands-on I while reading the material.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the study, we have a cohort that has data from two instruments, so we have proteomics and metabolomics data</a:t>
            </a:r>
            <a:br>
              <a:rPr lang="en-US" dirty="0"/>
            </a:br>
            <a:br>
              <a:rPr lang="en-US" dirty="0"/>
            </a:br>
            <a:r>
              <a:rPr lang="en-US" dirty="0"/>
              <a:t>See the reference here if you want to scheme through the paper or read after the course.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clinical problem in this paper was whether </a:t>
            </a:r>
            <a:r>
              <a:rPr lang="en-US" sz="1200" b="1" dirty="0">
                <a:solidFill>
                  <a:schemeClr val="tx1"/>
                </a:solidFill>
                <a:latin typeface="Cambria" pitchFamily="34" charset="0"/>
                <a:ea typeface="Cambria" pitchFamily="34" charset="-122"/>
                <a:cs typeface="Cambria" pitchFamily="34" charset="-120"/>
              </a:rPr>
              <a:t>serum profiles tell a resistant from a susceptible Klebsiella pneumoniae infection on day 0 (time of sepsis diagnosis)?</a:t>
            </a:r>
          </a:p>
          <a:p>
            <a:endParaRPr lang="en-US" sz="1200" b="1" dirty="0">
              <a:solidFill>
                <a:schemeClr val="tx1"/>
              </a:solidFill>
              <a:latin typeface="Cambria" pitchFamily="34" charset="0"/>
            </a:endParaRPr>
          </a:p>
          <a:p>
            <a:r>
              <a:rPr lang="en-US" dirty="0"/>
              <a:t>Sepsis is a dysregulated host response; K. pneumoniae is a common cause of sepsis; </a:t>
            </a:r>
          </a:p>
          <a:p>
            <a:endParaRPr lang="en-US" dirty="0"/>
          </a:p>
          <a:p>
            <a:r>
              <a:rPr lang="en-US" dirty="0"/>
              <a:t>resistant strains of this bacteria roughly double mortality.</a:t>
            </a:r>
          </a:p>
          <a:p>
            <a:endParaRPr lang="en-US" dirty="0"/>
          </a:p>
          <a:p>
            <a:r>
              <a:rPr lang="en-US" dirty="0"/>
              <a:t>Blood culture and susceptibility testing take about 1-3 days and sometimes treatment can wait that long </a:t>
            </a:r>
          </a:p>
          <a:p>
            <a:endParaRPr lang="en-US" dirty="0"/>
          </a:p>
          <a:p>
            <a:r>
              <a:rPr lang="en-US" dirty="0"/>
              <a:t>So it would be great if serum proteins or metabolites </a:t>
            </a:r>
            <a:r>
              <a:rPr lang="en-DK" dirty="0"/>
              <a:t>could inform early, targeted antimicrobial decisions prior to the availability of culture and susceptibility results</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study of 45 septic patients divided on three pathogenicity groups of 15 patients each</a:t>
            </a:r>
            <a:br>
              <a:rPr lang="en-US" dirty="0"/>
            </a:br>
            <a:br>
              <a:rPr lang="en-US" dirty="0"/>
            </a:br>
            <a:r>
              <a:rPr lang="en-US" dirty="0"/>
              <a:t>Culture negative sepsis (on all microbiology tests)</a:t>
            </a:r>
          </a:p>
          <a:p>
            <a:r>
              <a:rPr lang="en-US" dirty="0"/>
              <a:t>Carbapenem-susceptible K. pneumoniae sepsis</a:t>
            </a:r>
          </a:p>
          <a:p>
            <a:r>
              <a:rPr lang="en-US" dirty="0"/>
              <a:t>Carbapenem-resistant K. pneumoniae sepsis</a:t>
            </a:r>
            <a:br>
              <a:rPr lang="en-US" dirty="0"/>
            </a:br>
            <a:endParaRPr lang="en-US" dirty="0"/>
          </a:p>
          <a:p>
            <a:r>
              <a:rPr lang="en-US" dirty="0"/>
              <a:t>Why this analysis is hard?</a:t>
            </a:r>
          </a:p>
          <a:p>
            <a:br>
              <a:rPr lang="en-US" dirty="0"/>
            </a:br>
            <a:r>
              <a:rPr lang="en-US" dirty="0"/>
              <a:t>Notice that all patients are sick, so the contrasts  here are between susceptible and resistant</a:t>
            </a:r>
          </a:p>
          <a:p>
            <a:r>
              <a:rPr lang="en-US" dirty="0"/>
              <a:t>Expect that infection severity will dominate the variance, resistance effect should be a small one compared to severity</a:t>
            </a:r>
          </a:p>
          <a:p>
            <a:r>
              <a:rPr lang="en-US" dirty="0"/>
              <a:t>Sample size 15 per group supervised methods will tend to overfit</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45 samples we measured proteomics and metabolomics with two different technologies: </a:t>
            </a:r>
          </a:p>
          <a:p>
            <a:r>
              <a:rPr lang="en-US" dirty="0"/>
              <a:t>untargeted-</a:t>
            </a:r>
            <a:r>
              <a:rPr lang="en-US" dirty="0" err="1"/>
              <a:t>ish</a:t>
            </a:r>
            <a:r>
              <a:rPr lang="en-US" dirty="0"/>
              <a:t> DIA proteomics with many missing values, </a:t>
            </a:r>
          </a:p>
          <a:p>
            <a:r>
              <a:rPr lang="en-US" dirty="0"/>
              <a:t>and targeted MRM metabolomics with few. </a:t>
            </a:r>
          </a:p>
          <a:p>
            <a:endParaRPr lang="en-US" dirty="0"/>
          </a:p>
          <a:p>
            <a:r>
              <a:rPr lang="en-US" dirty="0"/>
              <a:t>Both datasets were deposited publicly. We tank the authors! </a:t>
            </a:r>
          </a:p>
          <a:p>
            <a:endParaRPr lang="en-US" dirty="0"/>
          </a:p>
          <a:p>
            <a:r>
              <a:rPr lang="en-US" dirty="0"/>
              <a:t>Today you are not going to process the data again, The notebooks read small curated tables straight from GitHub.</a:t>
            </a:r>
          </a:p>
          <a:p>
            <a:endParaRPr lang="en-US" dirty="0"/>
          </a:p>
          <a:p>
            <a:r>
              <a:rPr lang="en-US" dirty="0"/>
              <a:t>The patients have two descriptions of the same physiology which makes integration possible and exciting.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briefly about the processing</a:t>
            </a:r>
          </a:p>
          <a:p>
            <a:endParaRPr lang="en-US" dirty="0"/>
          </a:p>
          <a:p>
            <a:r>
              <a:rPr lang="en-US" dirty="0"/>
              <a:t>How we go from raw files to feature intensity matrices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tend to use curated pipelines instead of many tools one after another</a:t>
            </a:r>
            <a:br>
              <a:rPr lang="en-US" dirty="0"/>
            </a:br>
            <a:br>
              <a:rPr lang="en-US" dirty="0"/>
            </a:br>
            <a:r>
              <a:rPr lang="en-US" dirty="0"/>
              <a:t>At BRIGHT we are setting a collection of </a:t>
            </a:r>
            <a:r>
              <a:rPr lang="en-US" dirty="0" err="1"/>
              <a:t>Nextflow</a:t>
            </a:r>
            <a:r>
              <a:rPr lang="en-US" dirty="0"/>
              <a:t> pipelines as default to work with different omics.</a:t>
            </a:r>
            <a:br>
              <a:rPr lang="en-US" dirty="0"/>
            </a:br>
            <a:br>
              <a:rPr lang="en-US" dirty="0"/>
            </a:br>
            <a:r>
              <a:rPr lang="en-US" dirty="0"/>
              <a:t>It is recommendable as we have pinned versions with a clear map of what versions were used of each tool in each pipeline version</a:t>
            </a:r>
          </a:p>
          <a:p>
            <a:r>
              <a:rPr lang="en-US" dirty="0"/>
              <a:t>We ensure reproducibility by using containers (Docker/</a:t>
            </a:r>
            <a:r>
              <a:rPr lang="en-US" dirty="0" err="1"/>
              <a:t>apptainer</a:t>
            </a:r>
            <a:r>
              <a:rPr lang="en-US" dirty="0"/>
              <a:t>) shipped together with the software</a:t>
            </a:r>
          </a:p>
          <a:p>
            <a:r>
              <a:rPr lang="en-US" dirty="0" err="1"/>
              <a:t>Nextflow</a:t>
            </a:r>
            <a:r>
              <a:rPr lang="en-US" dirty="0"/>
              <a:t> offers the possibility of resume pipelines from wherever they stopped/fail</a:t>
            </a:r>
          </a:p>
          <a:p>
            <a:r>
              <a:rPr lang="en-US" dirty="0"/>
              <a:t>And we can use standards defined by the </a:t>
            </a:r>
            <a:r>
              <a:rPr lang="en-US" dirty="0" err="1"/>
              <a:t>Nextflow</a:t>
            </a:r>
            <a:r>
              <a:rPr lang="en-US" dirty="0"/>
              <a:t> community or other communities , f </a:t>
            </a:r>
            <a:r>
              <a:rPr lang="en-US" dirty="0" err="1"/>
              <a:t>eg</a:t>
            </a:r>
            <a:r>
              <a:rPr lang="en-US" dirty="0"/>
              <a:t> proteomics standards use </a:t>
            </a:r>
            <a:r>
              <a:rPr lang="en-US" dirty="0" err="1"/>
              <a:t>sdrf</a:t>
            </a:r>
            <a:r>
              <a:rPr lang="en-US" dirty="0"/>
              <a:t> format for </a:t>
            </a:r>
            <a:r>
              <a:rPr lang="en-US" dirty="0" err="1"/>
              <a:t>samplesheets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Briefly Nextflow is a workflow orchestrator engine and a workflow programming language </a:t>
            </a:r>
            <a:br>
              <a:rPr lang="en-DK" dirty="0"/>
            </a:br>
            <a:endParaRPr lang="en-DK" dirty="0"/>
          </a:p>
          <a:p>
            <a:r>
              <a:rPr lang="en-DK" dirty="0"/>
              <a:t>It allows us to have reproducible runs</a:t>
            </a:r>
          </a:p>
          <a:p>
            <a:r>
              <a:rPr lang="en-DK" dirty="0"/>
              <a:t>Portable and scalable pipelines between different platforms</a:t>
            </a:r>
          </a:p>
          <a:p>
            <a:r>
              <a:rPr lang="en-DK" dirty="0"/>
              <a:t>And it integrates with existing tools and industry standards</a:t>
            </a:r>
            <a:br>
              <a:rPr lang="en-DK" dirty="0"/>
            </a:br>
            <a:br>
              <a:rPr lang="en-DK" dirty="0"/>
            </a:br>
            <a:r>
              <a:rPr lang="en-DK" dirty="0"/>
              <a:t>Nf-core initiative is a collection of curated Nextflow pipelines that you can use to process many different data types (about 158 different pipeline nowadays) built in a modular way so that you can reuse the modules to build yours</a:t>
            </a:r>
          </a:p>
        </p:txBody>
      </p:sp>
      <p:sp>
        <p:nvSpPr>
          <p:cNvPr id="4" name="Slide Number Placeholder 3"/>
          <p:cNvSpPr>
            <a:spLocks noGrp="1"/>
          </p:cNvSpPr>
          <p:nvPr>
            <p:ph type="sldNum" sz="quarter" idx="5"/>
          </p:nvPr>
        </p:nvSpPr>
        <p:spPr/>
        <p:txBody>
          <a:bodyPr/>
          <a:lstStyle/>
          <a:p>
            <a:fld id="{10D28AFF-B84D-8F49-BA9B-C42DFE722FCF}" type="slidenum">
              <a:rPr lang="en-DK" smtClean="0"/>
              <a:t>9</a:t>
            </a:fld>
            <a:endParaRPr lang="en-DK"/>
          </a:p>
        </p:txBody>
      </p:sp>
    </p:spTree>
    <p:extLst>
      <p:ext uri="{BB962C8B-B14F-4D97-AF65-F5344CB8AC3E}">
        <p14:creationId xmlns:p14="http://schemas.microsoft.com/office/powerpoint/2010/main" val="3130348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proteomics data we use </a:t>
            </a:r>
            <a:r>
              <a:rPr lang="en-US" dirty="0" err="1"/>
              <a:t>quantmsdiann</a:t>
            </a:r>
            <a:r>
              <a:rPr lang="en-US" dirty="0"/>
              <a:t> is the DIA-NN branch of </a:t>
            </a:r>
            <a:r>
              <a:rPr lang="en-US" dirty="0" err="1"/>
              <a:t>quantms</a:t>
            </a:r>
            <a:r>
              <a:rPr lang="en-US" dirty="0"/>
              <a:t>, built to </a:t>
            </a:r>
            <a:r>
              <a:rPr lang="en-US" dirty="0" err="1"/>
              <a:t>nf</a:t>
            </a:r>
            <a:r>
              <a:rPr lang="en-US" dirty="0"/>
              <a:t>-core standards by </a:t>
            </a:r>
            <a:r>
              <a:rPr lang="en-US" dirty="0" err="1"/>
              <a:t>bigbio</a:t>
            </a:r>
            <a:r>
              <a:rPr lang="en-US" dirty="0"/>
              <a:t> at EMBL-EBI.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the pipeline does.</a:t>
            </a:r>
            <a:br>
              <a:rPr lang="en-US" dirty="0"/>
            </a:br>
            <a:br>
              <a:rPr lang="en-US" dirty="0"/>
            </a:br>
            <a:r>
              <a:rPr lang="en-US" dirty="0"/>
              <a:t>The SDRF is generated by bin/</a:t>
            </a:r>
            <a:r>
              <a:rPr lang="en-US" dirty="0" err="1"/>
              <a:t>build_sdrf.py</a:t>
            </a:r>
            <a:r>
              <a:rPr lang="en-US" dirty="0"/>
              <a:t>; pooled QCs are excluded from it so they do not enter the differential design.</a:t>
            </a:r>
          </a:p>
          <a:p>
            <a:endParaRPr lang="en-DK" dirty="0"/>
          </a:p>
        </p:txBody>
      </p:sp>
    </p:spTree>
    <p:extLst>
      <p:ext uri="{BB962C8B-B14F-4D97-AF65-F5344CB8AC3E}">
        <p14:creationId xmlns:p14="http://schemas.microsoft.com/office/powerpoint/2010/main" val="181391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DK" dirty="0"/>
              <a:t>F</a:t>
            </a:r>
            <a:r>
              <a:rPr lang="en-GB" dirty="0"/>
              <a:t>o</a:t>
            </a:r>
            <a:r>
              <a:rPr lang="en-DK" dirty="0"/>
              <a:t>r metabolomics we are integrationg in our structure metaboigniter which is based on OpenMS tools</a:t>
            </a:r>
          </a:p>
          <a:p>
            <a:endParaRPr lang="en-DK" dirty="0"/>
          </a:p>
          <a:p>
            <a:r>
              <a:rPr lang="en-DK" dirty="0"/>
              <a:t>What the pipeline does.</a:t>
            </a:r>
          </a:p>
          <a:p>
            <a:endParaRPr lang="en-DK" dirty="0"/>
          </a:p>
          <a:p>
            <a:endParaRPr lang="en-DK" dirty="0"/>
          </a:p>
          <a:p>
            <a:endParaRPr lang="en-DK" dirty="0"/>
          </a:p>
        </p:txBody>
      </p:sp>
    </p:spTree>
    <p:extLst>
      <p:ext uri="{BB962C8B-B14F-4D97-AF65-F5344CB8AC3E}">
        <p14:creationId xmlns:p14="http://schemas.microsoft.com/office/powerpoint/2010/main" val="3457171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run the original course one day just keep in mind that </a:t>
            </a:r>
            <a:r>
              <a:rPr lang="en-US" dirty="0" err="1"/>
              <a:t>metaboigniter</a:t>
            </a:r>
            <a:r>
              <a:rPr lang="en-US" dirty="0"/>
              <a:t> is for untargeted </a:t>
            </a:r>
            <a:r>
              <a:rPr lang="en-US" dirty="0" err="1"/>
              <a:t>metabolics</a:t>
            </a:r>
            <a:r>
              <a:rPr lang="en-US" dirty="0"/>
              <a:t>, and in the paper they used targeted MRM metabolomics.</a:t>
            </a:r>
          </a:p>
          <a:p>
            <a:endParaRPr lang="en-US" dirty="0"/>
          </a:p>
          <a:p>
            <a:r>
              <a:rPr lang="en-US" dirty="0"/>
              <a:t>Untargeted and targeted strategies have different acquisition methods and answer different questions. </a:t>
            </a:r>
            <a:br>
              <a:rPr lang="en-US" dirty="0"/>
            </a:br>
            <a:br>
              <a:rPr lang="en-US" dirty="0"/>
            </a:br>
            <a:r>
              <a:rPr lang="en-US" dirty="0"/>
              <a:t>So in the original course they used another untargeted dataset to show how to process the data</a:t>
            </a:r>
          </a:p>
          <a:p>
            <a:endParaRPr lang="en-US" dirty="0"/>
          </a:p>
          <a:p>
            <a:r>
              <a:rPr lang="en-US" dirty="0"/>
              <a:t>Here today, in the repo you have the feature intensities already processed and ready for the multiomics integration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use of public data we should be aware of few traps.</a:t>
            </a:r>
            <a:br>
              <a:rPr lang="en-US" dirty="0"/>
            </a:br>
            <a:br>
              <a:rPr lang="en-US" dirty="0"/>
            </a:br>
            <a:r>
              <a:rPr lang="en-US" dirty="0"/>
              <a:t>Sample names sometimes differ and they need to be </a:t>
            </a:r>
            <a:r>
              <a:rPr lang="en-US" dirty="0" err="1"/>
              <a:t>harmonise</a:t>
            </a:r>
            <a:r>
              <a:rPr lang="en-US" dirty="0"/>
              <a:t> before the analysis</a:t>
            </a:r>
          </a:p>
          <a:p>
            <a:endParaRPr lang="en-US" dirty="0"/>
          </a:p>
          <a:p>
            <a:r>
              <a:rPr lang="en-US" dirty="0"/>
              <a:t>Sometimes the metadata is broken or missing</a:t>
            </a:r>
            <a:br>
              <a:rPr lang="en-US" dirty="0"/>
            </a:br>
            <a:endParaRPr lang="en-US" dirty="0"/>
          </a:p>
          <a:p>
            <a:r>
              <a:rPr lang="en-US" dirty="0"/>
              <a:t>We need to </a:t>
            </a:r>
            <a:r>
              <a:rPr lang="en-US" dirty="0" err="1"/>
              <a:t>rememeber</a:t>
            </a:r>
            <a:r>
              <a:rPr lang="en-US" dirty="0"/>
              <a:t> to remove QC samples, they are not patients!</a:t>
            </a:r>
            <a:br>
              <a:rPr lang="en-US" dirty="0"/>
            </a:br>
            <a:endParaRPr lang="en-US" dirty="0"/>
          </a:p>
          <a:p>
            <a:r>
              <a:rPr lang="en-US" dirty="0"/>
              <a:t>We need to be aware that we should </a:t>
            </a:r>
            <a:r>
              <a:rPr lang="en-US" sz="1200" i="1" dirty="0" err="1">
                <a:solidFill>
                  <a:schemeClr val="accent5"/>
                </a:solidFill>
              </a:rPr>
              <a:t>randomise</a:t>
            </a:r>
            <a:r>
              <a:rPr lang="en-US" sz="1200" i="1" dirty="0">
                <a:solidFill>
                  <a:schemeClr val="accent5"/>
                </a:solidFill>
              </a:rPr>
              <a:t> or interleave injection order — and deposit these orders in the archives together with the samples</a:t>
            </a:r>
            <a:br>
              <a:rPr lang="en-US" dirty="0"/>
            </a:br>
            <a:endParaRPr lang="en-US" dirty="0"/>
          </a:p>
          <a:p>
            <a:r>
              <a:rPr lang="en-US" sz="1200" dirty="0">
                <a:solidFill>
                  <a:schemeClr val="accent6"/>
                </a:solidFill>
              </a:rPr>
              <a:t>In the paper, for Proteomics they injected the samples as in the same order as in the groups, therefore  instrument drift is inseparable from biology; no injection order was communicated for metabolomics.</a:t>
            </a:r>
            <a:r>
              <a:rPr lang="en-US" dirty="0"/>
              <a:t>; keep it in mind when any result looks too good.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 bit about the paper findings for each data type</a:t>
            </a:r>
          </a:p>
          <a:p>
            <a:endParaRPr lang="en-US" dirty="0"/>
          </a:p>
          <a:p>
            <a:r>
              <a:rPr lang="en-US" dirty="0"/>
              <a:t>Keep in mind that the most important contrast is susceptible vs resistant infection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data analysis each decision that you take influences the results.</a:t>
            </a:r>
          </a:p>
          <a:p>
            <a:endParaRPr lang="en-US" dirty="0"/>
          </a:p>
          <a:p>
            <a:r>
              <a:rPr lang="en-US" dirty="0"/>
              <a:t>In Proteomics, they log2 transformed the data, filter proteins out proteins missing in more than 70%, imputed from a </a:t>
            </a:r>
            <a:r>
              <a:rPr lang="en-US" dirty="0" err="1"/>
              <a:t>down+shifted</a:t>
            </a:r>
            <a:r>
              <a:rPr lang="en-US" dirty="0"/>
              <a:t> normal distribution, normalized by the median and tested the differences with ANOVA and </a:t>
            </a:r>
            <a:r>
              <a:rPr lang="en-US" dirty="0" err="1"/>
              <a:t>t+test</a:t>
            </a:r>
            <a:r>
              <a:rPr lang="en-US" dirty="0"/>
              <a:t> and performed an enrichment analysis using KEGG database.</a:t>
            </a:r>
          </a:p>
          <a:p>
            <a:endParaRPr lang="en-US" dirty="0"/>
          </a:p>
          <a:p>
            <a:r>
              <a:rPr lang="en-US" dirty="0"/>
              <a:t>From 1458 proteins considered they found 85 differentially regulated proteins when comparing susceptible vs resistant with 51 proteins increasing ins stepwise con susceptible and resistant. They used a classifier to find a panel of four proteins that can predict the pathogenicity group with an AUC 0.92 and validated in an external cohort.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they run enrichment analysis they found enriched </a:t>
            </a:r>
            <a:r>
              <a:rPr lang="en-US" dirty="0" err="1"/>
              <a:t>viral+infection</a:t>
            </a:r>
            <a:r>
              <a:rPr lang="en-US" dirty="0"/>
              <a:t> related pathways, </a:t>
            </a:r>
            <a:r>
              <a:rPr lang="en-DK" dirty="0"/>
              <a:t>antigen presentation, and phagosome function</a:t>
            </a:r>
            <a:endParaRPr lang="en-US" dirty="0"/>
          </a:p>
          <a:p>
            <a:endParaRPr lang="en-US" dirty="0"/>
          </a:p>
          <a:p>
            <a:endParaRPr lang="en-US" dirty="0"/>
          </a:p>
          <a:p>
            <a:r>
              <a:rPr lang="en-US" dirty="0"/>
              <a:t>The panel AUC comes from a single split chosen on test performance, so read it as optimistic; the PRM validation cohort is the stronger evidence.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viral-infection KEGG terms are generic: they contain the antigen-presentation genes.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metabolomics part again decisions that can affect the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rPr>
              <a:t>They took metabolites measured in ≥ 80 % of patients</a:t>
            </a:r>
            <a:endParaRPr lang="en-US" sz="1200" dirty="0"/>
          </a:p>
          <a:p>
            <a:endParaRPr lang="en-US" dirty="0"/>
          </a:p>
          <a:p>
            <a:r>
              <a:rPr lang="en-US" dirty="0"/>
              <a:t>Different way of filtering the metabolites: CV of the qc samples had to be lower than the CV of patients </a:t>
            </a:r>
            <a:br>
              <a:rPr lang="en-US" dirty="0"/>
            </a:br>
            <a:br>
              <a:rPr lang="en-US" dirty="0"/>
            </a:br>
            <a:r>
              <a:rPr lang="en-US" dirty="0"/>
              <a:t>Technical biological dispersion  &lt; 0.5 </a:t>
            </a:r>
          </a:p>
          <a:p>
            <a:endParaRPr lang="en-US" dirty="0"/>
          </a:p>
          <a:p>
            <a:r>
              <a:rPr lang="en-US" dirty="0"/>
              <a:t>They run an </a:t>
            </a:r>
            <a:r>
              <a:rPr lang="en-US" dirty="0" err="1"/>
              <a:t>ancova</a:t>
            </a:r>
            <a:r>
              <a:rPr lang="en-US" dirty="0"/>
              <a:t> to figure out the effect of the group but here they adjusted for age</a:t>
            </a:r>
          </a:p>
          <a:p>
            <a:endParaRPr lang="en-US" dirty="0"/>
          </a:p>
          <a:p>
            <a:r>
              <a:rPr lang="en-US" dirty="0"/>
              <a:t>For enrichment they used KEGG also</a:t>
            </a:r>
          </a:p>
          <a:p>
            <a:endParaRPr lang="en-US" dirty="0"/>
          </a:p>
          <a:p>
            <a:r>
              <a:rPr lang="en-US" dirty="0"/>
              <a:t>Here they considered 1073 metabolites and found 128 differentially regulated between susceptible and resistant group</a:t>
            </a:r>
          </a:p>
          <a:p>
            <a:endParaRPr lang="en-US" dirty="0"/>
          </a:p>
          <a:p>
            <a:endParaRPr lang="en-US" dirty="0"/>
          </a:p>
          <a:p>
            <a:r>
              <a:rPr lang="en-US" dirty="0"/>
              <a:t>D-ratio = sigma_QC / sigma_biological; near 0 is biology, near 1 is measurement noise. QC CVs were low (median about 0.14) and samples ran in one batch, which reduces but does not remove the drift risk.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they did enrichment analysis they found thermogenesis and </a:t>
            </a:r>
            <a:r>
              <a:rPr lang="en-US" dirty="0" err="1"/>
              <a:t>aminoacid</a:t>
            </a:r>
            <a:r>
              <a:rPr lang="en-US" dirty="0"/>
              <a:t> and fatty acid degradation pathways enriched in resistant group</a:t>
            </a:r>
            <a:br>
              <a:rPr lang="en-US" dirty="0"/>
            </a:br>
            <a:br>
              <a:rPr lang="en-US" dirty="0"/>
            </a:br>
            <a:r>
              <a:rPr lang="en-US" dirty="0"/>
              <a:t>And the most interesting finding was about the methionine cycle. </a:t>
            </a:r>
            <a:r>
              <a:rPr lang="en-US" sz="1200" dirty="0">
                <a:solidFill>
                  <a:schemeClr val="tx2"/>
                </a:solidFill>
              </a:rPr>
              <a:t>Integrated pathway analysis of proteomic and metabolomic data highlighted dysregulation in cysteine/methionine metabolism and the folate-mediated one-carbon pool, with MAT2B as a key connecting protein. Keep that one in mind for later in our integration exercises.</a:t>
            </a:r>
            <a:r>
              <a:rPr lang="en-US" dirty="0"/>
              <a:t> </a:t>
            </a:r>
          </a:p>
          <a:p>
            <a:endParaRPr lang="en-US" dirty="0"/>
          </a:p>
          <a:p>
            <a:r>
              <a:rPr lang="en-US" dirty="0"/>
              <a:t>Bars are numbers of significant compounds per pathway from the paper's supplementary table 8. Pathway hits rest on few compounds; treat them as leads.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before we integrate</a:t>
            </a:r>
          </a:p>
          <a:p>
            <a:endParaRPr lang="en-US" dirty="0"/>
          </a:p>
          <a:p>
            <a:r>
              <a:rPr lang="en-US" dirty="0"/>
              <a:t>Sepsis severity dominates, the largest variance is about how ill a patient is, the resistance effect is probably a small perturbation in the top</a:t>
            </a:r>
          </a:p>
          <a:p>
            <a:endParaRPr lang="en-US" dirty="0"/>
          </a:p>
          <a:p>
            <a:r>
              <a:rPr lang="en-US" dirty="0"/>
              <a:t>Also a results list of proteins and metabolites  is a product of the data plus our data analysis choices</a:t>
            </a:r>
          </a:p>
          <a:p>
            <a:endParaRPr lang="en-US" dirty="0"/>
          </a:p>
          <a:p>
            <a:r>
              <a:rPr lang="en-US" dirty="0"/>
              <a:t>These two points set expectations for the hands-on: our methods will probably not recover the three groups cleanly, and that is a result, not a failure.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chemeClr val="accent5"/>
                </a:solidFill>
              </a:rPr>
              <a:t>So the question for integration is not 'do the groups separate?’ is more 'what structure is shared between layers, and where does a mechanism cross layers?'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few slides about integration and the methods you are going to see in the hands-on</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90d080a095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90d080a095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First of all why is multiomics integration key?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Discover mechanisms that were hidden on single omics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Refine phenotypic subtypes: for example disease severity, disease stages, inflammation profiles….besides our study groups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Find better biomarkers  for across layers mechanisms that improve disease diagnosis, prognosis, </a:t>
            </a:r>
            <a:r>
              <a:rPr lang="en-US" dirty="0" err="1"/>
              <a:t>etc</a:t>
            </a:r>
            <a:r>
              <a:rPr lang="en-US" dirty="0"/>
              <a:t>…</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90d080a095_1_3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are two types of data integration: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 horizontal where we integrate different studies of the same omics</a:t>
            </a:r>
          </a:p>
          <a:p>
            <a:pPr marL="0" lvl="0" indent="0" algn="l" rtl="0">
              <a:spcBef>
                <a:spcPts val="0"/>
              </a:spcBef>
              <a:spcAft>
                <a:spcPts val="0"/>
              </a:spcAft>
              <a:buNone/>
            </a:pPr>
            <a:r>
              <a:rPr lang="en-US" dirty="0"/>
              <a:t>2 vertical where we integrate different omics on the same study (what we have in out integration of today’s workshop)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Both types are tackled with different methods and approaches.</a:t>
            </a:r>
            <a:endParaRPr dirty="0"/>
          </a:p>
        </p:txBody>
      </p:sp>
      <p:sp>
        <p:nvSpPr>
          <p:cNvPr id="90" name="Google Shape;90;g390d080a095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Before integration there is a step 0 very important!</a:t>
            </a:r>
          </a:p>
          <a:p>
            <a:endParaRPr lang="en-US" dirty="0"/>
          </a:p>
          <a:p>
            <a:r>
              <a:rPr lang="en-US" dirty="0"/>
              <a:t>We have </a:t>
            </a:r>
            <a:r>
              <a:rPr lang="en-US" sz="1200" b="1" dirty="0">
                <a:solidFill>
                  <a:schemeClr val="tx1"/>
                </a:solidFill>
                <a:latin typeface="Cambria" pitchFamily="34" charset="0"/>
                <a:ea typeface="Cambria" pitchFamily="34" charset="-122"/>
                <a:cs typeface="Cambria" pitchFamily="34" charset="-120"/>
              </a:rPr>
              <a:t>two physiology views of the same patients</a:t>
            </a:r>
          </a:p>
          <a:p>
            <a:endParaRPr lang="en-US" sz="1200" b="1" dirty="0">
              <a:solidFill>
                <a:schemeClr val="tx1"/>
              </a:solidFill>
              <a:latin typeface="Cambria" pitchFamily="34" charset="0"/>
            </a:endParaRPr>
          </a:p>
          <a:p>
            <a:r>
              <a:rPr lang="en-US" dirty="0"/>
              <a:t>The same recipe needs to be applied symmetrically to both layers for them to be comparable</a:t>
            </a:r>
          </a:p>
          <a:p>
            <a:endParaRPr lang="en-US" dirty="0"/>
          </a:p>
          <a:p>
            <a:r>
              <a:rPr lang="en-US" dirty="0"/>
              <a:t>In both layers we are going to check that the IDs are the same – silent sample mismatches is a common cause of producing no sense results</a:t>
            </a:r>
          </a:p>
          <a:p>
            <a:endParaRPr lang="en-US" dirty="0"/>
          </a:p>
          <a:p>
            <a:r>
              <a:rPr lang="en-US" dirty="0"/>
              <a:t>log2 transform the data so that we can observe changes among high and among low abundant features</a:t>
            </a:r>
          </a:p>
          <a:p>
            <a:endParaRPr lang="en-US" dirty="0"/>
          </a:p>
          <a:p>
            <a:r>
              <a:rPr lang="en-US" dirty="0"/>
              <a:t>we are going to filter out low prevalent features</a:t>
            </a:r>
          </a:p>
          <a:p>
            <a:endParaRPr lang="en-US" dirty="0"/>
          </a:p>
          <a:p>
            <a:r>
              <a:rPr lang="en-US" dirty="0"/>
              <a:t>and impute data with the lowest value for each feature – usually in label free MS studies they consider that inf a value is not observed it is because it is low below limit of detection</a:t>
            </a:r>
          </a:p>
          <a:p>
            <a:endParaRPr lang="en-US" dirty="0"/>
          </a:p>
          <a:p>
            <a:r>
              <a:rPr lang="en-US" dirty="0"/>
              <a:t>and finally we z-score per feature and </a:t>
            </a:r>
            <a:r>
              <a:rPr lang="en-US" sz="1200" dirty="0">
                <a:solidFill>
                  <a:schemeClr val="tx2"/>
                </a:solidFill>
              </a:rPr>
              <a:t>that stops one feature dominating by units and one layer dominating by dynamic range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90d080a095_1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90d080a095_1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First method that you will see is Similarity network fusion</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90d080a095_1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90d080a095_1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 of the switches turning on/off features</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90d080a095_1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90d080a095_1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so now it is your turn to get hands on data integration.</a:t>
            </a:r>
          </a:p>
          <a:p>
            <a:endParaRPr lang="en-US" dirty="0"/>
          </a:p>
          <a:p>
            <a:r>
              <a:rPr lang="en-US" dirty="0"/>
              <a:t>As I said there are two slide decks to read before the hands-on if you want, otherwise you jump directly to the hands on notebook in google </a:t>
            </a:r>
            <a:r>
              <a:rPr lang="en-US" dirty="0" err="1"/>
              <a:t>colab</a:t>
            </a:r>
            <a:r>
              <a:rPr lang="en-US" dirty="0"/>
              <a:t>. </a:t>
            </a:r>
          </a:p>
          <a:p>
            <a:endParaRPr lang="en-US" dirty="0"/>
          </a:p>
          <a:p>
            <a:r>
              <a:rPr lang="en-US" dirty="0"/>
              <a:t>Both notebooks are self-contained: they download the curated tables from the workshop repository on GitHub and need no output from earlier sessions.</a:t>
            </a:r>
          </a:p>
          <a:p>
            <a:endParaRPr lang="en-US" dirty="0"/>
          </a:p>
          <a:p>
            <a:r>
              <a:rPr lang="en-US" dirty="0" err="1"/>
              <a:t>Cytoscape</a:t>
            </a:r>
            <a:r>
              <a:rPr lang="en-US" dirty="0"/>
              <a:t> export is optional; skip it if Cytoscape is not installed.</a:t>
            </a:r>
            <a:br>
              <a:rPr lang="en-US" dirty="0"/>
            </a:br>
            <a:endParaRPr lang="en-US" dirty="0"/>
          </a:p>
          <a:p>
            <a:r>
              <a:rPr lang="en-US" dirty="0"/>
              <a:t>Focus on having a general idea of what we do instead of getting stuck on each single detail. The material is open and you can get back to it later whenever you want to consolidate your understanding.</a:t>
            </a:r>
          </a:p>
          <a:p>
            <a:br>
              <a:rPr lang="en-US" dirty="0"/>
            </a:br>
            <a:r>
              <a:rPr lang="en-US" dirty="0"/>
              <a:t>When there are 5 min left we will wrap up and answer together these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biology: in CRKP sepsis the serum shows antigen-presentation and coagulation changes and, where the layers meet, one-carbon and methionine metabolism. A hypothesis with a specific mechanism and a specific way to be wrong.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DK" dirty="0"/>
          </a:p>
        </p:txBody>
      </p:sp>
    </p:spTree>
    <p:extLst>
      <p:ext uri="{BB962C8B-B14F-4D97-AF65-F5344CB8AC3E}">
        <p14:creationId xmlns:p14="http://schemas.microsoft.com/office/powerpoint/2010/main" val="45070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8686800" cy="17373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a:spLocks noGrp="1"/>
          </p:cNvSpPr>
          <p:nvPr>
            <p:ph type="body" idx="101" hasCustomPrompt="1"/>
          </p:nvPr>
        </p:nvSpPr>
        <p:spPr>
          <a:xfrm>
            <a:off x="548640" y="3703320"/>
            <a:ext cx="8686800" cy="1097280"/>
          </a:xfrm>
          <a:prstGeom prst="rect">
            <a:avLst/>
          </a:prstGeom>
          <a:noFill/>
          <a:ln/>
        </p:spPr>
        <p:txBody>
          <a:bodyPr wrap="square" rtlCol="0"/>
          <a:lstStyle>
            <a:lvl1pPr marL="0" indent="0">
              <a:buNone/>
              <a:defRPr lang="en-US" sz="2000" dirty="0">
                <a:solidFill>
                  <a:schemeClr val="accent6"/>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51760"/>
            <a:ext cx="10515600" cy="109728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r>
              <a:rPr lang="en-US" sz="4000" b="1" dirty="0">
                <a:solidFill>
                  <a:schemeClr val="bg1"/>
                </a:solidFill>
                <a:latin typeface="Cambria" pitchFamily="34" charset="0"/>
                <a:ea typeface="Cambria" pitchFamily="34" charset="-122"/>
                <a:cs typeface="Cambria" pitchFamily="34" charset="-120"/>
              </a:rPr>
              <a:t>Section</a:t>
            </a:r>
            <a:endParaRPr lang="en-US" sz="4000" dirty="0"/>
          </a:p>
        </p:txBody>
      </p:sp>
      <p:sp>
        <p:nvSpPr>
          <p:cNvPr id="3" name="Text 0"/>
          <p:cNvSpPr>
            <a:spLocks noGrp="1"/>
          </p:cNvSpPr>
          <p:nvPr>
            <p:ph type="body" idx="101" hasCustomPrompt="1"/>
          </p:nvPr>
        </p:nvSpPr>
        <p:spPr>
          <a:xfrm>
            <a:off x="548640" y="3794760"/>
            <a:ext cx="10058400" cy="914400"/>
          </a:xfrm>
          <a:prstGeom prst="rect">
            <a:avLst/>
          </a:prstGeom>
          <a:noFill/>
          <a:ln/>
        </p:spPr>
        <p:txBody>
          <a:bodyPr wrap="square" rtlCol="0"/>
          <a:lstStyle>
            <a:lvl1pPr marL="0" indent="0">
              <a:buNone/>
              <a:defRPr lang="en-US" sz="2000" dirty="0">
                <a:solidFill>
                  <a:schemeClr val="accent6"/>
                </a:solidFill>
                <a:latin typeface="Calibri" pitchFamily="34" charset="0"/>
                <a:ea typeface="Calibri" pitchFamily="34" charset="-122"/>
                <a:cs typeface="Calibri" pitchFamily="34" charset="-120"/>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200" b="1" dirty="0">
                <a:solidFill>
                  <a:schemeClr val="tx1"/>
                </a:solidFill>
                <a:latin typeface="Cambria" pitchFamily="34" charset="0"/>
                <a:ea typeface="Cambria" pitchFamily="34" charset="-122"/>
                <a:cs typeface="Cambria" pitchFamily="34" charset="-120"/>
              </a:defRPr>
            </a:lvl1pPr>
          </a:lstStyle>
          <a:p>
            <a:pPr marL="0" indent="0" algn="l">
              <a:buNone/>
            </a:pPr>
            <a:r>
              <a:rPr lang="en-US" sz="3200" b="1" dirty="0">
                <a:solidFill>
                  <a:schemeClr val="tx1"/>
                </a:solidFill>
                <a:latin typeface="Cambria" pitchFamily="34" charset="0"/>
                <a:ea typeface="Cambria" pitchFamily="34" charset="-122"/>
                <a:cs typeface="Cambria" pitchFamily="34" charset="-120"/>
              </a:rPr>
              <a:t>Title</a:t>
            </a: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DBC 2026 · Multi-omics hands-on workshop</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C113D-4D5A-EED1-9BCF-05D1C6A58691}"/>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17F96E88-B82A-5F26-1799-FA6F280BB5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C53F57B3-DA0C-2EA9-38A0-E6CD0A6907AF}"/>
              </a:ext>
            </a:extLst>
          </p:cNvPr>
          <p:cNvSpPr>
            <a:spLocks noGrp="1"/>
          </p:cNvSpPr>
          <p:nvPr>
            <p:ph type="dt" sz="half" idx="10"/>
          </p:nvPr>
        </p:nvSpPr>
        <p:spPr/>
        <p:txBody>
          <a:bodyPr/>
          <a:lstStyle/>
          <a:p>
            <a:fld id="{F6E21658-ACE2-2240-9971-015791891DE6}" type="datetimeFigureOut">
              <a:rPr lang="en-DK" smtClean="0"/>
              <a:t>10/27/26</a:t>
            </a:fld>
            <a:endParaRPr lang="en-DK"/>
          </a:p>
        </p:txBody>
      </p:sp>
      <p:sp>
        <p:nvSpPr>
          <p:cNvPr id="5" name="Footer Placeholder 4">
            <a:extLst>
              <a:ext uri="{FF2B5EF4-FFF2-40B4-BE49-F238E27FC236}">
                <a16:creationId xmlns:a16="http://schemas.microsoft.com/office/drawing/2014/main" id="{E663162F-2105-3C91-BD6D-B67349D66FB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20D9BC24-30F6-2D85-7B85-16633541F1CC}"/>
              </a:ext>
            </a:extLst>
          </p:cNvPr>
          <p:cNvSpPr>
            <a:spLocks noGrp="1"/>
          </p:cNvSpPr>
          <p:nvPr>
            <p:ph type="sldNum" sz="quarter" idx="12"/>
          </p:nvPr>
        </p:nvSpPr>
        <p:spPr/>
        <p:txBody>
          <a:bodyPr/>
          <a:lstStyle/>
          <a:p>
            <a:fld id="{F6785092-C3AA-154E-9BA6-DCC62811D980}" type="slidenum">
              <a:rPr lang="en-DK" smtClean="0"/>
              <a:t>‹#›</a:t>
            </a:fld>
            <a:endParaRPr lang="en-DK"/>
          </a:p>
        </p:txBody>
      </p:sp>
    </p:spTree>
    <p:extLst>
      <p:ext uri="{BB962C8B-B14F-4D97-AF65-F5344CB8AC3E}">
        <p14:creationId xmlns:p14="http://schemas.microsoft.com/office/powerpoint/2010/main" val="153962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 smtClean="0"/>
              <a:pPr algn="r"/>
              <a:t>‹#›</a:t>
            </a:fld>
            <a:endParaRPr lang="es"/>
          </a:p>
        </p:txBody>
      </p:sp>
    </p:spTree>
    <p:extLst>
      <p:ext uri="{BB962C8B-B14F-4D97-AF65-F5344CB8AC3E}">
        <p14:creationId xmlns:p14="http://schemas.microsoft.com/office/powerpoint/2010/main" val="856984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3251" y="539751"/>
            <a:ext cx="10985600" cy="716400"/>
          </a:xfrm>
          <a:prstGeom prst="rect">
            <a:avLst/>
          </a:prstGeom>
          <a:noFill/>
          <a:ln>
            <a:noFill/>
          </a:ln>
        </p:spPr>
        <p:txBody>
          <a:bodyPr spcFirstLastPara="1" wrap="square" lIns="19050" tIns="19050" rIns="19050" bIns="19050" anchor="t" anchorCtr="0">
            <a:normAutofit/>
          </a:bodyPr>
          <a:lstStyle>
            <a:lvl1pPr lvl="0" algn="l">
              <a:lnSpc>
                <a:spcPct val="80000"/>
              </a:lnSpc>
              <a:spcBef>
                <a:spcPts val="0"/>
              </a:spcBef>
              <a:spcAft>
                <a:spcPts val="0"/>
              </a:spcAft>
              <a:buClr>
                <a:srgbClr val="000000"/>
              </a:buClr>
              <a:buSzPts val="3200"/>
              <a:buFont typeface="Helvetica Neue"/>
              <a:buNone/>
              <a:defRPr>
                <a:solidFill>
                  <a:srgbClr val="000000"/>
                </a:solidFill>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a:endParaRPr/>
          </a:p>
        </p:txBody>
      </p:sp>
      <p:sp>
        <p:nvSpPr>
          <p:cNvPr id="52" name="Google Shape;52;p13"/>
          <p:cNvSpPr txBox="1">
            <a:spLocks noGrp="1"/>
          </p:cNvSpPr>
          <p:nvPr>
            <p:ph type="body" idx="1"/>
          </p:nvPr>
        </p:nvSpPr>
        <p:spPr>
          <a:xfrm>
            <a:off x="603251" y="1186481"/>
            <a:ext cx="10985600" cy="467600"/>
          </a:xfrm>
          <a:prstGeom prst="rect">
            <a:avLst/>
          </a:prstGeom>
          <a:noFill/>
          <a:ln>
            <a:noFill/>
          </a:ln>
        </p:spPr>
        <p:txBody>
          <a:bodyPr spcFirstLastPara="1" wrap="square" lIns="17150" tIns="17150" rIns="17150" bIns="17150" anchor="t" anchorCtr="0">
            <a:normAutofit/>
          </a:bodyPr>
          <a:lstStyle>
            <a:lvl1pPr marL="609585" lvl="0" indent="-304792" algn="l">
              <a:lnSpc>
                <a:spcPct val="100000"/>
              </a:lnSpc>
              <a:spcBef>
                <a:spcPts val="0"/>
              </a:spcBef>
              <a:spcAft>
                <a:spcPts val="0"/>
              </a:spcAft>
              <a:buClr>
                <a:srgbClr val="929292"/>
              </a:buClr>
              <a:buSzPts val="2100"/>
              <a:buFont typeface="Helvetica Neue"/>
              <a:buNone/>
              <a:defRPr sz="2800" b="1">
                <a:solidFill>
                  <a:srgbClr val="929292"/>
                </a:solidFill>
              </a:defRPr>
            </a:lvl1pPr>
            <a:lvl2pPr marL="1219170" lvl="1" indent="-372524" algn="l">
              <a:lnSpc>
                <a:spcPct val="90000"/>
              </a:lnSpc>
              <a:spcBef>
                <a:spcPts val="2267"/>
              </a:spcBef>
              <a:spcAft>
                <a:spcPts val="0"/>
              </a:spcAft>
              <a:buClr>
                <a:srgbClr val="000000"/>
              </a:buClr>
              <a:buSzPts val="800"/>
              <a:buChar char="○"/>
              <a:defRPr/>
            </a:lvl2pPr>
            <a:lvl3pPr marL="1828754" lvl="2" indent="-372524" algn="l">
              <a:lnSpc>
                <a:spcPct val="90000"/>
              </a:lnSpc>
              <a:spcBef>
                <a:spcPts val="2267"/>
              </a:spcBef>
              <a:spcAft>
                <a:spcPts val="0"/>
              </a:spcAft>
              <a:buClr>
                <a:srgbClr val="000000"/>
              </a:buClr>
              <a:buSzPts val="800"/>
              <a:buChar char="■"/>
              <a:defRPr/>
            </a:lvl3pPr>
            <a:lvl4pPr marL="2438339" lvl="3" indent="-372524" algn="l">
              <a:lnSpc>
                <a:spcPct val="90000"/>
              </a:lnSpc>
              <a:spcBef>
                <a:spcPts val="2267"/>
              </a:spcBef>
              <a:spcAft>
                <a:spcPts val="0"/>
              </a:spcAft>
              <a:buClr>
                <a:srgbClr val="000000"/>
              </a:buClr>
              <a:buSzPts val="800"/>
              <a:buChar char="●"/>
              <a:defRPr/>
            </a:lvl4pPr>
            <a:lvl5pPr marL="3047924" lvl="4" indent="-372524" algn="l">
              <a:lnSpc>
                <a:spcPct val="90000"/>
              </a:lnSpc>
              <a:spcBef>
                <a:spcPts val="2267"/>
              </a:spcBef>
              <a:spcAft>
                <a:spcPts val="0"/>
              </a:spcAft>
              <a:buClr>
                <a:srgbClr val="000000"/>
              </a:buClr>
              <a:buSzPts val="800"/>
              <a:buChar char="○"/>
              <a:defRPr/>
            </a:lvl5pPr>
            <a:lvl6pPr marL="3657509" lvl="5" indent="-372524" algn="l">
              <a:lnSpc>
                <a:spcPct val="90000"/>
              </a:lnSpc>
              <a:spcBef>
                <a:spcPts val="2267"/>
              </a:spcBef>
              <a:spcAft>
                <a:spcPts val="0"/>
              </a:spcAft>
              <a:buClr>
                <a:srgbClr val="000000"/>
              </a:buClr>
              <a:buSzPts val="800"/>
              <a:buChar char="■"/>
              <a:defRPr/>
            </a:lvl6pPr>
            <a:lvl7pPr marL="4267093" lvl="6" indent="-372524" algn="l">
              <a:lnSpc>
                <a:spcPct val="90000"/>
              </a:lnSpc>
              <a:spcBef>
                <a:spcPts val="2267"/>
              </a:spcBef>
              <a:spcAft>
                <a:spcPts val="0"/>
              </a:spcAft>
              <a:buClr>
                <a:srgbClr val="000000"/>
              </a:buClr>
              <a:buSzPts val="800"/>
              <a:buChar char="●"/>
              <a:defRPr/>
            </a:lvl7pPr>
            <a:lvl8pPr marL="4876678" lvl="7" indent="-372524" algn="l">
              <a:lnSpc>
                <a:spcPct val="90000"/>
              </a:lnSpc>
              <a:spcBef>
                <a:spcPts val="2267"/>
              </a:spcBef>
              <a:spcAft>
                <a:spcPts val="0"/>
              </a:spcAft>
              <a:buClr>
                <a:srgbClr val="000000"/>
              </a:buClr>
              <a:buSzPts val="800"/>
              <a:buChar char="○"/>
              <a:defRPr/>
            </a:lvl8pPr>
            <a:lvl9pPr marL="5486263" lvl="8" indent="-372524" algn="l">
              <a:lnSpc>
                <a:spcPct val="90000"/>
              </a:lnSpc>
              <a:spcBef>
                <a:spcPts val="2267"/>
              </a:spcBef>
              <a:spcAft>
                <a:spcPts val="0"/>
              </a:spcAft>
              <a:buClr>
                <a:srgbClr val="000000"/>
              </a:buClr>
              <a:buSzPts val="800"/>
              <a:buChar char="■"/>
              <a:defRPr/>
            </a:lvl9pPr>
          </a:lstStyle>
          <a:p>
            <a:endParaRPr/>
          </a:p>
        </p:txBody>
      </p:sp>
      <p:sp>
        <p:nvSpPr>
          <p:cNvPr id="53" name="Google Shape;53;p13"/>
          <p:cNvSpPr txBox="1">
            <a:spLocks noGrp="1"/>
          </p:cNvSpPr>
          <p:nvPr>
            <p:ph type="body" idx="2"/>
          </p:nvPr>
        </p:nvSpPr>
        <p:spPr>
          <a:xfrm>
            <a:off x="603251" y="2124252"/>
            <a:ext cx="10985600" cy="4128000"/>
          </a:xfrm>
          <a:prstGeom prst="rect">
            <a:avLst/>
          </a:prstGeom>
          <a:noFill/>
          <a:ln>
            <a:noFill/>
          </a:ln>
        </p:spPr>
        <p:txBody>
          <a:bodyPr spcFirstLastPara="1" wrap="square" lIns="19050" tIns="19050" rIns="19050" bIns="19050" anchor="t" anchorCtr="0">
            <a:normAutofit/>
          </a:bodyPr>
          <a:lstStyle>
            <a:lvl1pPr marL="609585" lvl="0" indent="-372524" algn="l">
              <a:lnSpc>
                <a:spcPct val="90000"/>
              </a:lnSpc>
              <a:spcBef>
                <a:spcPts val="2267"/>
              </a:spcBef>
              <a:spcAft>
                <a:spcPts val="0"/>
              </a:spcAft>
              <a:buClr>
                <a:srgbClr val="000000"/>
              </a:buClr>
              <a:buSzPts val="800"/>
              <a:buChar char="●"/>
              <a:defRPr/>
            </a:lvl1pPr>
            <a:lvl2pPr marL="1219170" lvl="1" indent="-372524" algn="l">
              <a:lnSpc>
                <a:spcPct val="90000"/>
              </a:lnSpc>
              <a:spcBef>
                <a:spcPts val="2267"/>
              </a:spcBef>
              <a:spcAft>
                <a:spcPts val="0"/>
              </a:spcAft>
              <a:buClr>
                <a:srgbClr val="000000"/>
              </a:buClr>
              <a:buSzPts val="800"/>
              <a:buChar char="○"/>
              <a:defRPr/>
            </a:lvl2pPr>
            <a:lvl3pPr marL="1828754" lvl="2" indent="-372524" algn="l">
              <a:lnSpc>
                <a:spcPct val="90000"/>
              </a:lnSpc>
              <a:spcBef>
                <a:spcPts val="2267"/>
              </a:spcBef>
              <a:spcAft>
                <a:spcPts val="0"/>
              </a:spcAft>
              <a:buClr>
                <a:srgbClr val="000000"/>
              </a:buClr>
              <a:buSzPts val="800"/>
              <a:buChar char="■"/>
              <a:defRPr/>
            </a:lvl3pPr>
            <a:lvl4pPr marL="2438339" lvl="3" indent="-372524" algn="l">
              <a:lnSpc>
                <a:spcPct val="90000"/>
              </a:lnSpc>
              <a:spcBef>
                <a:spcPts val="2267"/>
              </a:spcBef>
              <a:spcAft>
                <a:spcPts val="0"/>
              </a:spcAft>
              <a:buClr>
                <a:srgbClr val="000000"/>
              </a:buClr>
              <a:buSzPts val="800"/>
              <a:buChar char="●"/>
              <a:defRPr/>
            </a:lvl4pPr>
            <a:lvl5pPr marL="3047924" lvl="4" indent="-372524" algn="l">
              <a:lnSpc>
                <a:spcPct val="90000"/>
              </a:lnSpc>
              <a:spcBef>
                <a:spcPts val="2267"/>
              </a:spcBef>
              <a:spcAft>
                <a:spcPts val="0"/>
              </a:spcAft>
              <a:buClr>
                <a:srgbClr val="000000"/>
              </a:buClr>
              <a:buSzPts val="800"/>
              <a:buChar char="○"/>
              <a:defRPr/>
            </a:lvl5pPr>
            <a:lvl6pPr marL="3657509" lvl="5" indent="-372524" algn="l">
              <a:lnSpc>
                <a:spcPct val="90000"/>
              </a:lnSpc>
              <a:spcBef>
                <a:spcPts val="2267"/>
              </a:spcBef>
              <a:spcAft>
                <a:spcPts val="0"/>
              </a:spcAft>
              <a:buClr>
                <a:srgbClr val="000000"/>
              </a:buClr>
              <a:buSzPts val="800"/>
              <a:buChar char="■"/>
              <a:defRPr/>
            </a:lvl6pPr>
            <a:lvl7pPr marL="4267093" lvl="6" indent="-372524" algn="l">
              <a:lnSpc>
                <a:spcPct val="90000"/>
              </a:lnSpc>
              <a:spcBef>
                <a:spcPts val="2267"/>
              </a:spcBef>
              <a:spcAft>
                <a:spcPts val="0"/>
              </a:spcAft>
              <a:buClr>
                <a:srgbClr val="000000"/>
              </a:buClr>
              <a:buSzPts val="800"/>
              <a:buChar char="●"/>
              <a:defRPr/>
            </a:lvl7pPr>
            <a:lvl8pPr marL="4876678" lvl="7" indent="-372524" algn="l">
              <a:lnSpc>
                <a:spcPct val="90000"/>
              </a:lnSpc>
              <a:spcBef>
                <a:spcPts val="2267"/>
              </a:spcBef>
              <a:spcAft>
                <a:spcPts val="0"/>
              </a:spcAft>
              <a:buClr>
                <a:srgbClr val="000000"/>
              </a:buClr>
              <a:buSzPts val="800"/>
              <a:buChar char="○"/>
              <a:defRPr/>
            </a:lvl8pPr>
            <a:lvl9pPr marL="5486263" lvl="8" indent="-372524" algn="l">
              <a:lnSpc>
                <a:spcPct val="90000"/>
              </a:lnSpc>
              <a:spcBef>
                <a:spcPts val="2267"/>
              </a:spcBef>
              <a:spcAft>
                <a:spcPts val="0"/>
              </a:spcAft>
              <a:buClr>
                <a:srgbClr val="000000"/>
              </a:buClr>
              <a:buSzPts val="800"/>
              <a:buChar char="■"/>
              <a:defRPr/>
            </a:lvl9pPr>
          </a:lstStyle>
          <a:p>
            <a:endParaRPr/>
          </a:p>
        </p:txBody>
      </p:sp>
      <p:sp>
        <p:nvSpPr>
          <p:cNvPr id="54" name="Google Shape;54;p13"/>
          <p:cNvSpPr txBox="1">
            <a:spLocks noGrp="1"/>
          </p:cNvSpPr>
          <p:nvPr>
            <p:ph type="sldNum" idx="12"/>
          </p:nvPr>
        </p:nvSpPr>
        <p:spPr>
          <a:xfrm>
            <a:off x="6000749" y="6553262"/>
            <a:ext cx="184400" cy="182038"/>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933"/>
            </a:lvl1pPr>
            <a:lvl2pPr marL="0" lvl="1" indent="0" algn="ctr">
              <a:lnSpc>
                <a:spcPct val="100000"/>
              </a:lnSpc>
              <a:spcBef>
                <a:spcPts val="0"/>
              </a:spcBef>
              <a:spcAft>
                <a:spcPts val="0"/>
              </a:spcAft>
              <a:buClr>
                <a:srgbClr val="000000"/>
              </a:buClr>
              <a:buSzPts val="700"/>
              <a:buFont typeface="Helvetica Neue"/>
              <a:buNone/>
              <a:defRPr sz="933"/>
            </a:lvl2pPr>
            <a:lvl3pPr marL="0" lvl="2" indent="0" algn="ctr">
              <a:lnSpc>
                <a:spcPct val="100000"/>
              </a:lnSpc>
              <a:spcBef>
                <a:spcPts val="0"/>
              </a:spcBef>
              <a:spcAft>
                <a:spcPts val="0"/>
              </a:spcAft>
              <a:buClr>
                <a:srgbClr val="000000"/>
              </a:buClr>
              <a:buSzPts val="700"/>
              <a:buFont typeface="Helvetica Neue"/>
              <a:buNone/>
              <a:defRPr sz="933"/>
            </a:lvl3pPr>
            <a:lvl4pPr marL="0" lvl="3" indent="0" algn="ctr">
              <a:lnSpc>
                <a:spcPct val="100000"/>
              </a:lnSpc>
              <a:spcBef>
                <a:spcPts val="0"/>
              </a:spcBef>
              <a:spcAft>
                <a:spcPts val="0"/>
              </a:spcAft>
              <a:buClr>
                <a:srgbClr val="000000"/>
              </a:buClr>
              <a:buSzPts val="700"/>
              <a:buFont typeface="Helvetica Neue"/>
              <a:buNone/>
              <a:defRPr sz="933"/>
            </a:lvl4pPr>
            <a:lvl5pPr marL="0" lvl="4" indent="0" algn="ctr">
              <a:lnSpc>
                <a:spcPct val="100000"/>
              </a:lnSpc>
              <a:spcBef>
                <a:spcPts val="0"/>
              </a:spcBef>
              <a:spcAft>
                <a:spcPts val="0"/>
              </a:spcAft>
              <a:buClr>
                <a:srgbClr val="000000"/>
              </a:buClr>
              <a:buSzPts val="700"/>
              <a:buFont typeface="Helvetica Neue"/>
              <a:buNone/>
              <a:defRPr sz="933"/>
            </a:lvl5pPr>
            <a:lvl6pPr marL="0" lvl="5" indent="0" algn="ctr">
              <a:lnSpc>
                <a:spcPct val="100000"/>
              </a:lnSpc>
              <a:spcBef>
                <a:spcPts val="0"/>
              </a:spcBef>
              <a:spcAft>
                <a:spcPts val="0"/>
              </a:spcAft>
              <a:buClr>
                <a:srgbClr val="000000"/>
              </a:buClr>
              <a:buSzPts val="700"/>
              <a:buFont typeface="Helvetica Neue"/>
              <a:buNone/>
              <a:defRPr sz="933"/>
            </a:lvl6pPr>
            <a:lvl7pPr marL="0" lvl="6" indent="0" algn="ctr">
              <a:lnSpc>
                <a:spcPct val="100000"/>
              </a:lnSpc>
              <a:spcBef>
                <a:spcPts val="0"/>
              </a:spcBef>
              <a:spcAft>
                <a:spcPts val="0"/>
              </a:spcAft>
              <a:buClr>
                <a:srgbClr val="000000"/>
              </a:buClr>
              <a:buSzPts val="700"/>
              <a:buFont typeface="Helvetica Neue"/>
              <a:buNone/>
              <a:defRPr sz="933"/>
            </a:lvl7pPr>
            <a:lvl8pPr marL="0" lvl="7" indent="0" algn="ctr">
              <a:lnSpc>
                <a:spcPct val="100000"/>
              </a:lnSpc>
              <a:spcBef>
                <a:spcPts val="0"/>
              </a:spcBef>
              <a:spcAft>
                <a:spcPts val="0"/>
              </a:spcAft>
              <a:buClr>
                <a:srgbClr val="000000"/>
              </a:buClr>
              <a:buSzPts val="700"/>
              <a:buFont typeface="Helvetica Neue"/>
              <a:buNone/>
              <a:defRPr sz="933"/>
            </a:lvl8pPr>
            <a:lvl9pPr marL="0" lvl="8" indent="0" algn="ctr">
              <a:lnSpc>
                <a:spcPct val="100000"/>
              </a:lnSpc>
              <a:spcBef>
                <a:spcPts val="0"/>
              </a:spcBef>
              <a:spcAft>
                <a:spcPts val="0"/>
              </a:spcAft>
              <a:buClr>
                <a:srgbClr val="000000"/>
              </a:buClr>
              <a:buSzPts val="700"/>
              <a:buFont typeface="Helvetica Neue"/>
              <a:buNone/>
              <a:defRPr sz="933"/>
            </a:lvl9pPr>
          </a:lstStyle>
          <a:p>
            <a:fld id="{00000000-1234-1234-1234-123412341234}" type="slidenum">
              <a:rPr lang="es" smtClean="0"/>
              <a:pPr/>
              <a:t>‹#›</a:t>
            </a:fld>
            <a:endParaRPr lang="es" sz="1333"/>
          </a:p>
        </p:txBody>
      </p:sp>
    </p:spTree>
    <p:extLst>
      <p:ext uri="{BB962C8B-B14F-4D97-AF65-F5344CB8AC3E}">
        <p14:creationId xmlns:p14="http://schemas.microsoft.com/office/powerpoint/2010/main" val="284726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3389/fimmu.2026.1818068"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github.com/biosustain/dsp_multiomics_workshop"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sv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10.jpe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8" Type="http://schemas.openxmlformats.org/officeDocument/2006/relationships/hyperlink" Target="https://msstats.org/" TargetMode="External"/><Relationship Id="rId3" Type="http://schemas.openxmlformats.org/officeDocument/2006/relationships/image" Target="../media/image13.svg"/><Relationship Id="rId7" Type="http://schemas.openxmlformats.org/officeDocument/2006/relationships/hyperlink" Target="https://github.com/bigbio/quantms-containers"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hyperlink" Target="https://github.com/compomics/ThermoRawFileParser" TargetMode="External"/><Relationship Id="rId5" Type="http://schemas.openxmlformats.org/officeDocument/2006/relationships/hyperlink" Target="https://github.com/bigbio/sdrf-pipelines" TargetMode="External"/><Relationship Id="rId4" Type="http://schemas.openxmlformats.org/officeDocument/2006/relationships/hyperlink" Target="https://github.com/bigbio/proteomics-metadata-standard" TargetMode="External"/><Relationship Id="rId9" Type="http://schemas.openxmlformats.org/officeDocument/2006/relationships/hyperlink" Target="https://github.com/bigbio/pmultiqc"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6.jpg"/><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www.nature.com/articles/nmeth.2810"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https://www.embopress.org/doi/full/10.15252/msb.20178124"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hyperlink" Target="https://bmcbioinformatics.biomedcentral.com/articles/10.1186/1471-2105-9-559"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hyperlink" Target="https://tinyurl.com/bddaap8r"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25780" y="1716578"/>
            <a:ext cx="8595360" cy="1737360"/>
          </a:xfrm>
          <a:prstGeom prst="rect">
            <a:avLst/>
          </a:prstGeom>
          <a:noFill/>
          <a:ln/>
        </p:spPr>
        <p:txBody>
          <a:bodyPr wrap="square" rtlCol="0" anchor="b"/>
          <a:lstStyle/>
          <a:p>
            <a:r>
              <a:rPr lang="en-DK" b="0" dirty="0"/>
              <a:t>Biological Complexity: Network-Based Approaches for Multi-Omics Integration</a:t>
            </a:r>
            <a:endParaRPr lang="en-US" sz="4400" dirty="0"/>
          </a:p>
        </p:txBody>
      </p:sp>
      <p:sp>
        <p:nvSpPr>
          <p:cNvPr id="3" name="Text 0"/>
          <p:cNvSpPr>
            <a:spLocks noGrp="1"/>
          </p:cNvSpPr>
          <p:nvPr>
            <p:ph type="body" idx="101" hasCustomPrompt="1"/>
          </p:nvPr>
        </p:nvSpPr>
        <p:spPr>
          <a:xfrm>
            <a:off x="548640" y="3703320"/>
            <a:ext cx="8686800" cy="1097280"/>
          </a:xfrm>
          <a:prstGeom prst="rect">
            <a:avLst/>
          </a:prstGeom>
          <a:noFill/>
          <a:ln/>
        </p:spPr>
        <p:txBody>
          <a:bodyPr wrap="square" rtlCol="0" anchor="t"/>
          <a:lstStyle/>
          <a:p>
            <a:pPr marL="0" indent="0">
              <a:buNone/>
            </a:pPr>
            <a:r>
              <a:rPr lang="en-US" sz="2000" dirty="0">
                <a:solidFill>
                  <a:schemeClr val="accent4">
                    <a:lumMod val="20000"/>
                    <a:lumOff val="80000"/>
                  </a:schemeClr>
                </a:solidFill>
                <a:latin typeface="Calibri" pitchFamily="34" charset="0"/>
                <a:ea typeface="Calibri" pitchFamily="34" charset="-122"/>
                <a:cs typeface="Calibri" pitchFamily="34" charset="-120"/>
              </a:rPr>
              <a:t>Integrating serum proteomics and metabolomics in a sepsis cohort</a:t>
            </a:r>
            <a:endParaRPr lang="en-US" sz="2000" dirty="0">
              <a:solidFill>
                <a:schemeClr val="accent4">
                  <a:lumMod val="20000"/>
                  <a:lumOff val="80000"/>
                </a:schemeClr>
              </a:solidFill>
            </a:endParaRPr>
          </a:p>
          <a:p>
            <a:pPr marL="0" indent="0">
              <a:buNone/>
            </a:pPr>
            <a:r>
              <a:rPr lang="en-US" sz="2000" dirty="0">
                <a:solidFill>
                  <a:schemeClr val="accent4">
                    <a:lumMod val="20000"/>
                    <a:lumOff val="80000"/>
                  </a:schemeClr>
                </a:solidFill>
                <a:latin typeface="Calibri" pitchFamily="34" charset="0"/>
                <a:ea typeface="Calibri" pitchFamily="34" charset="-122"/>
                <a:cs typeface="Calibri" pitchFamily="34" charset="-120"/>
              </a:rPr>
              <a:t>Danish Bioinformatics Conference · Odense · 27–28 October 2026</a:t>
            </a:r>
            <a:endParaRPr lang="en-US" sz="2000" dirty="0">
              <a:solidFill>
                <a:schemeClr val="accent4">
                  <a:lumMod val="20000"/>
                  <a:lumOff val="80000"/>
                </a:schemeClr>
              </a:solidFill>
            </a:endParaRPr>
          </a:p>
        </p:txBody>
      </p:sp>
      <p:sp>
        <p:nvSpPr>
          <p:cNvPr id="4" name="motif edge"/>
          <p:cNvSpPr/>
          <p:nvPr/>
        </p:nvSpPr>
        <p:spPr>
          <a:xfrm>
            <a:off x="9342120" y="3738649"/>
            <a:ext cx="1234440" cy="0"/>
          </a:xfrm>
          <a:prstGeom prst="line">
            <a:avLst/>
          </a:prstGeom>
          <a:noFill/>
          <a:ln w="38100">
            <a:solidFill>
              <a:schemeClr val="accent6"/>
            </a:solidFill>
            <a:prstDash val="solid"/>
          </a:ln>
        </p:spPr>
        <p:txBody>
          <a:bodyPr/>
          <a:lstStyle/>
          <a:p>
            <a:endParaRPr lang="en-DK"/>
          </a:p>
        </p:txBody>
      </p:sp>
      <p:sp>
        <p:nvSpPr>
          <p:cNvPr id="5" name="motif protein"/>
          <p:cNvSpPr/>
          <p:nvPr/>
        </p:nvSpPr>
        <p:spPr>
          <a:xfrm>
            <a:off x="8702040" y="3372889"/>
            <a:ext cx="731520" cy="731520"/>
          </a:xfrm>
          <a:prstGeom prst="roundRect">
            <a:avLst>
              <a:gd name="adj" fmla="val 10000"/>
            </a:avLst>
          </a:prstGeom>
          <a:solidFill>
            <a:schemeClr val="accent1"/>
          </a:solidFill>
          <a:ln/>
        </p:spPr>
        <p:txBody>
          <a:bodyPr/>
          <a:lstStyle/>
          <a:p>
            <a:endParaRPr lang="en-DK"/>
          </a:p>
        </p:txBody>
      </p:sp>
      <p:sp>
        <p:nvSpPr>
          <p:cNvPr id="6" name="motif metabolite"/>
          <p:cNvSpPr/>
          <p:nvPr/>
        </p:nvSpPr>
        <p:spPr>
          <a:xfrm>
            <a:off x="10485120" y="3372889"/>
            <a:ext cx="731520" cy="731520"/>
          </a:xfrm>
          <a:prstGeom prst="ellipse">
            <a:avLst/>
          </a:prstGeom>
          <a:solidFill>
            <a:schemeClr val="accent2"/>
          </a:solidFill>
          <a:ln/>
        </p:spPr>
        <p:txBody>
          <a:bodyPr/>
          <a:lstStyle/>
          <a:p>
            <a:endParaRPr lang="en-DK"/>
          </a:p>
        </p:txBody>
      </p:sp>
      <p:sp>
        <p:nvSpPr>
          <p:cNvPr id="7" name="Text 5"/>
          <p:cNvSpPr txBox="1"/>
          <p:nvPr/>
        </p:nvSpPr>
        <p:spPr>
          <a:xfrm>
            <a:off x="8473440" y="4195849"/>
            <a:ext cx="1188720" cy="274320"/>
          </a:xfrm>
          <a:prstGeom prst="rect">
            <a:avLst/>
          </a:prstGeom>
          <a:noFill/>
          <a:ln/>
        </p:spPr>
        <p:txBody>
          <a:bodyPr wrap="square" lIns="0" tIns="0" rIns="0" bIns="0" rtlCol="0" anchor="t"/>
          <a:lstStyle/>
          <a:p>
            <a:pPr marL="0" indent="0" algn="ctr">
              <a:buNone/>
            </a:pPr>
            <a:r>
              <a:rPr lang="en-US" sz="1200" dirty="0">
                <a:solidFill>
                  <a:schemeClr val="accent4">
                    <a:lumMod val="20000"/>
                    <a:lumOff val="80000"/>
                  </a:schemeClr>
                </a:solidFill>
              </a:rPr>
              <a:t>protein</a:t>
            </a:r>
          </a:p>
        </p:txBody>
      </p:sp>
      <p:sp>
        <p:nvSpPr>
          <p:cNvPr id="8" name="Text 6"/>
          <p:cNvSpPr txBox="1"/>
          <p:nvPr/>
        </p:nvSpPr>
        <p:spPr>
          <a:xfrm>
            <a:off x="10256520" y="4195849"/>
            <a:ext cx="1188720" cy="274320"/>
          </a:xfrm>
          <a:prstGeom prst="rect">
            <a:avLst/>
          </a:prstGeom>
          <a:noFill/>
          <a:ln/>
        </p:spPr>
        <p:txBody>
          <a:bodyPr wrap="square" lIns="0" tIns="0" rIns="0" bIns="0" rtlCol="0" anchor="t"/>
          <a:lstStyle/>
          <a:p>
            <a:pPr marL="0" indent="0" algn="ctr">
              <a:buNone/>
            </a:pPr>
            <a:r>
              <a:rPr lang="en-US" sz="1200" dirty="0">
                <a:solidFill>
                  <a:schemeClr val="accent4">
                    <a:lumMod val="20000"/>
                    <a:lumOff val="80000"/>
                  </a:schemeClr>
                </a:solidFill>
              </a:rPr>
              <a:t>metabolite</a:t>
            </a:r>
          </a:p>
        </p:txBody>
      </p:sp>
      <p:sp>
        <p:nvSpPr>
          <p:cNvPr id="9" name="Text 7"/>
          <p:cNvSpPr txBox="1"/>
          <p:nvPr/>
        </p:nvSpPr>
        <p:spPr>
          <a:xfrm>
            <a:off x="548640" y="6035040"/>
            <a:ext cx="7315200" cy="320040"/>
          </a:xfrm>
          <a:prstGeom prst="rect">
            <a:avLst/>
          </a:prstGeom>
          <a:noFill/>
          <a:ln/>
        </p:spPr>
        <p:txBody>
          <a:bodyPr wrap="square" lIns="0" tIns="0" rIns="0" bIns="0" rtlCol="0" anchor="t"/>
          <a:lstStyle/>
          <a:p>
            <a:pPr marL="0" indent="0">
              <a:buNone/>
            </a:pPr>
            <a:r>
              <a:rPr lang="en-US" sz="1300" dirty="0">
                <a:solidFill>
                  <a:schemeClr val="accent4">
                    <a:lumMod val="20000"/>
                    <a:lumOff val="80000"/>
                  </a:schemeClr>
                </a:solidFill>
              </a:rPr>
              <a:t>Multiomics Analytics Group · DTU Biosustain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The next two hours</a:t>
            </a:r>
            <a:endParaRPr lang="en-US" sz="3200" dirty="0"/>
          </a:p>
        </p:txBody>
      </p:sp>
      <p:sp>
        <p:nvSpPr>
          <p:cNvPr id="3" name="agenda card 1"/>
          <p:cNvSpPr/>
          <p:nvPr/>
        </p:nvSpPr>
        <p:spPr>
          <a:xfrm>
            <a:off x="548640" y="1600200"/>
            <a:ext cx="1696669" cy="3200400"/>
          </a:xfrm>
          <a:prstGeom prst="roundRect">
            <a:avLst>
              <a:gd name="adj" fmla="val 6467"/>
            </a:avLst>
          </a:prstGeom>
          <a:solidFill>
            <a:schemeClr val="bg2"/>
          </a:solidFill>
          <a:ln/>
        </p:spPr>
        <p:txBody>
          <a:bodyPr/>
          <a:lstStyle/>
          <a:p>
            <a:endParaRPr lang="en-DK"/>
          </a:p>
        </p:txBody>
      </p:sp>
      <p:sp>
        <p:nvSpPr>
          <p:cNvPr id="4" name="agenda time 1"/>
          <p:cNvSpPr/>
          <p:nvPr/>
        </p:nvSpPr>
        <p:spPr>
          <a:xfrm>
            <a:off x="731520" y="1783080"/>
            <a:ext cx="1005840" cy="411480"/>
          </a:xfrm>
          <a:prstGeom prst="roundRect">
            <a:avLst>
              <a:gd name="adj" fmla="val 17778"/>
            </a:avLst>
          </a:prstGeom>
          <a:solidFill>
            <a:schemeClr val="tx1"/>
          </a:solidFill>
          <a:ln/>
        </p:spPr>
        <p:txBody>
          <a:bodyPr/>
          <a:lstStyle/>
          <a:p>
            <a:endParaRPr lang="en-DK"/>
          </a:p>
        </p:txBody>
      </p:sp>
      <p:sp>
        <p:nvSpPr>
          <p:cNvPr id="5" name="Text 3"/>
          <p:cNvSpPr txBox="1"/>
          <p:nvPr/>
        </p:nvSpPr>
        <p:spPr>
          <a:xfrm>
            <a:off x="731520" y="1783080"/>
            <a:ext cx="1005840" cy="411480"/>
          </a:xfrm>
          <a:prstGeom prst="rect">
            <a:avLst/>
          </a:prstGeom>
          <a:noFill/>
          <a:ln/>
        </p:spPr>
        <p:txBody>
          <a:bodyPr wrap="square" lIns="0" tIns="0" rIns="0" bIns="0" rtlCol="0" anchor="ctr"/>
          <a:lstStyle/>
          <a:p>
            <a:pPr marL="0" indent="0" algn="ctr">
              <a:buNone/>
            </a:pPr>
            <a:r>
              <a:rPr lang="en-US" sz="1500" b="1" dirty="0">
                <a:solidFill>
                  <a:schemeClr val="bg1"/>
                </a:solidFill>
              </a:rPr>
              <a:t>0:00</a:t>
            </a:r>
            <a:endParaRPr lang="en-US" sz="1500" dirty="0"/>
          </a:p>
        </p:txBody>
      </p:sp>
      <p:sp>
        <p:nvSpPr>
          <p:cNvPr id="6" name="Text 4"/>
          <p:cNvSpPr txBox="1"/>
          <p:nvPr/>
        </p:nvSpPr>
        <p:spPr>
          <a:xfrm>
            <a:off x="731520"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Context</a:t>
            </a:r>
            <a:endParaRPr lang="en-US" sz="1800" dirty="0"/>
          </a:p>
        </p:txBody>
      </p:sp>
      <p:sp>
        <p:nvSpPr>
          <p:cNvPr id="7" name="Text 5"/>
          <p:cNvSpPr txBox="1"/>
          <p:nvPr/>
        </p:nvSpPr>
        <p:spPr>
          <a:xfrm>
            <a:off x="731520"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Dataset, nf-core processing, single-omics results, data integration basics</a:t>
            </a:r>
            <a:endParaRPr lang="en-US" sz="1400" dirty="0"/>
          </a:p>
        </p:txBody>
      </p:sp>
      <p:sp>
        <p:nvSpPr>
          <p:cNvPr id="8" name="agenda card 2"/>
          <p:cNvSpPr/>
          <p:nvPr/>
        </p:nvSpPr>
        <p:spPr>
          <a:xfrm>
            <a:off x="2428189" y="1600200"/>
            <a:ext cx="1696669" cy="3200400"/>
          </a:xfrm>
          <a:prstGeom prst="roundRect">
            <a:avLst>
              <a:gd name="adj" fmla="val 6467"/>
            </a:avLst>
          </a:prstGeom>
          <a:solidFill>
            <a:schemeClr val="bg2"/>
          </a:solidFill>
          <a:ln/>
        </p:spPr>
        <p:txBody>
          <a:bodyPr/>
          <a:lstStyle/>
          <a:p>
            <a:endParaRPr lang="en-DK"/>
          </a:p>
        </p:txBody>
      </p:sp>
      <p:sp>
        <p:nvSpPr>
          <p:cNvPr id="9" name="agenda time 2"/>
          <p:cNvSpPr/>
          <p:nvPr/>
        </p:nvSpPr>
        <p:spPr>
          <a:xfrm>
            <a:off x="2611069" y="1783080"/>
            <a:ext cx="1005840" cy="411480"/>
          </a:xfrm>
          <a:prstGeom prst="roundRect">
            <a:avLst>
              <a:gd name="adj" fmla="val 17778"/>
            </a:avLst>
          </a:prstGeom>
          <a:solidFill>
            <a:schemeClr val="tx2"/>
          </a:solidFill>
          <a:ln/>
        </p:spPr>
        <p:txBody>
          <a:bodyPr/>
          <a:lstStyle/>
          <a:p>
            <a:endParaRPr lang="en-DK"/>
          </a:p>
        </p:txBody>
      </p:sp>
      <p:sp>
        <p:nvSpPr>
          <p:cNvPr id="10" name="Text 8"/>
          <p:cNvSpPr txBox="1"/>
          <p:nvPr/>
        </p:nvSpPr>
        <p:spPr>
          <a:xfrm>
            <a:off x="2611069" y="1783080"/>
            <a:ext cx="1005840" cy="411480"/>
          </a:xfrm>
          <a:prstGeom prst="rect">
            <a:avLst/>
          </a:prstGeom>
          <a:solidFill>
            <a:srgbClr val="2D998B"/>
          </a:solidFill>
          <a:ln/>
        </p:spPr>
        <p:txBody>
          <a:bodyPr wrap="square" lIns="0" tIns="0" rIns="0" bIns="0" rtlCol="0" anchor="ctr"/>
          <a:lstStyle/>
          <a:p>
            <a:pPr marL="0" indent="0" algn="ctr">
              <a:buNone/>
            </a:pPr>
            <a:r>
              <a:rPr lang="en-US" sz="1500" b="1" dirty="0">
                <a:solidFill>
                  <a:schemeClr val="bg1"/>
                </a:solidFill>
              </a:rPr>
              <a:t>0:25</a:t>
            </a:r>
            <a:endParaRPr lang="en-US" sz="1500" dirty="0"/>
          </a:p>
        </p:txBody>
      </p:sp>
      <p:sp>
        <p:nvSpPr>
          <p:cNvPr id="11" name="Text 9"/>
          <p:cNvSpPr txBox="1"/>
          <p:nvPr/>
        </p:nvSpPr>
        <p:spPr>
          <a:xfrm>
            <a:off x="2611069"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Multi-omics</a:t>
            </a:r>
            <a:endParaRPr lang="en-US" sz="1800" dirty="0"/>
          </a:p>
        </p:txBody>
      </p:sp>
      <p:sp>
        <p:nvSpPr>
          <p:cNvPr id="12" name="Text 10"/>
          <p:cNvSpPr txBox="1"/>
          <p:nvPr/>
        </p:nvSpPr>
        <p:spPr>
          <a:xfrm>
            <a:off x="2611069"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Short reading: why and how to integrate multiomics data</a:t>
            </a:r>
            <a:endParaRPr lang="en-US" sz="1400" dirty="0"/>
          </a:p>
        </p:txBody>
      </p:sp>
      <p:sp>
        <p:nvSpPr>
          <p:cNvPr id="13" name="agenda card 3"/>
          <p:cNvSpPr/>
          <p:nvPr/>
        </p:nvSpPr>
        <p:spPr>
          <a:xfrm>
            <a:off x="4307738" y="1600200"/>
            <a:ext cx="1696669" cy="3200400"/>
          </a:xfrm>
          <a:prstGeom prst="roundRect">
            <a:avLst>
              <a:gd name="adj" fmla="val 6467"/>
            </a:avLst>
          </a:prstGeom>
          <a:solidFill>
            <a:schemeClr val="bg2"/>
          </a:solidFill>
          <a:ln/>
        </p:spPr>
        <p:txBody>
          <a:bodyPr/>
          <a:lstStyle/>
          <a:p>
            <a:endParaRPr lang="en-DK"/>
          </a:p>
        </p:txBody>
      </p:sp>
      <p:sp>
        <p:nvSpPr>
          <p:cNvPr id="14" name="agenda time 3"/>
          <p:cNvSpPr/>
          <p:nvPr/>
        </p:nvSpPr>
        <p:spPr>
          <a:xfrm>
            <a:off x="4490618" y="1783080"/>
            <a:ext cx="1005840" cy="411480"/>
          </a:xfrm>
          <a:prstGeom prst="roundRect">
            <a:avLst>
              <a:gd name="adj" fmla="val 17778"/>
            </a:avLst>
          </a:prstGeom>
          <a:solidFill>
            <a:schemeClr val="accent4"/>
          </a:solidFill>
          <a:ln/>
        </p:spPr>
        <p:txBody>
          <a:bodyPr/>
          <a:lstStyle/>
          <a:p>
            <a:endParaRPr lang="en-DK"/>
          </a:p>
        </p:txBody>
      </p:sp>
      <p:sp>
        <p:nvSpPr>
          <p:cNvPr id="15" name="Text 13"/>
          <p:cNvSpPr txBox="1"/>
          <p:nvPr/>
        </p:nvSpPr>
        <p:spPr>
          <a:xfrm>
            <a:off x="4490618" y="1783080"/>
            <a:ext cx="1005840" cy="411480"/>
          </a:xfrm>
          <a:prstGeom prst="rect">
            <a:avLst/>
          </a:prstGeom>
          <a:noFill/>
          <a:ln/>
        </p:spPr>
        <p:txBody>
          <a:bodyPr wrap="square" lIns="0" tIns="0" rIns="0" bIns="0" rtlCol="0" anchor="ctr"/>
          <a:lstStyle/>
          <a:p>
            <a:pPr marL="0" indent="0" algn="ctr">
              <a:buNone/>
            </a:pPr>
            <a:r>
              <a:rPr lang="en-US" sz="1500" b="1" dirty="0">
                <a:solidFill>
                  <a:schemeClr val="bg1"/>
                </a:solidFill>
              </a:rPr>
              <a:t>0:35</a:t>
            </a:r>
            <a:endParaRPr lang="en-US" sz="1500" dirty="0"/>
          </a:p>
        </p:txBody>
      </p:sp>
      <p:sp>
        <p:nvSpPr>
          <p:cNvPr id="16" name="Text 14"/>
          <p:cNvSpPr txBox="1"/>
          <p:nvPr/>
        </p:nvSpPr>
        <p:spPr>
          <a:xfrm>
            <a:off x="4490618"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Hands-on I</a:t>
            </a:r>
            <a:endParaRPr lang="en-US" sz="1800" dirty="0"/>
          </a:p>
        </p:txBody>
      </p:sp>
      <p:sp>
        <p:nvSpPr>
          <p:cNvPr id="17" name="Text 15"/>
          <p:cNvSpPr txBox="1"/>
          <p:nvPr/>
        </p:nvSpPr>
        <p:spPr>
          <a:xfrm>
            <a:off x="4490618"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Data Integration — Similarity Network Fusion (SNF) and Multiomics factor analysis (MOFA)</a:t>
            </a:r>
            <a:endParaRPr lang="en-US" sz="1400" dirty="0"/>
          </a:p>
        </p:txBody>
      </p:sp>
      <p:sp>
        <p:nvSpPr>
          <p:cNvPr id="18" name="agenda card 4"/>
          <p:cNvSpPr/>
          <p:nvPr/>
        </p:nvSpPr>
        <p:spPr>
          <a:xfrm>
            <a:off x="6187288" y="1600200"/>
            <a:ext cx="1696669" cy="3200400"/>
          </a:xfrm>
          <a:prstGeom prst="roundRect">
            <a:avLst>
              <a:gd name="adj" fmla="val 6467"/>
            </a:avLst>
          </a:prstGeom>
          <a:solidFill>
            <a:schemeClr val="bg2"/>
          </a:solidFill>
          <a:ln/>
        </p:spPr>
        <p:txBody>
          <a:bodyPr/>
          <a:lstStyle/>
          <a:p>
            <a:endParaRPr lang="en-DK"/>
          </a:p>
        </p:txBody>
      </p:sp>
      <p:sp>
        <p:nvSpPr>
          <p:cNvPr id="19" name="agenda time 4"/>
          <p:cNvSpPr/>
          <p:nvPr/>
        </p:nvSpPr>
        <p:spPr>
          <a:xfrm>
            <a:off x="6370168" y="1783080"/>
            <a:ext cx="1005840" cy="411480"/>
          </a:xfrm>
          <a:prstGeom prst="roundRect">
            <a:avLst>
              <a:gd name="adj" fmla="val 17778"/>
            </a:avLst>
          </a:prstGeom>
          <a:solidFill>
            <a:schemeClr val="tx2"/>
          </a:solidFill>
          <a:ln/>
        </p:spPr>
        <p:txBody>
          <a:bodyPr/>
          <a:lstStyle/>
          <a:p>
            <a:endParaRPr lang="en-DK"/>
          </a:p>
        </p:txBody>
      </p:sp>
      <p:sp>
        <p:nvSpPr>
          <p:cNvPr id="20" name="Text 18"/>
          <p:cNvSpPr txBox="1"/>
          <p:nvPr/>
        </p:nvSpPr>
        <p:spPr>
          <a:xfrm>
            <a:off x="6370168" y="1783080"/>
            <a:ext cx="1005840" cy="411480"/>
          </a:xfrm>
          <a:prstGeom prst="rect">
            <a:avLst/>
          </a:prstGeom>
          <a:solidFill>
            <a:srgbClr val="2D998B"/>
          </a:solidFill>
          <a:ln/>
        </p:spPr>
        <p:txBody>
          <a:bodyPr wrap="square" lIns="0" tIns="0" rIns="0" bIns="0" rtlCol="0" anchor="ctr"/>
          <a:lstStyle/>
          <a:p>
            <a:pPr marL="0" indent="0" algn="ctr">
              <a:buNone/>
            </a:pPr>
            <a:r>
              <a:rPr lang="en-US" sz="1500" b="1" dirty="0">
                <a:solidFill>
                  <a:schemeClr val="bg1"/>
                </a:solidFill>
              </a:rPr>
              <a:t>1:10</a:t>
            </a:r>
            <a:endParaRPr lang="en-US" sz="1500" dirty="0"/>
          </a:p>
        </p:txBody>
      </p:sp>
      <p:sp>
        <p:nvSpPr>
          <p:cNvPr id="21" name="Text 19"/>
          <p:cNvSpPr txBox="1"/>
          <p:nvPr/>
        </p:nvSpPr>
        <p:spPr>
          <a:xfrm>
            <a:off x="6370168"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Network biology</a:t>
            </a:r>
            <a:endParaRPr lang="en-US" sz="1800" dirty="0"/>
          </a:p>
        </p:txBody>
      </p:sp>
      <p:sp>
        <p:nvSpPr>
          <p:cNvPr id="22" name="Text 20"/>
          <p:cNvSpPr txBox="1"/>
          <p:nvPr/>
        </p:nvSpPr>
        <p:spPr>
          <a:xfrm>
            <a:off x="6370168"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Short reading: graphs, nodes, edges, hubs, modules</a:t>
            </a:r>
            <a:endParaRPr lang="en-US" sz="1400" dirty="0"/>
          </a:p>
        </p:txBody>
      </p:sp>
      <p:sp>
        <p:nvSpPr>
          <p:cNvPr id="23" name="agenda card 5"/>
          <p:cNvSpPr/>
          <p:nvPr/>
        </p:nvSpPr>
        <p:spPr>
          <a:xfrm>
            <a:off x="8066837" y="1600200"/>
            <a:ext cx="1696669" cy="3200400"/>
          </a:xfrm>
          <a:prstGeom prst="roundRect">
            <a:avLst>
              <a:gd name="adj" fmla="val 6467"/>
            </a:avLst>
          </a:prstGeom>
          <a:solidFill>
            <a:schemeClr val="bg2"/>
          </a:solidFill>
          <a:ln/>
        </p:spPr>
        <p:txBody>
          <a:bodyPr/>
          <a:lstStyle/>
          <a:p>
            <a:endParaRPr lang="en-DK"/>
          </a:p>
        </p:txBody>
      </p:sp>
      <p:sp>
        <p:nvSpPr>
          <p:cNvPr id="24" name="agenda time 5"/>
          <p:cNvSpPr/>
          <p:nvPr/>
        </p:nvSpPr>
        <p:spPr>
          <a:xfrm>
            <a:off x="8249717" y="1783080"/>
            <a:ext cx="1005840" cy="411480"/>
          </a:xfrm>
          <a:prstGeom prst="roundRect">
            <a:avLst>
              <a:gd name="adj" fmla="val 17778"/>
            </a:avLst>
          </a:prstGeom>
          <a:solidFill>
            <a:schemeClr val="accent4"/>
          </a:solidFill>
          <a:ln/>
        </p:spPr>
        <p:txBody>
          <a:bodyPr/>
          <a:lstStyle/>
          <a:p>
            <a:endParaRPr lang="en-DK"/>
          </a:p>
        </p:txBody>
      </p:sp>
      <p:sp>
        <p:nvSpPr>
          <p:cNvPr id="25" name="Text 23"/>
          <p:cNvSpPr txBox="1"/>
          <p:nvPr/>
        </p:nvSpPr>
        <p:spPr>
          <a:xfrm>
            <a:off x="8249717" y="1783080"/>
            <a:ext cx="1005840" cy="411480"/>
          </a:xfrm>
          <a:prstGeom prst="rect">
            <a:avLst/>
          </a:prstGeom>
          <a:noFill/>
          <a:ln/>
        </p:spPr>
        <p:txBody>
          <a:bodyPr wrap="square" lIns="0" tIns="0" rIns="0" bIns="0" rtlCol="0" anchor="ctr"/>
          <a:lstStyle/>
          <a:p>
            <a:pPr marL="0" indent="0" algn="ctr">
              <a:buNone/>
            </a:pPr>
            <a:r>
              <a:rPr lang="en-US" sz="1500" b="1" dirty="0">
                <a:solidFill>
                  <a:schemeClr val="bg1"/>
                </a:solidFill>
              </a:rPr>
              <a:t>1:20</a:t>
            </a:r>
            <a:endParaRPr lang="en-US" sz="1500" dirty="0"/>
          </a:p>
        </p:txBody>
      </p:sp>
      <p:sp>
        <p:nvSpPr>
          <p:cNvPr id="26" name="Text 24"/>
          <p:cNvSpPr txBox="1"/>
          <p:nvPr/>
        </p:nvSpPr>
        <p:spPr>
          <a:xfrm>
            <a:off x="8249717"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Hands-on II</a:t>
            </a:r>
            <a:endParaRPr lang="en-US" sz="1800" dirty="0"/>
          </a:p>
        </p:txBody>
      </p:sp>
      <p:sp>
        <p:nvSpPr>
          <p:cNvPr id="27" name="Text 25"/>
          <p:cNvSpPr txBox="1"/>
          <p:nvPr/>
        </p:nvSpPr>
        <p:spPr>
          <a:xfrm>
            <a:off x="8249717"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Networks, joint pathways, the methionine cycle</a:t>
            </a:r>
            <a:endParaRPr lang="en-US" sz="1400" dirty="0"/>
          </a:p>
        </p:txBody>
      </p:sp>
      <p:sp>
        <p:nvSpPr>
          <p:cNvPr id="28" name="agenda card 6"/>
          <p:cNvSpPr/>
          <p:nvPr/>
        </p:nvSpPr>
        <p:spPr>
          <a:xfrm>
            <a:off x="9946386" y="1600200"/>
            <a:ext cx="1696669" cy="3200400"/>
          </a:xfrm>
          <a:prstGeom prst="roundRect">
            <a:avLst>
              <a:gd name="adj" fmla="val 6467"/>
            </a:avLst>
          </a:prstGeom>
          <a:solidFill>
            <a:schemeClr val="bg2"/>
          </a:solidFill>
          <a:ln/>
        </p:spPr>
        <p:txBody>
          <a:bodyPr/>
          <a:lstStyle/>
          <a:p>
            <a:endParaRPr lang="en-DK"/>
          </a:p>
        </p:txBody>
      </p:sp>
      <p:sp>
        <p:nvSpPr>
          <p:cNvPr id="29" name="agenda time 6"/>
          <p:cNvSpPr/>
          <p:nvPr/>
        </p:nvSpPr>
        <p:spPr>
          <a:xfrm>
            <a:off x="10129266" y="1783080"/>
            <a:ext cx="1005840" cy="411480"/>
          </a:xfrm>
          <a:prstGeom prst="roundRect">
            <a:avLst>
              <a:gd name="adj" fmla="val 17778"/>
            </a:avLst>
          </a:prstGeom>
          <a:solidFill>
            <a:schemeClr val="tx1"/>
          </a:solidFill>
          <a:ln/>
        </p:spPr>
        <p:txBody>
          <a:bodyPr/>
          <a:lstStyle/>
          <a:p>
            <a:endParaRPr lang="en-DK"/>
          </a:p>
        </p:txBody>
      </p:sp>
      <p:sp>
        <p:nvSpPr>
          <p:cNvPr id="30" name="Text 28"/>
          <p:cNvSpPr txBox="1"/>
          <p:nvPr/>
        </p:nvSpPr>
        <p:spPr>
          <a:xfrm>
            <a:off x="10129266" y="1783080"/>
            <a:ext cx="1005840" cy="411480"/>
          </a:xfrm>
          <a:prstGeom prst="rect">
            <a:avLst/>
          </a:prstGeom>
          <a:noFill/>
          <a:ln/>
        </p:spPr>
        <p:txBody>
          <a:bodyPr wrap="square" lIns="0" tIns="0" rIns="0" bIns="0" rtlCol="0" anchor="ctr"/>
          <a:lstStyle/>
          <a:p>
            <a:pPr marL="0" indent="0" algn="ctr">
              <a:buNone/>
            </a:pPr>
            <a:r>
              <a:rPr lang="en-US" sz="1500" b="1" dirty="0">
                <a:solidFill>
                  <a:schemeClr val="bg1"/>
                </a:solidFill>
              </a:rPr>
              <a:t>1:55</a:t>
            </a:r>
            <a:endParaRPr lang="en-US" sz="1500" dirty="0"/>
          </a:p>
        </p:txBody>
      </p:sp>
      <p:sp>
        <p:nvSpPr>
          <p:cNvPr id="31" name="Text 29"/>
          <p:cNvSpPr txBox="1"/>
          <p:nvPr/>
        </p:nvSpPr>
        <p:spPr>
          <a:xfrm>
            <a:off x="10129266" y="2423160"/>
            <a:ext cx="1330909" cy="73152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Wrap-up</a:t>
            </a:r>
            <a:endParaRPr lang="en-US" sz="1800" dirty="0"/>
          </a:p>
        </p:txBody>
      </p:sp>
      <p:sp>
        <p:nvSpPr>
          <p:cNvPr id="32" name="Text 30"/>
          <p:cNvSpPr txBox="1"/>
          <p:nvPr/>
        </p:nvSpPr>
        <p:spPr>
          <a:xfrm>
            <a:off x="10129266" y="3200400"/>
            <a:ext cx="1330909" cy="1463040"/>
          </a:xfrm>
          <a:prstGeom prst="rect">
            <a:avLst/>
          </a:prstGeom>
          <a:noFill/>
          <a:ln/>
        </p:spPr>
        <p:txBody>
          <a:bodyPr wrap="square" lIns="0" tIns="0" rIns="0" bIns="0" rtlCol="0" anchor="t"/>
          <a:lstStyle/>
          <a:p>
            <a:pPr marL="0" indent="0">
              <a:buNone/>
            </a:pPr>
            <a:r>
              <a:rPr lang="en-US" sz="1400" dirty="0">
                <a:solidFill>
                  <a:schemeClr val="tx2"/>
                </a:solidFill>
              </a:rPr>
              <a:t>Conclusions</a:t>
            </a:r>
            <a:endParaRPr lang="en-US" sz="1400" dirty="0"/>
          </a:p>
        </p:txBody>
      </p:sp>
      <p:sp>
        <p:nvSpPr>
          <p:cNvPr id="33" name="Text 31"/>
          <p:cNvSpPr txBox="1"/>
          <p:nvPr/>
        </p:nvSpPr>
        <p:spPr>
          <a:xfrm>
            <a:off x="2336748" y="5303520"/>
            <a:ext cx="7518197" cy="365760"/>
          </a:xfrm>
          <a:prstGeom prst="rect">
            <a:avLst/>
          </a:prstGeom>
          <a:noFill/>
          <a:ln/>
        </p:spPr>
        <p:txBody>
          <a:bodyPr wrap="square" lIns="0" tIns="0" rIns="0" bIns="0" rtlCol="0" anchor="t"/>
          <a:lstStyle/>
          <a:p>
            <a:pPr marL="0" indent="0">
              <a:buNone/>
            </a:pPr>
            <a:r>
              <a:rPr lang="en-US" sz="1400" i="1" dirty="0">
                <a:solidFill>
                  <a:schemeClr val="accent5"/>
                </a:solidFill>
              </a:rPr>
              <a:t>Hands-on blocks are highlighted in green — about 95 of the 120 minutes are for you to read some theory at your own tempo and to get hands-on the data integration.</a:t>
            </a:r>
            <a:endParaRPr lang="en-US" sz="1400" dirty="0"/>
          </a:p>
        </p:txBody>
      </p:sp>
      <p:sp>
        <p:nvSpPr>
          <p:cNvPr id="34"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35" name="TextBox 34">
            <a:extLst>
              <a:ext uri="{FF2B5EF4-FFF2-40B4-BE49-F238E27FC236}">
                <a16:creationId xmlns:a16="http://schemas.microsoft.com/office/drawing/2014/main" id="{3B07102F-3F08-3C7B-B35F-42648E0FD56C}"/>
              </a:ext>
            </a:extLst>
          </p:cNvPr>
          <p:cNvSpPr txBox="1"/>
          <p:nvPr/>
        </p:nvSpPr>
        <p:spPr>
          <a:xfrm>
            <a:off x="4773098" y="4492823"/>
            <a:ext cx="1231309" cy="307777"/>
          </a:xfrm>
          <a:prstGeom prst="rect">
            <a:avLst/>
          </a:prstGeom>
          <a:noFill/>
        </p:spPr>
        <p:txBody>
          <a:bodyPr wrap="square" rtlCol="0">
            <a:spAutoFit/>
          </a:bodyPr>
          <a:lstStyle/>
          <a:p>
            <a:r>
              <a:rPr lang="en-DK" sz="1400" dirty="0">
                <a:solidFill>
                  <a:srgbClr val="FF0000"/>
                </a:solidFill>
              </a:rPr>
              <a:t>(Colab)</a:t>
            </a:r>
          </a:p>
        </p:txBody>
      </p:sp>
      <p:sp>
        <p:nvSpPr>
          <p:cNvPr id="36" name="TextBox 35">
            <a:extLst>
              <a:ext uri="{FF2B5EF4-FFF2-40B4-BE49-F238E27FC236}">
                <a16:creationId xmlns:a16="http://schemas.microsoft.com/office/drawing/2014/main" id="{AB373FF4-B174-DBC6-DC74-DEE44EB7BC67}"/>
              </a:ext>
            </a:extLst>
          </p:cNvPr>
          <p:cNvSpPr txBox="1"/>
          <p:nvPr/>
        </p:nvSpPr>
        <p:spPr>
          <a:xfrm>
            <a:off x="8532197" y="4492822"/>
            <a:ext cx="1231309" cy="307777"/>
          </a:xfrm>
          <a:prstGeom prst="rect">
            <a:avLst/>
          </a:prstGeom>
          <a:noFill/>
        </p:spPr>
        <p:txBody>
          <a:bodyPr wrap="square" rtlCol="0">
            <a:spAutoFit/>
          </a:bodyPr>
          <a:lstStyle/>
          <a:p>
            <a:r>
              <a:rPr lang="en-DK" sz="1400" dirty="0">
                <a:solidFill>
                  <a:srgbClr val="FF0000"/>
                </a:solidFill>
              </a:rPr>
              <a:t>(Colab)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51760"/>
            <a:ext cx="10515600" cy="109728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1  ·  One cohort, data from two instruments</a:t>
            </a:r>
            <a:endParaRPr lang="en-US" sz="4000" dirty="0"/>
          </a:p>
        </p:txBody>
      </p:sp>
      <p:sp>
        <p:nvSpPr>
          <p:cNvPr id="3" name="Text 0"/>
          <p:cNvSpPr>
            <a:spLocks noGrp="1"/>
          </p:cNvSpPr>
          <p:nvPr>
            <p:ph type="body" idx="101" hasCustomPrompt="1"/>
          </p:nvPr>
        </p:nvSpPr>
        <p:spPr>
          <a:xfrm>
            <a:off x="1127455" y="3757353"/>
            <a:ext cx="10058400" cy="914400"/>
          </a:xfrm>
          <a:prstGeom prst="rect">
            <a:avLst/>
          </a:prstGeom>
          <a:noFill/>
          <a:ln/>
        </p:spPr>
        <p:txBody>
          <a:bodyPr wrap="square" rtlCol="0" anchor="t"/>
          <a:lstStyle/>
          <a:p>
            <a:r>
              <a:rPr lang="en-DK" b="1" dirty="0"/>
              <a:t>He J, Luo S, Xu W, Chen Y, Liu G, Tang J, Yang Y, Zhao B, Ma L, Sheng H, Mao E.</a:t>
            </a:r>
            <a:r>
              <a:rPr lang="en-DK" dirty="0"/>
              <a:t> </a:t>
            </a:r>
            <a:r>
              <a:rPr lang="en-DK" i="1" dirty="0"/>
              <a:t>Serum proteomic profiling of sepsis patients reveals a protein-based diagnostic model, with metabolomic insights into carbapenem-resistant Klebsiella pneumoniae infection.</a:t>
            </a:r>
            <a:r>
              <a:rPr lang="en-DK" dirty="0"/>
              <a:t> </a:t>
            </a:r>
            <a:r>
              <a:rPr lang="en-DK" b="1" dirty="0"/>
              <a:t>Front Immunol. 2026;17:1818068.</a:t>
            </a:r>
            <a:r>
              <a:rPr lang="en-DK" dirty="0"/>
              <a:t> </a:t>
            </a:r>
            <a:r>
              <a:rPr lang="en-DK" u="sng" dirty="0">
                <a:hlinkClick r:id="rId3"/>
              </a:rPr>
              <a:t>doi:10.3389/fimmu.2026.1818068</a:t>
            </a:r>
            <a:r>
              <a:rPr lang="en-DK" dirty="0"/>
              <a:t> · open access, CC BY 4.0</a:t>
            </a: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70255" y="502920"/>
            <a:ext cx="1097280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The clinical question: can serum profiles tell a resistant from a susceptible Klebsiella pneumoniae  infection on day 0 (time of sepsis diagnosis)?</a:t>
            </a:r>
            <a:endParaRPr lang="en-US" sz="3200" dirty="0"/>
          </a:p>
        </p:txBody>
      </p:sp>
      <p:sp>
        <p:nvSpPr>
          <p:cNvPr id="3" name="stat card 1"/>
          <p:cNvSpPr/>
          <p:nvPr/>
        </p:nvSpPr>
        <p:spPr>
          <a:xfrm>
            <a:off x="548945" y="2423160"/>
            <a:ext cx="3474720" cy="3291840"/>
          </a:xfrm>
          <a:prstGeom prst="roundRect">
            <a:avLst>
              <a:gd name="adj" fmla="val 3333"/>
            </a:avLst>
          </a:prstGeom>
          <a:solidFill>
            <a:schemeClr val="bg1">
              <a:lumMod val="95000"/>
            </a:schemeClr>
          </a:solidFill>
          <a:ln/>
          <a:effectLst>
            <a:outerShdw blurRad="76200" dist="25400" dir="5400000" algn="bl" rotWithShape="0">
              <a:srgbClr val="8A96A8">
                <a:alpha val="25000"/>
              </a:srgbClr>
            </a:outerShdw>
          </a:effectLst>
        </p:spPr>
        <p:txBody>
          <a:bodyPr/>
          <a:lstStyle/>
          <a:p>
            <a:endParaRPr lang="en-DK"/>
          </a:p>
        </p:txBody>
      </p:sp>
      <p:sp>
        <p:nvSpPr>
          <p:cNvPr id="4" name="Text 2"/>
          <p:cNvSpPr txBox="1"/>
          <p:nvPr/>
        </p:nvSpPr>
        <p:spPr>
          <a:xfrm>
            <a:off x="823265" y="2651760"/>
            <a:ext cx="3200400" cy="1005840"/>
          </a:xfrm>
          <a:prstGeom prst="rect">
            <a:avLst/>
          </a:prstGeom>
          <a:noFill/>
          <a:ln/>
        </p:spPr>
        <p:txBody>
          <a:bodyPr wrap="square" lIns="0" tIns="0" rIns="0" bIns="0" rtlCol="0" anchor="t"/>
          <a:lstStyle/>
          <a:p>
            <a:pPr marL="0" indent="0">
              <a:buNone/>
            </a:pPr>
            <a:r>
              <a:rPr lang="en-US" sz="5400" b="1" dirty="0">
                <a:solidFill>
                  <a:schemeClr val="accent3"/>
                </a:solidFill>
                <a:latin typeface="Cambria" pitchFamily="34" charset="0"/>
                <a:ea typeface="Cambria" pitchFamily="34" charset="-122"/>
                <a:cs typeface="Cambria" pitchFamily="34" charset="-120"/>
              </a:rPr>
              <a:t>20–&gt;40 %</a:t>
            </a:r>
            <a:endParaRPr lang="en-US" sz="5400" dirty="0"/>
          </a:p>
        </p:txBody>
      </p:sp>
      <p:sp>
        <p:nvSpPr>
          <p:cNvPr id="5" name="Text 3"/>
          <p:cNvSpPr txBox="1"/>
          <p:nvPr/>
        </p:nvSpPr>
        <p:spPr>
          <a:xfrm>
            <a:off x="823265" y="3794760"/>
            <a:ext cx="2926080" cy="1737360"/>
          </a:xfrm>
          <a:prstGeom prst="rect">
            <a:avLst/>
          </a:prstGeom>
          <a:noFill/>
          <a:ln/>
        </p:spPr>
        <p:txBody>
          <a:bodyPr wrap="square" lIns="0" tIns="0" rIns="0" bIns="0" rtlCol="0" anchor="t"/>
          <a:lstStyle/>
          <a:p>
            <a:pPr marL="0" indent="0">
              <a:buNone/>
            </a:pPr>
            <a:r>
              <a:rPr lang="en-US" sz="1600" dirty="0">
                <a:solidFill>
                  <a:schemeClr val="tx2"/>
                </a:solidFill>
              </a:rPr>
              <a:t>mortality of carbapenem-resistant K. pneumoniae (CRKP) sepsis — about twice that of carbapenem susceptible strains</a:t>
            </a:r>
            <a:endParaRPr lang="en-US" sz="1600" dirty="0"/>
          </a:p>
        </p:txBody>
      </p:sp>
      <p:sp>
        <p:nvSpPr>
          <p:cNvPr id="6" name="stat card 2"/>
          <p:cNvSpPr/>
          <p:nvPr/>
        </p:nvSpPr>
        <p:spPr>
          <a:xfrm>
            <a:off x="4297985" y="2423160"/>
            <a:ext cx="3474720" cy="3291840"/>
          </a:xfrm>
          <a:prstGeom prst="roundRect">
            <a:avLst>
              <a:gd name="adj" fmla="val 3333"/>
            </a:avLst>
          </a:prstGeom>
          <a:solidFill>
            <a:schemeClr val="bg1">
              <a:lumMod val="95000"/>
            </a:schemeClr>
          </a:solidFill>
          <a:ln/>
          <a:effectLst>
            <a:outerShdw blurRad="76200" dist="25400" dir="5400000" algn="bl" rotWithShape="0">
              <a:srgbClr val="8A96A8">
                <a:alpha val="25000"/>
              </a:srgbClr>
            </a:outerShdw>
          </a:effectLst>
        </p:spPr>
        <p:txBody>
          <a:bodyPr/>
          <a:lstStyle/>
          <a:p>
            <a:endParaRPr lang="en-DK"/>
          </a:p>
        </p:txBody>
      </p:sp>
      <p:sp>
        <p:nvSpPr>
          <p:cNvPr id="7" name="Text 5"/>
          <p:cNvSpPr txBox="1"/>
          <p:nvPr/>
        </p:nvSpPr>
        <p:spPr>
          <a:xfrm>
            <a:off x="4572305" y="2651760"/>
            <a:ext cx="2926080" cy="100584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1–3 days</a:t>
            </a:r>
            <a:endParaRPr lang="en-US" sz="5400" dirty="0"/>
          </a:p>
        </p:txBody>
      </p:sp>
      <p:sp>
        <p:nvSpPr>
          <p:cNvPr id="8" name="Text 6"/>
          <p:cNvSpPr txBox="1"/>
          <p:nvPr/>
        </p:nvSpPr>
        <p:spPr>
          <a:xfrm>
            <a:off x="4572305" y="3794760"/>
            <a:ext cx="2926080" cy="1737360"/>
          </a:xfrm>
          <a:prstGeom prst="rect">
            <a:avLst/>
          </a:prstGeom>
          <a:noFill/>
          <a:ln/>
        </p:spPr>
        <p:txBody>
          <a:bodyPr wrap="square" lIns="0" tIns="0" rIns="0" bIns="0" rtlCol="0" anchor="t"/>
          <a:lstStyle/>
          <a:p>
            <a:pPr marL="0" indent="0">
              <a:buNone/>
            </a:pPr>
            <a:r>
              <a:rPr lang="en-US" sz="1600" dirty="0">
                <a:solidFill>
                  <a:schemeClr val="tx2"/>
                </a:solidFill>
              </a:rPr>
              <a:t>for blood culture and susceptibility testing — treatment cannot wait that long </a:t>
            </a:r>
            <a:endParaRPr lang="en-US" sz="1600" dirty="0"/>
          </a:p>
        </p:txBody>
      </p:sp>
      <p:sp>
        <p:nvSpPr>
          <p:cNvPr id="9" name="stat card 3"/>
          <p:cNvSpPr/>
          <p:nvPr/>
        </p:nvSpPr>
        <p:spPr>
          <a:xfrm>
            <a:off x="8047025" y="2423160"/>
            <a:ext cx="3474720" cy="3291840"/>
          </a:xfrm>
          <a:prstGeom prst="roundRect">
            <a:avLst>
              <a:gd name="adj" fmla="val 3333"/>
            </a:avLst>
          </a:prstGeom>
          <a:solidFill>
            <a:schemeClr val="bg1">
              <a:lumMod val="95000"/>
            </a:schemeClr>
          </a:solidFill>
          <a:ln/>
          <a:effectLst>
            <a:outerShdw blurRad="76200" dist="25400" dir="5400000" algn="bl" rotWithShape="0">
              <a:srgbClr val="8A96A8">
                <a:alpha val="25000"/>
              </a:srgbClr>
            </a:outerShdw>
          </a:effectLst>
        </p:spPr>
        <p:txBody>
          <a:bodyPr/>
          <a:lstStyle/>
          <a:p>
            <a:endParaRPr lang="en-DK"/>
          </a:p>
        </p:txBody>
      </p:sp>
      <p:sp>
        <p:nvSpPr>
          <p:cNvPr id="10" name="Text 8"/>
          <p:cNvSpPr txBox="1"/>
          <p:nvPr/>
        </p:nvSpPr>
        <p:spPr>
          <a:xfrm>
            <a:off x="8321345" y="2651760"/>
            <a:ext cx="2926080" cy="100584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Day 0</a:t>
            </a:r>
            <a:endParaRPr lang="en-US" sz="5400" dirty="0"/>
          </a:p>
        </p:txBody>
      </p:sp>
      <p:sp>
        <p:nvSpPr>
          <p:cNvPr id="11" name="Text 9"/>
          <p:cNvSpPr txBox="1"/>
          <p:nvPr/>
        </p:nvSpPr>
        <p:spPr>
          <a:xfrm>
            <a:off x="8321345" y="3794760"/>
            <a:ext cx="2926080" cy="1737360"/>
          </a:xfrm>
          <a:prstGeom prst="rect">
            <a:avLst/>
          </a:prstGeom>
          <a:noFill/>
          <a:ln/>
        </p:spPr>
        <p:txBody>
          <a:bodyPr wrap="square" lIns="0" tIns="0" rIns="0" bIns="0" rtlCol="0" anchor="t"/>
          <a:lstStyle/>
          <a:p>
            <a:pPr marL="0" indent="0">
              <a:buNone/>
            </a:pPr>
            <a:r>
              <a:rPr lang="en-US" sz="1600" dirty="0">
                <a:solidFill>
                  <a:schemeClr val="tx2"/>
                </a:solidFill>
              </a:rPr>
              <a:t>can the host's own serum molecules tell a resistant from a susceptible infection?</a:t>
            </a:r>
            <a:endParaRPr lang="en-US" sz="1600" dirty="0"/>
          </a:p>
        </p:txBody>
      </p:sp>
      <p:sp>
        <p:nvSpPr>
          <p:cNvPr id="12" name="Text 10"/>
          <p:cNvSpPr txBox="1"/>
          <p:nvPr/>
        </p:nvSpPr>
        <p:spPr>
          <a:xfrm>
            <a:off x="548945" y="6080760"/>
            <a:ext cx="11094415" cy="548640"/>
          </a:xfrm>
          <a:prstGeom prst="rect">
            <a:avLst/>
          </a:prstGeom>
          <a:noFill/>
          <a:ln/>
        </p:spPr>
        <p:txBody>
          <a:bodyPr wrap="square" lIns="0" tIns="0" rIns="0" bIns="0" rtlCol="0" anchor="t"/>
          <a:lstStyle/>
          <a:p>
            <a:pPr marL="0" indent="0">
              <a:buNone/>
            </a:pPr>
            <a:r>
              <a:rPr lang="en-US" sz="1500" i="1" dirty="0">
                <a:solidFill>
                  <a:schemeClr val="accent5"/>
                </a:solidFill>
              </a:rPr>
              <a:t>Carbapenems are antibiotics of last resort. A host-response test would guide empirical therapy before microbiology returns.</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
        <p:nvSpPr>
          <p:cNvPr id="13" name="TextBox 12">
            <a:extLst>
              <a:ext uri="{FF2B5EF4-FFF2-40B4-BE49-F238E27FC236}">
                <a16:creationId xmlns:a16="http://schemas.microsoft.com/office/drawing/2014/main" id="{6FCF298C-20FB-F960-A2D0-9C5322D5DECF}"/>
              </a:ext>
            </a:extLst>
          </p:cNvPr>
          <p:cNvSpPr txBox="1"/>
          <p:nvPr/>
        </p:nvSpPr>
        <p:spPr>
          <a:xfrm>
            <a:off x="670254" y="1855694"/>
            <a:ext cx="9011627" cy="369332"/>
          </a:xfrm>
          <a:prstGeom prst="rect">
            <a:avLst/>
          </a:prstGeom>
          <a:noFill/>
        </p:spPr>
        <p:txBody>
          <a:bodyPr wrap="square" rtlCol="0">
            <a:spAutoFit/>
          </a:bodyPr>
          <a:lstStyle/>
          <a:p>
            <a:r>
              <a:rPr lang="en-US" dirty="0"/>
              <a:t>Sepsis is a dysregulated host response to infection; K. pneumoniae is a common cause of sepsis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45 septic patients, three groups of 15</a:t>
            </a:r>
            <a:endParaRPr lang="en-US" sz="3200" dirty="0"/>
          </a:p>
        </p:txBody>
      </p:sp>
      <p:sp>
        <p:nvSpPr>
          <p:cNvPr id="3" name="group card Con"/>
          <p:cNvSpPr/>
          <p:nvPr/>
        </p:nvSpPr>
        <p:spPr>
          <a:xfrm>
            <a:off x="548640" y="1463040"/>
            <a:ext cx="6035040" cy="1005840"/>
          </a:xfrm>
          <a:prstGeom prst="roundRect">
            <a:avLst>
              <a:gd name="adj" fmla="val 10909"/>
            </a:avLst>
          </a:prstGeom>
          <a:solidFill>
            <a:schemeClr val="bg2"/>
          </a:solidFill>
          <a:ln/>
        </p:spPr>
        <p:txBody>
          <a:bodyPr/>
          <a:lstStyle/>
          <a:p>
            <a:endParaRPr lang="en-DK"/>
          </a:p>
        </p:txBody>
      </p:sp>
      <p:sp>
        <p:nvSpPr>
          <p:cNvPr id="4" name="group Con disc"/>
          <p:cNvSpPr/>
          <p:nvPr/>
        </p:nvSpPr>
        <p:spPr>
          <a:xfrm>
            <a:off x="731520" y="1600200"/>
            <a:ext cx="731520" cy="731520"/>
          </a:xfrm>
          <a:prstGeom prst="ellipse">
            <a:avLst/>
          </a:prstGeom>
          <a:solidFill>
            <a:srgbClr val="4C72B0"/>
          </a:solidFill>
          <a:ln/>
        </p:spPr>
        <p:txBody>
          <a:bodyPr/>
          <a:lstStyle/>
          <a:p>
            <a:endParaRPr lang="en-DK"/>
          </a:p>
        </p:txBody>
      </p:sp>
      <p:pic>
        <p:nvPicPr>
          <p:cNvPr id="5" name="group Con icon" descr="preencoded.png"/>
          <p:cNvPicPr>
            <a:picLocks noChangeAspect="1"/>
          </p:cNvPicPr>
          <p:nvPr/>
        </p:nvPicPr>
        <p:blipFill>
          <a:blip r:embed="rId3"/>
          <a:stretch>
            <a:fillRect/>
          </a:stretch>
        </p:blipFill>
        <p:spPr>
          <a:xfrm>
            <a:off x="914400" y="1783080"/>
            <a:ext cx="365760" cy="365760"/>
          </a:xfrm>
          <a:prstGeom prst="rect">
            <a:avLst/>
          </a:prstGeom>
        </p:spPr>
      </p:pic>
      <p:sp>
        <p:nvSpPr>
          <p:cNvPr id="6" name="Text 3"/>
          <p:cNvSpPr txBox="1"/>
          <p:nvPr/>
        </p:nvSpPr>
        <p:spPr>
          <a:xfrm>
            <a:off x="1645920" y="1600200"/>
            <a:ext cx="1280160" cy="731520"/>
          </a:xfrm>
          <a:prstGeom prst="rect">
            <a:avLst/>
          </a:prstGeom>
          <a:noFill/>
          <a:ln/>
        </p:spPr>
        <p:txBody>
          <a:bodyPr wrap="square" lIns="0" tIns="0" rIns="0" bIns="0" rtlCol="0" anchor="ctr"/>
          <a:lstStyle/>
          <a:p>
            <a:pPr marL="0" indent="0">
              <a:buNone/>
            </a:pPr>
            <a:r>
              <a:rPr lang="en-US" sz="2400" b="1" dirty="0">
                <a:solidFill>
                  <a:srgbClr val="4C72B0"/>
                </a:solidFill>
              </a:rPr>
              <a:t>Con</a:t>
            </a:r>
            <a:endParaRPr lang="en-US" sz="2400" dirty="0"/>
          </a:p>
        </p:txBody>
      </p:sp>
      <p:sp>
        <p:nvSpPr>
          <p:cNvPr id="7" name="Text 4"/>
          <p:cNvSpPr txBox="1"/>
          <p:nvPr/>
        </p:nvSpPr>
        <p:spPr>
          <a:xfrm>
            <a:off x="2926080" y="1600200"/>
            <a:ext cx="2627555" cy="731520"/>
          </a:xfrm>
          <a:prstGeom prst="rect">
            <a:avLst/>
          </a:prstGeom>
          <a:noFill/>
          <a:ln/>
        </p:spPr>
        <p:txBody>
          <a:bodyPr wrap="square" lIns="0" tIns="0" rIns="0" bIns="0" rtlCol="0" anchor="ctr"/>
          <a:lstStyle/>
          <a:p>
            <a:pPr marL="0" indent="0">
              <a:buNone/>
            </a:pPr>
            <a:r>
              <a:rPr lang="en-US" sz="1500" dirty="0">
                <a:solidFill>
                  <a:schemeClr val="tx1"/>
                </a:solidFill>
              </a:rPr>
              <a:t>Culture-negative (on all microbiology tests) sepsis</a:t>
            </a:r>
            <a:endParaRPr lang="en-US" sz="1500" dirty="0"/>
          </a:p>
          <a:p>
            <a:pPr marL="0" indent="0">
              <a:buNone/>
            </a:pPr>
            <a:r>
              <a:rPr lang="en-US" sz="1300" dirty="0">
                <a:solidFill>
                  <a:schemeClr val="accent5"/>
                </a:solidFill>
              </a:rPr>
              <a:t>sample IDs Con1 … Con15</a:t>
            </a:r>
            <a:endParaRPr lang="en-US" sz="1500" dirty="0"/>
          </a:p>
        </p:txBody>
      </p:sp>
      <p:sp>
        <p:nvSpPr>
          <p:cNvPr id="8" name="group card CSKP"/>
          <p:cNvSpPr/>
          <p:nvPr/>
        </p:nvSpPr>
        <p:spPr>
          <a:xfrm>
            <a:off x="548640" y="2651760"/>
            <a:ext cx="6035040" cy="1005840"/>
          </a:xfrm>
          <a:prstGeom prst="roundRect">
            <a:avLst>
              <a:gd name="adj" fmla="val 10909"/>
            </a:avLst>
          </a:prstGeom>
          <a:solidFill>
            <a:schemeClr val="bg2"/>
          </a:solidFill>
          <a:ln/>
        </p:spPr>
        <p:txBody>
          <a:bodyPr/>
          <a:lstStyle/>
          <a:p>
            <a:endParaRPr lang="en-DK"/>
          </a:p>
        </p:txBody>
      </p:sp>
      <p:sp>
        <p:nvSpPr>
          <p:cNvPr id="9" name="group CSKP disc"/>
          <p:cNvSpPr/>
          <p:nvPr/>
        </p:nvSpPr>
        <p:spPr>
          <a:xfrm>
            <a:off x="731520" y="2788920"/>
            <a:ext cx="731520" cy="731520"/>
          </a:xfrm>
          <a:prstGeom prst="ellipse">
            <a:avLst/>
          </a:prstGeom>
          <a:solidFill>
            <a:srgbClr val="DD8452"/>
          </a:solidFill>
          <a:ln/>
        </p:spPr>
        <p:txBody>
          <a:bodyPr/>
          <a:lstStyle/>
          <a:p>
            <a:endParaRPr lang="en-DK"/>
          </a:p>
        </p:txBody>
      </p:sp>
      <p:pic>
        <p:nvPicPr>
          <p:cNvPr id="10" name="group CSKP icon" descr="preencoded.png"/>
          <p:cNvPicPr>
            <a:picLocks noChangeAspect="1"/>
          </p:cNvPicPr>
          <p:nvPr/>
        </p:nvPicPr>
        <p:blipFill>
          <a:blip r:embed="rId3"/>
          <a:stretch>
            <a:fillRect/>
          </a:stretch>
        </p:blipFill>
        <p:spPr>
          <a:xfrm>
            <a:off x="914400" y="2971800"/>
            <a:ext cx="365760" cy="365760"/>
          </a:xfrm>
          <a:prstGeom prst="rect">
            <a:avLst/>
          </a:prstGeom>
        </p:spPr>
      </p:pic>
      <p:sp>
        <p:nvSpPr>
          <p:cNvPr id="11" name="Text 7"/>
          <p:cNvSpPr txBox="1"/>
          <p:nvPr/>
        </p:nvSpPr>
        <p:spPr>
          <a:xfrm>
            <a:off x="1645920" y="2788920"/>
            <a:ext cx="1280160" cy="731520"/>
          </a:xfrm>
          <a:prstGeom prst="rect">
            <a:avLst/>
          </a:prstGeom>
          <a:noFill/>
          <a:ln/>
        </p:spPr>
        <p:txBody>
          <a:bodyPr wrap="square" lIns="0" tIns="0" rIns="0" bIns="0" rtlCol="0" anchor="ctr"/>
          <a:lstStyle/>
          <a:p>
            <a:pPr marL="0" indent="0">
              <a:buNone/>
            </a:pPr>
            <a:r>
              <a:rPr lang="en-US" sz="2400" b="1" dirty="0">
                <a:solidFill>
                  <a:srgbClr val="DD8452"/>
                </a:solidFill>
              </a:rPr>
              <a:t>CSKP</a:t>
            </a:r>
            <a:endParaRPr lang="en-US" sz="2400" dirty="0"/>
          </a:p>
        </p:txBody>
      </p:sp>
      <p:sp>
        <p:nvSpPr>
          <p:cNvPr id="12" name="Text 8"/>
          <p:cNvSpPr txBox="1"/>
          <p:nvPr/>
        </p:nvSpPr>
        <p:spPr>
          <a:xfrm>
            <a:off x="2926080" y="2788920"/>
            <a:ext cx="3566160" cy="731520"/>
          </a:xfrm>
          <a:prstGeom prst="rect">
            <a:avLst/>
          </a:prstGeom>
          <a:noFill/>
          <a:ln/>
        </p:spPr>
        <p:txBody>
          <a:bodyPr wrap="square" lIns="0" tIns="0" rIns="0" bIns="0" rtlCol="0" anchor="ctr"/>
          <a:lstStyle/>
          <a:p>
            <a:pPr marL="0" indent="0">
              <a:buNone/>
            </a:pPr>
            <a:r>
              <a:rPr lang="en-US" sz="1500" dirty="0">
                <a:solidFill>
                  <a:schemeClr val="tx1"/>
                </a:solidFill>
              </a:rPr>
              <a:t>Carbapenem-susceptible K. pneumoniae</a:t>
            </a:r>
            <a:endParaRPr lang="en-US" sz="1500" dirty="0"/>
          </a:p>
          <a:p>
            <a:pPr marL="0" indent="0">
              <a:buNone/>
            </a:pPr>
            <a:r>
              <a:rPr lang="en-US" sz="1300" dirty="0">
                <a:solidFill>
                  <a:schemeClr val="accent5"/>
                </a:solidFill>
              </a:rPr>
              <a:t>sample IDs KP1 … KP15</a:t>
            </a:r>
            <a:endParaRPr lang="en-US" sz="1500" dirty="0"/>
          </a:p>
        </p:txBody>
      </p:sp>
      <p:sp>
        <p:nvSpPr>
          <p:cNvPr id="13" name="group card CRKP"/>
          <p:cNvSpPr/>
          <p:nvPr/>
        </p:nvSpPr>
        <p:spPr>
          <a:xfrm>
            <a:off x="548640" y="3840480"/>
            <a:ext cx="6035040" cy="1005840"/>
          </a:xfrm>
          <a:prstGeom prst="roundRect">
            <a:avLst>
              <a:gd name="adj" fmla="val 10909"/>
            </a:avLst>
          </a:prstGeom>
          <a:solidFill>
            <a:schemeClr val="bg2"/>
          </a:solidFill>
          <a:ln/>
        </p:spPr>
        <p:txBody>
          <a:bodyPr/>
          <a:lstStyle/>
          <a:p>
            <a:endParaRPr lang="en-DK"/>
          </a:p>
        </p:txBody>
      </p:sp>
      <p:sp>
        <p:nvSpPr>
          <p:cNvPr id="14" name="group CRKP disc"/>
          <p:cNvSpPr/>
          <p:nvPr/>
        </p:nvSpPr>
        <p:spPr>
          <a:xfrm>
            <a:off x="731520" y="3977640"/>
            <a:ext cx="731520" cy="731520"/>
          </a:xfrm>
          <a:prstGeom prst="ellipse">
            <a:avLst/>
          </a:prstGeom>
          <a:solidFill>
            <a:srgbClr val="C44E52"/>
          </a:solidFill>
          <a:ln/>
        </p:spPr>
        <p:txBody>
          <a:bodyPr/>
          <a:lstStyle/>
          <a:p>
            <a:endParaRPr lang="en-DK"/>
          </a:p>
        </p:txBody>
      </p:sp>
      <p:pic>
        <p:nvPicPr>
          <p:cNvPr id="15" name="group CRKP icon" descr="preencoded.png"/>
          <p:cNvPicPr>
            <a:picLocks noChangeAspect="1"/>
          </p:cNvPicPr>
          <p:nvPr/>
        </p:nvPicPr>
        <p:blipFill>
          <a:blip r:embed="rId3"/>
          <a:stretch>
            <a:fillRect/>
          </a:stretch>
        </p:blipFill>
        <p:spPr>
          <a:xfrm>
            <a:off x="914400" y="4160520"/>
            <a:ext cx="365760" cy="365760"/>
          </a:xfrm>
          <a:prstGeom prst="rect">
            <a:avLst/>
          </a:prstGeom>
        </p:spPr>
      </p:pic>
      <p:sp>
        <p:nvSpPr>
          <p:cNvPr id="16" name="Text 11"/>
          <p:cNvSpPr txBox="1"/>
          <p:nvPr/>
        </p:nvSpPr>
        <p:spPr>
          <a:xfrm>
            <a:off x="1645920" y="3977640"/>
            <a:ext cx="1280160" cy="731520"/>
          </a:xfrm>
          <a:prstGeom prst="rect">
            <a:avLst/>
          </a:prstGeom>
          <a:noFill/>
          <a:ln/>
        </p:spPr>
        <p:txBody>
          <a:bodyPr wrap="square" lIns="0" tIns="0" rIns="0" bIns="0" rtlCol="0" anchor="ctr"/>
          <a:lstStyle/>
          <a:p>
            <a:pPr marL="0" indent="0">
              <a:buNone/>
            </a:pPr>
            <a:r>
              <a:rPr lang="en-US" sz="2400" b="1" dirty="0">
                <a:solidFill>
                  <a:srgbClr val="C44E52"/>
                </a:solidFill>
              </a:rPr>
              <a:t>CRKP</a:t>
            </a:r>
            <a:endParaRPr lang="en-US" sz="2400" dirty="0"/>
          </a:p>
        </p:txBody>
      </p:sp>
      <p:sp>
        <p:nvSpPr>
          <p:cNvPr id="17" name="Text 12"/>
          <p:cNvSpPr txBox="1"/>
          <p:nvPr/>
        </p:nvSpPr>
        <p:spPr>
          <a:xfrm>
            <a:off x="2926080" y="3977640"/>
            <a:ext cx="3566160" cy="731520"/>
          </a:xfrm>
          <a:prstGeom prst="rect">
            <a:avLst/>
          </a:prstGeom>
          <a:noFill/>
          <a:ln/>
        </p:spPr>
        <p:txBody>
          <a:bodyPr wrap="square" lIns="0" tIns="0" rIns="0" bIns="0" rtlCol="0" anchor="ctr"/>
          <a:lstStyle/>
          <a:p>
            <a:pPr marL="0" indent="0">
              <a:buNone/>
            </a:pPr>
            <a:r>
              <a:rPr lang="en-US" sz="1500" dirty="0">
                <a:solidFill>
                  <a:schemeClr val="tx1"/>
                </a:solidFill>
              </a:rPr>
              <a:t>Carbapenem-resistant K. pneumoniae</a:t>
            </a:r>
            <a:endParaRPr lang="en-US" sz="1500" dirty="0"/>
          </a:p>
          <a:p>
            <a:pPr marL="0" indent="0">
              <a:buNone/>
            </a:pPr>
            <a:r>
              <a:rPr lang="en-US" sz="1300" dirty="0">
                <a:solidFill>
                  <a:schemeClr val="accent5"/>
                </a:solidFill>
              </a:rPr>
              <a:t>sample IDs CRKP1 … CRKP15</a:t>
            </a:r>
            <a:endParaRPr lang="en-US" sz="1500" dirty="0"/>
          </a:p>
        </p:txBody>
      </p:sp>
      <p:sp>
        <p:nvSpPr>
          <p:cNvPr id="18" name="why it is hard"/>
          <p:cNvSpPr/>
          <p:nvPr/>
        </p:nvSpPr>
        <p:spPr>
          <a:xfrm>
            <a:off x="7040880" y="1463040"/>
            <a:ext cx="4602175" cy="3383280"/>
          </a:xfrm>
          <a:prstGeom prst="roundRect">
            <a:avLst>
              <a:gd name="adj" fmla="val 3243"/>
            </a:avLst>
          </a:prstGeom>
          <a:solidFill>
            <a:schemeClr val="tx1"/>
          </a:solidFill>
          <a:ln/>
          <a:effectLst>
            <a:outerShdw blurRad="76200" dist="25400" dir="5400000" algn="bl" rotWithShape="0">
              <a:srgbClr val="8A96A8">
                <a:alpha val="25000"/>
              </a:srgbClr>
            </a:outerShdw>
          </a:effectLst>
        </p:spPr>
        <p:txBody>
          <a:bodyPr/>
          <a:lstStyle/>
          <a:p>
            <a:endParaRPr lang="en-DK"/>
          </a:p>
        </p:txBody>
      </p:sp>
      <p:sp>
        <p:nvSpPr>
          <p:cNvPr id="19" name="Text 14"/>
          <p:cNvSpPr txBox="1"/>
          <p:nvPr/>
        </p:nvSpPr>
        <p:spPr>
          <a:xfrm>
            <a:off x="7315200" y="1691640"/>
            <a:ext cx="4023360" cy="45720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Why this is hard</a:t>
            </a:r>
            <a:endParaRPr lang="en-US" sz="2000" dirty="0"/>
          </a:p>
        </p:txBody>
      </p:sp>
      <p:sp>
        <p:nvSpPr>
          <p:cNvPr id="20" name="Text 15"/>
          <p:cNvSpPr txBox="1"/>
          <p:nvPr/>
        </p:nvSpPr>
        <p:spPr>
          <a:xfrm>
            <a:off x="7315200" y="2240280"/>
            <a:ext cx="402336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Every patient is septic — the contrast is susceptible and resistant, not sick vs healthy</a:t>
            </a:r>
            <a:endParaRPr lang="en-US" sz="1500" dirty="0"/>
          </a:p>
          <a:p>
            <a:pPr marL="342900" indent="-342900">
              <a:spcAft>
                <a:spcPts val="800"/>
              </a:spcAft>
              <a:buSzPct val="100000"/>
              <a:buChar char="•"/>
            </a:pPr>
            <a:r>
              <a:rPr lang="en-US" sz="1500" dirty="0">
                <a:solidFill>
                  <a:schemeClr val="bg1"/>
                </a:solidFill>
              </a:rPr>
              <a:t>Expected pathogenicity effects are small; severity dominates the variance</a:t>
            </a:r>
            <a:endParaRPr lang="en-US" sz="1500" dirty="0"/>
          </a:p>
          <a:p>
            <a:pPr marL="342900" indent="-342900">
              <a:spcAft>
                <a:spcPts val="800"/>
              </a:spcAft>
              <a:buSzPct val="100000"/>
              <a:buChar char="•"/>
            </a:pPr>
            <a:r>
              <a:rPr lang="en-US" sz="1500" dirty="0">
                <a:solidFill>
                  <a:schemeClr val="bg1"/>
                </a:solidFill>
              </a:rPr>
              <a:t>Small sample size = 15 per group: supervised models overfit easily</a:t>
            </a:r>
            <a:endParaRPr lang="en-US" sz="1500" dirty="0"/>
          </a:p>
        </p:txBody>
      </p:sp>
      <p:sp>
        <p:nvSpPr>
          <p:cNvPr id="21" name="Text 16"/>
          <p:cNvSpPr txBox="1"/>
          <p:nvPr/>
        </p:nvSpPr>
        <p:spPr>
          <a:xfrm>
            <a:off x="548640" y="5166360"/>
            <a:ext cx="11094415" cy="640080"/>
          </a:xfrm>
          <a:prstGeom prst="rect">
            <a:avLst/>
          </a:prstGeom>
          <a:noFill/>
          <a:ln/>
        </p:spPr>
        <p:txBody>
          <a:bodyPr wrap="square" lIns="0" tIns="0" rIns="0" bIns="0" rtlCol="0" anchor="t"/>
          <a:lstStyle/>
          <a:p>
            <a:r>
              <a:rPr lang="en-US" sz="1300" dirty="0">
                <a:solidFill>
                  <a:schemeClr val="accent5"/>
                </a:solidFill>
              </a:rPr>
              <a:t>Serum at diagnosis, four Shanghai hospitals, April–December 2025. A separate 45-patient validation cohort was measured by targeted parallel reaction monitoring (PRM) and used for validation of the protein biomarkers.​</a:t>
            </a:r>
            <a:endParaRPr lang="en-US" sz="13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3146"/>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The same 45 samples, measured twice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655344866"/>
              </p:ext>
            </p:extLst>
          </p:nvPr>
        </p:nvGraphicFramePr>
        <p:xfrm>
          <a:off x="548640" y="2053009"/>
          <a:ext cx="7498080" cy="3645408"/>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38912">
                <a:tc>
                  <a:txBody>
                    <a:bodyPr/>
                    <a:lstStyle/>
                    <a:p>
                      <a:pPr marL="0" indent="0">
                        <a:buNone/>
                      </a:pP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latin typeface="Calibri" pitchFamily="34" charset="0"/>
                          <a:ea typeface="Calibri" pitchFamily="34" charset="-122"/>
                          <a:cs typeface="Calibri" pitchFamily="34" charset="-120"/>
                        </a:rPr>
                        <a:t>Proteomics</a:t>
                      </a:r>
                      <a:endParaRPr lang="en-US" sz="15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latin typeface="Calibri" pitchFamily="34" charset="0"/>
                          <a:ea typeface="Calibri" pitchFamily="34" charset="-122"/>
                          <a:cs typeface="Calibri" pitchFamily="34" charset="-120"/>
                        </a:rPr>
                        <a:t>Metabolomics</a:t>
                      </a:r>
                      <a:endParaRPr lang="en-US" sz="15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Repository</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PXD075261 (ProteomeXchange / iProX)</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MTBLS14016 (MetaboLights)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Instrument</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timsTOF Pro (Bruker)</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QTRAP 6500 (SCIEX)</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Acquisition</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diaPASEF — data-independent</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MRM — widely targeted, ± ionisation</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Processing</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DIA-NN 1.9.2, library-free, MaxLFQ</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Vendor MRM peak integration</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Features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1 458 protein groups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1 073 named metabolites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Pooled QC</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3 injections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 injections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38912">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 27 %</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 5 %</a:t>
                      </a:r>
                      <a:endParaRPr lang="en-US" sz="1400" dirty="0">
                        <a:latin typeface="Calibri" charset="0"/>
                        <a:ea typeface="Calibri" charset="0"/>
                        <a:cs typeface="Calibri" charset="0"/>
                      </a:endParaRPr>
                    </a:p>
                  </a:txBody>
                  <a:tcPr marL="73152" marR="73152" marT="73152" marB="7315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 name="pairing card"/>
          <p:cNvSpPr/>
          <p:nvPr/>
        </p:nvSpPr>
        <p:spPr>
          <a:xfrm>
            <a:off x="8412480" y="2053009"/>
            <a:ext cx="3230575" cy="3511296"/>
          </a:xfrm>
          <a:prstGeom prst="roundRect">
            <a:avLst>
              <a:gd name="adj" fmla="val 3397"/>
            </a:avLst>
          </a:prstGeom>
          <a:solidFill>
            <a:schemeClr val="bg2"/>
          </a:solidFill>
          <a:ln/>
        </p:spPr>
        <p:txBody>
          <a:bodyPr/>
          <a:lstStyle/>
          <a:p>
            <a:endParaRPr lang="en-DK"/>
          </a:p>
        </p:txBody>
      </p:sp>
      <p:sp>
        <p:nvSpPr>
          <p:cNvPr id="5" name="pairing disc"/>
          <p:cNvSpPr/>
          <p:nvPr/>
        </p:nvSpPr>
        <p:spPr>
          <a:xfrm>
            <a:off x="8641080" y="2281609"/>
            <a:ext cx="685800" cy="685800"/>
          </a:xfrm>
          <a:prstGeom prst="ellipse">
            <a:avLst/>
          </a:prstGeom>
          <a:solidFill>
            <a:schemeClr val="accent4"/>
          </a:solidFill>
          <a:ln/>
        </p:spPr>
        <p:txBody>
          <a:bodyPr/>
          <a:lstStyle/>
          <a:p>
            <a:endParaRPr lang="en-DK"/>
          </a:p>
        </p:txBody>
      </p:sp>
      <p:pic>
        <p:nvPicPr>
          <p:cNvPr id="6" name="pairing icon" descr="preencoded.png"/>
          <p:cNvPicPr>
            <a:picLocks noChangeAspect="1"/>
          </p:cNvPicPr>
          <p:nvPr/>
        </p:nvPicPr>
        <p:blipFill>
          <a:blip r:embed="rId3"/>
          <a:stretch>
            <a:fillRect/>
          </a:stretch>
        </p:blipFill>
        <p:spPr>
          <a:xfrm>
            <a:off x="8812530" y="2453059"/>
            <a:ext cx="342900" cy="342900"/>
          </a:xfrm>
          <a:prstGeom prst="rect">
            <a:avLst/>
          </a:prstGeom>
        </p:spPr>
      </p:pic>
      <p:sp>
        <p:nvSpPr>
          <p:cNvPr id="3" name="Text 3"/>
          <p:cNvSpPr txBox="1"/>
          <p:nvPr/>
        </p:nvSpPr>
        <p:spPr>
          <a:xfrm>
            <a:off x="9464040" y="2327329"/>
            <a:ext cx="2103120" cy="6400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Pairing is the point</a:t>
            </a:r>
            <a:endParaRPr lang="en-US" sz="1800" dirty="0"/>
          </a:p>
        </p:txBody>
      </p:sp>
      <p:sp>
        <p:nvSpPr>
          <p:cNvPr id="8" name="Text 4"/>
          <p:cNvSpPr txBox="1"/>
          <p:nvPr/>
        </p:nvSpPr>
        <p:spPr>
          <a:xfrm>
            <a:off x="8641080" y="3150289"/>
            <a:ext cx="2834640" cy="2194560"/>
          </a:xfrm>
          <a:prstGeom prst="rect">
            <a:avLst/>
          </a:prstGeom>
          <a:noFill/>
          <a:ln/>
        </p:spPr>
        <p:txBody>
          <a:bodyPr wrap="square" lIns="0" tIns="0" rIns="0" bIns="0" rtlCol="0" anchor="t"/>
          <a:lstStyle/>
          <a:p>
            <a:pPr marL="0" indent="0">
              <a:buNone/>
            </a:pPr>
            <a:r>
              <a:rPr lang="en-US" sz="1500" dirty="0">
                <a:solidFill>
                  <a:schemeClr val="tx2"/>
                </a:solidFill>
              </a:rPr>
              <a:t>Each patient has two descriptions of the same physiology. That is what makes integration possible — rather than decorative.</a:t>
            </a:r>
            <a:endParaRPr lang="en-US" sz="1500" dirty="0"/>
          </a:p>
        </p:txBody>
      </p:sp>
      <p:sp>
        <p:nvSpPr>
          <p:cNvPr id="9" name="Text 5"/>
          <p:cNvSpPr txBox="1"/>
          <p:nvPr/>
        </p:nvSpPr>
        <p:spPr>
          <a:xfrm>
            <a:off x="548639" y="5955258"/>
            <a:ext cx="11094415" cy="457200"/>
          </a:xfrm>
          <a:prstGeom prst="rect">
            <a:avLst/>
          </a:prstGeom>
          <a:noFill/>
          <a:ln/>
        </p:spPr>
        <p:txBody>
          <a:bodyPr wrap="square" lIns="0" tIns="0" rIns="0" bIns="0" rtlCol="0" anchor="t"/>
          <a:lstStyle/>
          <a:p>
            <a:r>
              <a:rPr lang="en-US" sz="1300" dirty="0">
                <a:solidFill>
                  <a:schemeClr val="accent5"/>
                </a:solidFill>
              </a:rPr>
              <a:t>Curated tables in the workshop repository </a:t>
            </a:r>
            <a:r>
              <a:rPr lang="en-US" sz="1300" dirty="0">
                <a:solidFill>
                  <a:schemeClr val="accent5"/>
                </a:solidFill>
                <a:hlinkClick r:id="rId4"/>
              </a:rPr>
              <a:t>https://github.com/biosustain/dsp_multiomics_workshop</a:t>
            </a:r>
            <a:r>
              <a:rPr lang="en-US" sz="1300" dirty="0">
                <a:solidFill>
                  <a:schemeClr val="accent5"/>
                </a:solidFill>
              </a:rPr>
              <a:t> </a:t>
            </a:r>
          </a:p>
          <a:p>
            <a:r>
              <a:rPr lang="en-US" sz="1300" dirty="0">
                <a:solidFill>
                  <a:schemeClr val="accent5"/>
                </a:solidFill>
              </a:rPr>
              <a:t> in data/: protein_groups_matrix.tsv · metabolite_matrix.tsv · metabolite_annotation.tsv · sample_metadata.tsv</a:t>
            </a:r>
            <a:endParaRPr lang="en-US" sz="13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
        <p:nvSpPr>
          <p:cNvPr id="10" name="TextBox 9">
            <a:extLst>
              <a:ext uri="{FF2B5EF4-FFF2-40B4-BE49-F238E27FC236}">
                <a16:creationId xmlns:a16="http://schemas.microsoft.com/office/drawing/2014/main" id="{47F5950C-81BB-704A-6D71-2E5611667C50}"/>
              </a:ext>
            </a:extLst>
          </p:cNvPr>
          <p:cNvSpPr txBox="1"/>
          <p:nvPr/>
        </p:nvSpPr>
        <p:spPr>
          <a:xfrm>
            <a:off x="548640" y="1010733"/>
            <a:ext cx="11018520" cy="923330"/>
          </a:xfrm>
          <a:prstGeom prst="rect">
            <a:avLst/>
          </a:prstGeom>
          <a:noFill/>
        </p:spPr>
        <p:txBody>
          <a:bodyPr wrap="square" rtlCol="0">
            <a:spAutoFit/>
          </a:bodyPr>
          <a:lstStyle/>
          <a:p>
            <a:pPr marL="285750" indent="-285750">
              <a:buFont typeface="Arial" panose="020B0604020202020204" pitchFamily="34" charset="0"/>
              <a:buChar char="•"/>
            </a:pPr>
            <a:r>
              <a:rPr lang="en-US" dirty="0"/>
              <a:t>Two very different technologies: untargeted DIA proteomics with many missing values, and targeted MRM metabolomics with few missing.</a:t>
            </a:r>
          </a:p>
          <a:p>
            <a:pPr marL="285750" indent="-285750">
              <a:buFont typeface="Arial" panose="020B0604020202020204" pitchFamily="34" charset="0"/>
              <a:buChar char="•"/>
            </a:pPr>
            <a:r>
              <a:rPr lang="en-US" dirty="0"/>
              <a:t>Both deposited publicly. </a:t>
            </a:r>
            <a:endParaRPr lang="en-DK"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39" y="2651760"/>
            <a:ext cx="11185855" cy="109728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2  ·  From raw files to feature intensity matrices</a:t>
            </a:r>
            <a:endParaRPr lang="en-US" sz="4000" dirty="0"/>
          </a:p>
        </p:txBody>
      </p:sp>
      <p:sp>
        <p:nvSpPr>
          <p:cNvPr id="3" name="Text 0"/>
          <p:cNvSpPr>
            <a:spLocks noGrp="1"/>
          </p:cNvSpPr>
          <p:nvPr>
            <p:ph type="body" idx="101" hasCustomPrompt="1"/>
          </p:nvPr>
        </p:nvSpPr>
        <p:spPr>
          <a:xfrm>
            <a:off x="548640" y="3794760"/>
            <a:ext cx="10058400" cy="914400"/>
          </a:xfrm>
          <a:prstGeom prst="rect">
            <a:avLst/>
          </a:prstGeom>
          <a:noFill/>
          <a:ln/>
        </p:spPr>
        <p:txBody>
          <a:bodyPr wrap="square" rtlCol="0" anchor="t"/>
          <a:lstStyle/>
          <a:p>
            <a:pPr marL="0" indent="0">
              <a:buNone/>
            </a:pPr>
            <a:r>
              <a:rPr lang="en-US" sz="2000" dirty="0">
                <a:solidFill>
                  <a:schemeClr val="accent6"/>
                </a:solidFill>
                <a:latin typeface="Calibri" pitchFamily="34" charset="0"/>
                <a:ea typeface="Calibri" pitchFamily="34" charset="-122"/>
                <a:cs typeface="Calibri" pitchFamily="34" charset="-120"/>
              </a:rPr>
              <a:t>Reproducible processing with Nextflow and nf-core pipelines</a:t>
            </a: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Why a pipeline, not a dozen tools by hand</a:t>
            </a:r>
            <a:endParaRPr lang="en-US" sz="3200" dirty="0"/>
          </a:p>
        </p:txBody>
      </p:sp>
      <p:sp>
        <p:nvSpPr>
          <p:cNvPr id="3" name="why Pinned versions disc"/>
          <p:cNvSpPr/>
          <p:nvPr/>
        </p:nvSpPr>
        <p:spPr>
          <a:xfrm>
            <a:off x="548640" y="1463040"/>
            <a:ext cx="731520" cy="731520"/>
          </a:xfrm>
          <a:prstGeom prst="ellipse">
            <a:avLst/>
          </a:prstGeom>
          <a:solidFill>
            <a:schemeClr val="tx1"/>
          </a:solidFill>
          <a:ln/>
        </p:spPr>
        <p:txBody>
          <a:bodyPr/>
          <a:lstStyle/>
          <a:p>
            <a:endParaRPr lang="en-DK"/>
          </a:p>
        </p:txBody>
      </p:sp>
      <p:pic>
        <p:nvPicPr>
          <p:cNvPr id="4" name="why Pinned versions icon" descr="preencoded.png"/>
          <p:cNvPicPr>
            <a:picLocks noChangeAspect="1"/>
          </p:cNvPicPr>
          <p:nvPr/>
        </p:nvPicPr>
        <p:blipFill>
          <a:blip r:embed="rId3"/>
          <a:stretch>
            <a:fillRect/>
          </a:stretch>
        </p:blipFill>
        <p:spPr>
          <a:xfrm>
            <a:off x="731520" y="1645920"/>
            <a:ext cx="365760" cy="365760"/>
          </a:xfrm>
          <a:prstGeom prst="rect">
            <a:avLst/>
          </a:prstGeom>
        </p:spPr>
      </p:pic>
      <p:sp>
        <p:nvSpPr>
          <p:cNvPr id="5" name="Text 2"/>
          <p:cNvSpPr txBox="1"/>
          <p:nvPr/>
        </p:nvSpPr>
        <p:spPr>
          <a:xfrm>
            <a:off x="1508760" y="1463040"/>
            <a:ext cx="4206240" cy="365760"/>
          </a:xfrm>
          <a:prstGeom prst="rect">
            <a:avLst/>
          </a:prstGeom>
          <a:noFill/>
          <a:ln/>
        </p:spPr>
        <p:txBody>
          <a:bodyPr wrap="square" lIns="0" tIns="0" rIns="0" bIns="0" rtlCol="0" anchor="t"/>
          <a:lstStyle/>
          <a:p>
            <a:pPr marL="0" indent="0">
              <a:buNone/>
            </a:pPr>
            <a:r>
              <a:rPr lang="en-US" sz="1800" b="1" dirty="0">
                <a:solidFill>
                  <a:schemeClr val="tx1"/>
                </a:solidFill>
              </a:rPr>
              <a:t>Pinned versions</a:t>
            </a:r>
            <a:endParaRPr lang="en-US" sz="1800" dirty="0"/>
          </a:p>
        </p:txBody>
      </p:sp>
      <p:sp>
        <p:nvSpPr>
          <p:cNvPr id="6" name="Text 3"/>
          <p:cNvSpPr txBox="1"/>
          <p:nvPr/>
        </p:nvSpPr>
        <p:spPr>
          <a:xfrm>
            <a:off x="1508760" y="1847088"/>
            <a:ext cx="4389120" cy="457200"/>
          </a:xfrm>
          <a:prstGeom prst="rect">
            <a:avLst/>
          </a:prstGeom>
          <a:noFill/>
          <a:ln/>
        </p:spPr>
        <p:txBody>
          <a:bodyPr wrap="square" lIns="0" tIns="0" rIns="0" bIns="0" rtlCol="0" anchor="t"/>
          <a:lstStyle/>
          <a:p>
            <a:pPr marL="0" indent="0">
              <a:buNone/>
            </a:pPr>
            <a:r>
              <a:rPr lang="en-US" sz="1500" dirty="0">
                <a:solidFill>
                  <a:schemeClr val="tx2"/>
                </a:solidFill>
              </a:rPr>
              <a:t>-r v1.8.1 fixes every tool version the run used</a:t>
            </a:r>
            <a:endParaRPr lang="en-US" sz="1500" dirty="0"/>
          </a:p>
        </p:txBody>
      </p:sp>
      <p:sp>
        <p:nvSpPr>
          <p:cNvPr id="7" name="why Containers disc"/>
          <p:cNvSpPr/>
          <p:nvPr/>
        </p:nvSpPr>
        <p:spPr>
          <a:xfrm>
            <a:off x="548640" y="2487168"/>
            <a:ext cx="731520" cy="731520"/>
          </a:xfrm>
          <a:prstGeom prst="ellipse">
            <a:avLst/>
          </a:prstGeom>
          <a:solidFill>
            <a:schemeClr val="tx1"/>
          </a:solidFill>
          <a:ln/>
        </p:spPr>
        <p:txBody>
          <a:bodyPr/>
          <a:lstStyle/>
          <a:p>
            <a:endParaRPr lang="en-DK"/>
          </a:p>
        </p:txBody>
      </p:sp>
      <p:pic>
        <p:nvPicPr>
          <p:cNvPr id="8" name="why Containers icon" descr="preencoded.png"/>
          <p:cNvPicPr>
            <a:picLocks noChangeAspect="1"/>
          </p:cNvPicPr>
          <p:nvPr/>
        </p:nvPicPr>
        <p:blipFill>
          <a:blip r:embed="rId4"/>
          <a:stretch>
            <a:fillRect/>
          </a:stretch>
        </p:blipFill>
        <p:spPr>
          <a:xfrm>
            <a:off x="731520" y="2670048"/>
            <a:ext cx="365760" cy="365760"/>
          </a:xfrm>
          <a:prstGeom prst="rect">
            <a:avLst/>
          </a:prstGeom>
        </p:spPr>
      </p:pic>
      <p:sp>
        <p:nvSpPr>
          <p:cNvPr id="9" name="Text 5"/>
          <p:cNvSpPr txBox="1"/>
          <p:nvPr/>
        </p:nvSpPr>
        <p:spPr>
          <a:xfrm>
            <a:off x="1508760" y="2487168"/>
            <a:ext cx="4206240" cy="365760"/>
          </a:xfrm>
          <a:prstGeom prst="rect">
            <a:avLst/>
          </a:prstGeom>
          <a:noFill/>
          <a:ln/>
        </p:spPr>
        <p:txBody>
          <a:bodyPr wrap="square" lIns="0" tIns="0" rIns="0" bIns="0" rtlCol="0" anchor="t"/>
          <a:lstStyle/>
          <a:p>
            <a:pPr marL="0" indent="0">
              <a:buNone/>
            </a:pPr>
            <a:r>
              <a:rPr lang="en-US" sz="1800" b="1" dirty="0">
                <a:solidFill>
                  <a:schemeClr val="tx1"/>
                </a:solidFill>
              </a:rPr>
              <a:t>Containers</a:t>
            </a:r>
            <a:endParaRPr lang="en-US" sz="1800" dirty="0"/>
          </a:p>
        </p:txBody>
      </p:sp>
      <p:sp>
        <p:nvSpPr>
          <p:cNvPr id="10" name="Text 6"/>
          <p:cNvSpPr txBox="1"/>
          <p:nvPr/>
        </p:nvSpPr>
        <p:spPr>
          <a:xfrm>
            <a:off x="1508760" y="2871216"/>
            <a:ext cx="4389120" cy="457200"/>
          </a:xfrm>
          <a:prstGeom prst="rect">
            <a:avLst/>
          </a:prstGeom>
          <a:noFill/>
          <a:ln/>
        </p:spPr>
        <p:txBody>
          <a:bodyPr wrap="square" lIns="0" tIns="0" rIns="0" bIns="0" rtlCol="0" anchor="t"/>
          <a:lstStyle/>
          <a:p>
            <a:pPr marL="0" indent="0">
              <a:buNone/>
            </a:pPr>
            <a:r>
              <a:rPr lang="en-US" sz="1500" dirty="0">
                <a:solidFill>
                  <a:schemeClr val="tx2"/>
                </a:solidFill>
              </a:rPr>
              <a:t>Docker / Apptainer ship the exact software stack</a:t>
            </a:r>
            <a:endParaRPr lang="en-US" sz="1500" dirty="0"/>
          </a:p>
        </p:txBody>
      </p:sp>
      <p:sp>
        <p:nvSpPr>
          <p:cNvPr id="11" name="why Resume disc"/>
          <p:cNvSpPr/>
          <p:nvPr/>
        </p:nvSpPr>
        <p:spPr>
          <a:xfrm>
            <a:off x="548640" y="3511296"/>
            <a:ext cx="731520" cy="731520"/>
          </a:xfrm>
          <a:prstGeom prst="ellipse">
            <a:avLst/>
          </a:prstGeom>
          <a:solidFill>
            <a:schemeClr val="tx1"/>
          </a:solidFill>
          <a:ln/>
        </p:spPr>
        <p:txBody>
          <a:bodyPr/>
          <a:lstStyle/>
          <a:p>
            <a:endParaRPr lang="en-DK"/>
          </a:p>
        </p:txBody>
      </p:sp>
      <p:pic>
        <p:nvPicPr>
          <p:cNvPr id="12" name="why Resume icon" descr="preencoded.png"/>
          <p:cNvPicPr>
            <a:picLocks noChangeAspect="1"/>
          </p:cNvPicPr>
          <p:nvPr/>
        </p:nvPicPr>
        <p:blipFill>
          <a:blip r:embed="rId5"/>
          <a:stretch>
            <a:fillRect/>
          </a:stretch>
        </p:blipFill>
        <p:spPr>
          <a:xfrm>
            <a:off x="731520" y="3694176"/>
            <a:ext cx="365760" cy="365760"/>
          </a:xfrm>
          <a:prstGeom prst="rect">
            <a:avLst/>
          </a:prstGeom>
        </p:spPr>
      </p:pic>
      <p:sp>
        <p:nvSpPr>
          <p:cNvPr id="13" name="Text 8"/>
          <p:cNvSpPr txBox="1"/>
          <p:nvPr/>
        </p:nvSpPr>
        <p:spPr>
          <a:xfrm>
            <a:off x="1508760" y="3511296"/>
            <a:ext cx="4206240" cy="365760"/>
          </a:xfrm>
          <a:prstGeom prst="rect">
            <a:avLst/>
          </a:prstGeom>
          <a:noFill/>
          <a:ln/>
        </p:spPr>
        <p:txBody>
          <a:bodyPr wrap="square" lIns="0" tIns="0" rIns="0" bIns="0" rtlCol="0" anchor="t"/>
          <a:lstStyle/>
          <a:p>
            <a:pPr marL="0" indent="0">
              <a:buNone/>
            </a:pPr>
            <a:r>
              <a:rPr lang="en-US" sz="1800" b="1" dirty="0">
                <a:solidFill>
                  <a:schemeClr val="tx1"/>
                </a:solidFill>
              </a:rPr>
              <a:t>Resume</a:t>
            </a:r>
            <a:endParaRPr lang="en-US" sz="1800" dirty="0"/>
          </a:p>
        </p:txBody>
      </p:sp>
      <p:sp>
        <p:nvSpPr>
          <p:cNvPr id="14" name="Text 9"/>
          <p:cNvSpPr txBox="1"/>
          <p:nvPr/>
        </p:nvSpPr>
        <p:spPr>
          <a:xfrm>
            <a:off x="1508760" y="3895344"/>
            <a:ext cx="4389120" cy="457200"/>
          </a:xfrm>
          <a:prstGeom prst="rect">
            <a:avLst/>
          </a:prstGeom>
          <a:noFill/>
          <a:ln/>
        </p:spPr>
        <p:txBody>
          <a:bodyPr wrap="square" lIns="0" tIns="0" rIns="0" bIns="0" rtlCol="0" anchor="t"/>
          <a:lstStyle/>
          <a:p>
            <a:pPr marL="0" indent="0">
              <a:buNone/>
            </a:pPr>
            <a:r>
              <a:rPr lang="en-US" sz="1500" dirty="0">
                <a:solidFill>
                  <a:schemeClr val="tx2"/>
                </a:solidFill>
              </a:rPr>
              <a:t>-resume reuses finished steps after a failure</a:t>
            </a:r>
            <a:endParaRPr lang="en-US" sz="1500" dirty="0"/>
          </a:p>
        </p:txBody>
      </p:sp>
      <p:sp>
        <p:nvSpPr>
          <p:cNvPr id="15" name="why Standard metadata disc"/>
          <p:cNvSpPr/>
          <p:nvPr/>
        </p:nvSpPr>
        <p:spPr>
          <a:xfrm>
            <a:off x="548640" y="4535424"/>
            <a:ext cx="731520" cy="731520"/>
          </a:xfrm>
          <a:prstGeom prst="ellipse">
            <a:avLst/>
          </a:prstGeom>
          <a:solidFill>
            <a:schemeClr val="tx1"/>
          </a:solidFill>
          <a:ln/>
        </p:spPr>
        <p:txBody>
          <a:bodyPr/>
          <a:lstStyle/>
          <a:p>
            <a:endParaRPr lang="en-DK"/>
          </a:p>
        </p:txBody>
      </p:sp>
      <p:pic>
        <p:nvPicPr>
          <p:cNvPr id="16" name="why Standard metadata icon" descr="preencoded.png"/>
          <p:cNvPicPr>
            <a:picLocks noChangeAspect="1"/>
          </p:cNvPicPr>
          <p:nvPr/>
        </p:nvPicPr>
        <p:blipFill>
          <a:blip r:embed="rId6"/>
          <a:stretch>
            <a:fillRect/>
          </a:stretch>
        </p:blipFill>
        <p:spPr>
          <a:xfrm>
            <a:off x="731520" y="4718304"/>
            <a:ext cx="365760" cy="365760"/>
          </a:xfrm>
          <a:prstGeom prst="rect">
            <a:avLst/>
          </a:prstGeom>
        </p:spPr>
      </p:pic>
      <p:sp>
        <p:nvSpPr>
          <p:cNvPr id="17" name="Text 11"/>
          <p:cNvSpPr txBox="1"/>
          <p:nvPr/>
        </p:nvSpPr>
        <p:spPr>
          <a:xfrm>
            <a:off x="1508760" y="4535424"/>
            <a:ext cx="4206240" cy="365760"/>
          </a:xfrm>
          <a:prstGeom prst="rect">
            <a:avLst/>
          </a:prstGeom>
          <a:noFill/>
          <a:ln/>
        </p:spPr>
        <p:txBody>
          <a:bodyPr wrap="square" lIns="0" tIns="0" rIns="0" bIns="0" rtlCol="0" anchor="t"/>
          <a:lstStyle/>
          <a:p>
            <a:pPr marL="0" indent="0">
              <a:buNone/>
            </a:pPr>
            <a:r>
              <a:rPr lang="en-US" sz="1800" b="1" dirty="0">
                <a:solidFill>
                  <a:schemeClr val="tx1"/>
                </a:solidFill>
              </a:rPr>
              <a:t>Standard metadata</a:t>
            </a:r>
            <a:endParaRPr lang="en-US" sz="1800" dirty="0"/>
          </a:p>
        </p:txBody>
      </p:sp>
      <p:sp>
        <p:nvSpPr>
          <p:cNvPr id="18" name="Text 12"/>
          <p:cNvSpPr txBox="1"/>
          <p:nvPr/>
        </p:nvSpPr>
        <p:spPr>
          <a:xfrm>
            <a:off x="1508760" y="4919472"/>
            <a:ext cx="4389120" cy="457200"/>
          </a:xfrm>
          <a:prstGeom prst="rect">
            <a:avLst/>
          </a:prstGeom>
          <a:noFill/>
          <a:ln/>
        </p:spPr>
        <p:txBody>
          <a:bodyPr wrap="square" lIns="0" tIns="0" rIns="0" bIns="0" rtlCol="0" anchor="t"/>
          <a:lstStyle/>
          <a:p>
            <a:pPr marL="0" indent="0">
              <a:buNone/>
            </a:pPr>
            <a:r>
              <a:rPr lang="en-US" sz="1500" dirty="0">
                <a:solidFill>
                  <a:schemeClr val="tx2"/>
                </a:solidFill>
              </a:rPr>
              <a:t>SDRF / samplesheet describe every file and sample</a:t>
            </a:r>
            <a:endParaRPr lang="en-US" sz="1500" dirty="0"/>
          </a:p>
        </p:txBody>
      </p:sp>
      <p:sp>
        <p:nvSpPr>
          <p:cNvPr id="19" name="command card"/>
          <p:cNvSpPr/>
          <p:nvPr/>
        </p:nvSpPr>
        <p:spPr>
          <a:xfrm>
            <a:off x="6309360" y="1463040"/>
            <a:ext cx="5333695" cy="3794760"/>
          </a:xfrm>
          <a:prstGeom prst="roundRect">
            <a:avLst>
              <a:gd name="adj" fmla="val 2892"/>
            </a:avLst>
          </a:prstGeom>
          <a:solidFill>
            <a:schemeClr val="tx1"/>
          </a:solidFill>
          <a:ln/>
          <a:effectLst>
            <a:outerShdw blurRad="76200" dist="25400" dir="5400000" algn="bl" rotWithShape="0">
              <a:srgbClr val="8A96A8">
                <a:alpha val="25000"/>
              </a:srgbClr>
            </a:outerShdw>
          </a:effectLst>
        </p:spPr>
        <p:txBody>
          <a:bodyPr/>
          <a:lstStyle/>
          <a:p>
            <a:endParaRPr lang="en-DK"/>
          </a:p>
        </p:txBody>
      </p:sp>
      <p:sp>
        <p:nvSpPr>
          <p:cNvPr id="20" name="Text 14"/>
          <p:cNvSpPr txBox="1"/>
          <p:nvPr/>
        </p:nvSpPr>
        <p:spPr>
          <a:xfrm>
            <a:off x="6583680" y="1645920"/>
            <a:ext cx="4572000" cy="4114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Anatomy of a run</a:t>
            </a:r>
            <a:endParaRPr lang="en-US" sz="1800" dirty="0"/>
          </a:p>
        </p:txBody>
      </p:sp>
      <p:sp>
        <p:nvSpPr>
          <p:cNvPr id="21" name="Text 15"/>
          <p:cNvSpPr txBox="1"/>
          <p:nvPr/>
        </p:nvSpPr>
        <p:spPr>
          <a:xfrm>
            <a:off x="6583680" y="2148840"/>
            <a:ext cx="4846320" cy="2103120"/>
          </a:xfrm>
          <a:prstGeom prst="rect">
            <a:avLst/>
          </a:prstGeom>
          <a:noFill/>
          <a:ln/>
        </p:spPr>
        <p:txBody>
          <a:bodyPr wrap="square" lIns="0" tIns="0" rIns="0" bIns="0" rtlCol="0" anchor="t"/>
          <a:lstStyle/>
          <a:p>
            <a:pPr marL="0" indent="0">
              <a:buNone/>
            </a:pPr>
            <a:r>
              <a:rPr lang="en-US" sz="1400" dirty="0">
                <a:solidFill>
                  <a:srgbClr val="E6EDF5"/>
                </a:solidFill>
                <a:latin typeface="Courier New" pitchFamily="34" charset="0"/>
                <a:ea typeface="Courier New" pitchFamily="34" charset="-122"/>
                <a:cs typeface="Courier New" pitchFamily="34" charset="-120"/>
              </a:rPr>
              <a:t>nextflow run bigbio/quantmsdiann -r v1.8.1 \</a:t>
            </a:r>
            <a:endParaRPr lang="en-US" sz="1400" dirty="0"/>
          </a:p>
          <a:p>
            <a:pPr marL="0" indent="0">
              <a:buNone/>
            </a:pPr>
            <a:r>
              <a:rPr lang="en-US" sz="1400" dirty="0">
                <a:solidFill>
                  <a:srgbClr val="E6EDF5"/>
                </a:solidFill>
                <a:latin typeface="Courier New" pitchFamily="34" charset="0"/>
                <a:ea typeface="Courier New" pitchFamily="34" charset="-122"/>
                <a:cs typeface="Courier New" pitchFamily="34" charset="-120"/>
              </a:rPr>
              <a:t>    -profile docker \</a:t>
            </a:r>
            <a:endParaRPr lang="en-US" sz="1400" dirty="0"/>
          </a:p>
          <a:p>
            <a:pPr marL="0" indent="0">
              <a:buNone/>
            </a:pPr>
            <a:r>
              <a:rPr lang="en-US" sz="1400" dirty="0">
                <a:solidFill>
                  <a:srgbClr val="E6EDF5"/>
                </a:solidFill>
                <a:latin typeface="Courier New" pitchFamily="34" charset="0"/>
                <a:ea typeface="Courier New" pitchFamily="34" charset="-122"/>
                <a:cs typeface="Courier New" pitchFamily="34" charset="-120"/>
              </a:rPr>
              <a:t>    --input  PXD075261.sdrf.tsv \</a:t>
            </a:r>
            <a:endParaRPr lang="en-US" sz="1400" dirty="0"/>
          </a:p>
          <a:p>
            <a:pPr marL="0" indent="0">
              <a:buNone/>
            </a:pPr>
            <a:r>
              <a:rPr lang="en-US" sz="1400" dirty="0">
                <a:solidFill>
                  <a:srgbClr val="E6EDF5"/>
                </a:solidFill>
                <a:latin typeface="Courier New" pitchFamily="34" charset="0"/>
                <a:ea typeface="Courier New" pitchFamily="34" charset="-122"/>
                <a:cs typeface="Courier New" pitchFamily="34" charset="-120"/>
              </a:rPr>
              <a:t>    --database uniprot_human.fasta \</a:t>
            </a:r>
            <a:endParaRPr lang="en-US" sz="1400" dirty="0"/>
          </a:p>
          <a:p>
            <a:pPr marL="0" indent="0">
              <a:buNone/>
            </a:pPr>
            <a:r>
              <a:rPr lang="en-US" sz="1400" dirty="0">
                <a:solidFill>
                  <a:srgbClr val="E6EDF5"/>
                </a:solidFill>
                <a:latin typeface="Courier New" pitchFamily="34" charset="0"/>
                <a:ea typeface="Courier New" pitchFamily="34" charset="-122"/>
                <a:cs typeface="Courier New" pitchFamily="34" charset="-120"/>
              </a:rPr>
              <a:t>    --outdir results/PXD075261 \</a:t>
            </a:r>
            <a:endParaRPr lang="en-US" sz="1400" dirty="0"/>
          </a:p>
          <a:p>
            <a:pPr marL="0" indent="0">
              <a:buNone/>
            </a:pPr>
            <a:r>
              <a:rPr lang="en-US" sz="1400" dirty="0">
                <a:solidFill>
                  <a:srgbClr val="E6EDF5"/>
                </a:solidFill>
                <a:latin typeface="Courier New" pitchFamily="34" charset="0"/>
                <a:ea typeface="Courier New" pitchFamily="34" charset="-122"/>
                <a:cs typeface="Courier New" pitchFamily="34" charset="-120"/>
              </a:rPr>
              <a:t>    -resume</a:t>
            </a:r>
            <a:endParaRPr lang="en-US" sz="1400" dirty="0"/>
          </a:p>
        </p:txBody>
      </p:sp>
      <p:sp>
        <p:nvSpPr>
          <p:cNvPr id="22" name="Text 16"/>
          <p:cNvSpPr txBox="1"/>
          <p:nvPr/>
        </p:nvSpPr>
        <p:spPr>
          <a:xfrm>
            <a:off x="6583680" y="4434840"/>
            <a:ext cx="4846320" cy="548640"/>
          </a:xfrm>
          <a:prstGeom prst="rect">
            <a:avLst/>
          </a:prstGeom>
          <a:noFill/>
          <a:ln/>
        </p:spPr>
        <p:txBody>
          <a:bodyPr wrap="square" lIns="0" tIns="0" rIns="0" bIns="0" rtlCol="0" anchor="t"/>
          <a:lstStyle/>
          <a:p>
            <a:pPr marL="0" indent="0">
              <a:buNone/>
            </a:pPr>
            <a:r>
              <a:rPr lang="en-US" sz="1300" i="1" dirty="0">
                <a:solidFill>
                  <a:schemeClr val="accent6"/>
                </a:solidFill>
              </a:rPr>
              <a:t>single dash = Nextflow option · double dash = pipeline parameter</a:t>
            </a:r>
            <a:endParaRPr lang="en-US" sz="1300" dirty="0"/>
          </a:p>
        </p:txBody>
      </p:sp>
      <p:sp>
        <p:nvSpPr>
          <p:cNvPr id="23" name="Text 17"/>
          <p:cNvSpPr txBox="1"/>
          <p:nvPr/>
        </p:nvSpPr>
        <p:spPr>
          <a:xfrm>
            <a:off x="548640" y="5623560"/>
            <a:ext cx="11094415" cy="365760"/>
          </a:xfrm>
          <a:prstGeom prst="rect">
            <a:avLst/>
          </a:prstGeom>
          <a:noFill/>
          <a:ln/>
        </p:spPr>
        <p:txBody>
          <a:bodyPr wrap="square" lIns="0" tIns="0" rIns="0" bIns="0" rtlCol="0" anchor="t"/>
          <a:lstStyle/>
          <a:p>
            <a:pPr marL="0" indent="0">
              <a:buNone/>
            </a:pPr>
            <a:r>
              <a:rPr lang="en-US" sz="1300" dirty="0">
                <a:solidFill>
                  <a:schemeClr val="accent5"/>
                </a:solidFill>
              </a:rPr>
              <a:t>Full cohort is a cluster job: 45 × 2.4 GB .d.zip, several CPU-hours per file, ≥ 32 GB RAM.</a:t>
            </a:r>
            <a:endParaRPr lang="en-US" sz="13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4" name="Picture 2" descr="GitHub - nextflow-io/nextflow: A DSL for data-driven computational pipelines">
            <a:extLst>
              <a:ext uri="{FF2B5EF4-FFF2-40B4-BE49-F238E27FC236}">
                <a16:creationId xmlns:a16="http://schemas.microsoft.com/office/drawing/2014/main" id="{3ECA2E46-7A9B-DB5A-435E-8287DDCA3645}"/>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7527673" y="5257800"/>
            <a:ext cx="2880748" cy="14403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FEBE6EB9-AD4D-B9A2-2D4D-780672E35F0F}"/>
              </a:ext>
            </a:extLst>
          </p:cNvPr>
          <p:cNvSpPr/>
          <p:nvPr/>
        </p:nvSpPr>
        <p:spPr>
          <a:xfrm>
            <a:off x="5056111" y="717550"/>
            <a:ext cx="5387404" cy="5422900"/>
          </a:xfrm>
          <a:prstGeom prst="roundRect">
            <a:avLst/>
          </a:prstGeom>
          <a:solidFill>
            <a:schemeClr val="bg1">
              <a:lumMod val="95000"/>
            </a:schemeClr>
          </a:solidFill>
          <a:ln>
            <a:solidFill>
              <a:srgbClr val="19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Title 1">
            <a:extLst>
              <a:ext uri="{FF2B5EF4-FFF2-40B4-BE49-F238E27FC236}">
                <a16:creationId xmlns:a16="http://schemas.microsoft.com/office/drawing/2014/main" id="{6B8BE82E-96BE-9CBF-D23F-B00031FC546A}"/>
              </a:ext>
            </a:extLst>
          </p:cNvPr>
          <p:cNvSpPr>
            <a:spLocks noGrp="1"/>
          </p:cNvSpPr>
          <p:nvPr>
            <p:ph type="title"/>
          </p:nvPr>
        </p:nvSpPr>
        <p:spPr>
          <a:xfrm>
            <a:off x="566382" y="456345"/>
            <a:ext cx="3111690" cy="3556097"/>
          </a:xfrm>
        </p:spPr>
        <p:txBody>
          <a:bodyPr vert="horz" lIns="91440" tIns="45720" rIns="91440" bIns="45720" rtlCol="0" anchor="b">
            <a:normAutofit/>
          </a:bodyPr>
          <a:lstStyle/>
          <a:p>
            <a:pPr algn="r"/>
            <a:r>
              <a:rPr lang="en-US" sz="4000" b="0" i="0">
                <a:solidFill>
                  <a:srgbClr val="FFFFFF"/>
                </a:solidFill>
                <a:effectLst/>
              </a:rPr>
              <a:t>Nextflow’s core features</a:t>
            </a:r>
            <a:endParaRPr lang="en-US" sz="4000">
              <a:solidFill>
                <a:srgbClr val="FFFFFF"/>
              </a:solidFill>
            </a:endParaRPr>
          </a:p>
        </p:txBody>
      </p:sp>
      <p:sp>
        <p:nvSpPr>
          <p:cNvPr id="4" name="TextBox 3">
            <a:extLst>
              <a:ext uri="{FF2B5EF4-FFF2-40B4-BE49-F238E27FC236}">
                <a16:creationId xmlns:a16="http://schemas.microsoft.com/office/drawing/2014/main" id="{F955577D-7CB0-62BC-7E9E-DD741C1C7965}"/>
              </a:ext>
            </a:extLst>
          </p:cNvPr>
          <p:cNvSpPr txBox="1"/>
          <p:nvPr/>
        </p:nvSpPr>
        <p:spPr>
          <a:xfrm>
            <a:off x="4662411" y="762423"/>
            <a:ext cx="5798245" cy="5848468"/>
          </a:xfrm>
          <a:prstGeom prst="rect">
            <a:avLst/>
          </a:prstGeom>
        </p:spPr>
        <p:txBody>
          <a:bodyPr vert="horz" lIns="91440" tIns="45720" rIns="91440" bIns="45720" rtlCol="0" anchor="ctr">
            <a:noAutofit/>
          </a:bodyPr>
          <a:lstStyle/>
          <a:p>
            <a:pPr marL="742950" lvl="1" indent="-228600">
              <a:lnSpc>
                <a:spcPct val="90000"/>
              </a:lnSpc>
              <a:spcAft>
                <a:spcPts val="600"/>
              </a:spcAft>
              <a:buFont typeface="Arial" panose="020B0604020202020204" pitchFamily="34" charset="0"/>
              <a:buChar char="•"/>
            </a:pPr>
            <a:r>
              <a:rPr lang="en-US" sz="2000" b="1" i="0" dirty="0">
                <a:effectLst/>
              </a:rPr>
              <a:t>Reproducible </a:t>
            </a:r>
            <a:r>
              <a:rPr lang="en-US" sz="2000" i="0" dirty="0">
                <a:effectLst/>
              </a:rPr>
              <a:t>between runs</a:t>
            </a:r>
            <a:endParaRPr lang="en-US" sz="2000" dirty="0"/>
          </a:p>
          <a:p>
            <a:pPr marL="1200150" lvl="2" indent="-228600">
              <a:lnSpc>
                <a:spcPct val="90000"/>
              </a:lnSpc>
              <a:spcAft>
                <a:spcPts val="600"/>
              </a:spcAft>
              <a:buFont typeface="Arial" panose="020B0604020202020204" pitchFamily="34" charset="0"/>
              <a:buChar char="•"/>
            </a:pPr>
            <a:r>
              <a:rPr lang="en-US" sz="2000" b="0" i="0" dirty="0">
                <a:effectLst/>
              </a:rPr>
              <a:t>integration with code management tools </a:t>
            </a:r>
          </a:p>
          <a:p>
            <a:pPr marL="1200150" lvl="2" indent="-228600">
              <a:lnSpc>
                <a:spcPct val="90000"/>
              </a:lnSpc>
              <a:spcAft>
                <a:spcPts val="600"/>
              </a:spcAft>
              <a:buFont typeface="Arial" panose="020B0604020202020204" pitchFamily="34" charset="0"/>
              <a:buChar char="•"/>
            </a:pPr>
            <a:r>
              <a:rPr lang="en-US" sz="2000" b="0" i="0" dirty="0">
                <a:effectLst/>
              </a:rPr>
              <a:t>all packages downloaded, organized in containers, and control over computing environment </a:t>
            </a:r>
          </a:p>
          <a:p>
            <a:pPr marL="742950" lvl="1" indent="-228600">
              <a:lnSpc>
                <a:spcPct val="90000"/>
              </a:lnSpc>
              <a:spcAft>
                <a:spcPts val="600"/>
              </a:spcAft>
              <a:buFont typeface="Arial" panose="020B0604020202020204" pitchFamily="34" charset="0"/>
              <a:buChar char="•"/>
            </a:pPr>
            <a:r>
              <a:rPr lang="en-US" sz="2000" b="1" dirty="0"/>
              <a:t>Portable</a:t>
            </a:r>
            <a:r>
              <a:rPr lang="en-US" sz="2000" dirty="0"/>
              <a:t> between systems</a:t>
            </a:r>
          </a:p>
          <a:p>
            <a:pPr marL="1200150" lvl="2" indent="-228600">
              <a:lnSpc>
                <a:spcPct val="90000"/>
              </a:lnSpc>
              <a:spcAft>
                <a:spcPts val="600"/>
              </a:spcAft>
              <a:buFont typeface="Arial" panose="020B0604020202020204" pitchFamily="34" charset="0"/>
              <a:buChar char="•"/>
            </a:pPr>
            <a:r>
              <a:rPr lang="en-US" sz="2000" dirty="0"/>
              <a:t>you can write the code in your laptop and can run everywhere (HPC, cloud)</a:t>
            </a:r>
          </a:p>
          <a:p>
            <a:pPr marL="1200150" lvl="2" indent="-228600">
              <a:lnSpc>
                <a:spcPct val="90000"/>
              </a:lnSpc>
              <a:spcAft>
                <a:spcPts val="600"/>
              </a:spcAft>
              <a:buFont typeface="Arial" panose="020B0604020202020204" pitchFamily="34" charset="0"/>
              <a:buChar char="•"/>
            </a:pPr>
            <a:r>
              <a:rPr lang="en-US" sz="2000" dirty="0"/>
              <a:t>works with most of computing environments</a:t>
            </a:r>
            <a:endParaRPr lang="en-US" sz="2000" b="0" i="0" dirty="0">
              <a:effectLst/>
            </a:endParaRPr>
          </a:p>
          <a:p>
            <a:pPr marL="742950" lvl="1" indent="-228600">
              <a:lnSpc>
                <a:spcPct val="90000"/>
              </a:lnSpc>
              <a:spcAft>
                <a:spcPts val="600"/>
              </a:spcAft>
              <a:buFont typeface="Arial" panose="020B0604020202020204" pitchFamily="34" charset="0"/>
              <a:buChar char="•"/>
            </a:pPr>
            <a:r>
              <a:rPr lang="en-US" sz="2000" b="1" i="0" dirty="0">
                <a:effectLst/>
              </a:rPr>
              <a:t>Scalable</a:t>
            </a:r>
            <a:endParaRPr lang="en-US" sz="2000" dirty="0"/>
          </a:p>
          <a:p>
            <a:pPr marL="1200150" lvl="2" indent="-228600">
              <a:lnSpc>
                <a:spcPct val="90000"/>
              </a:lnSpc>
              <a:spcAft>
                <a:spcPts val="600"/>
              </a:spcAft>
              <a:buFont typeface="Arial" panose="020B0604020202020204" pitchFamily="34" charset="0"/>
              <a:buChar char="•"/>
            </a:pPr>
            <a:r>
              <a:rPr lang="en-US" sz="2000" b="0" i="0" dirty="0">
                <a:effectLst/>
              </a:rPr>
              <a:t>it can be run for 10 on your laptop or thousands of samples in an HPC or the cloud</a:t>
            </a:r>
          </a:p>
          <a:p>
            <a:pPr marL="742950" lvl="1" indent="-228600">
              <a:lnSpc>
                <a:spcPct val="90000"/>
              </a:lnSpc>
              <a:spcAft>
                <a:spcPts val="600"/>
              </a:spcAft>
              <a:buFont typeface="Arial" panose="020B0604020202020204" pitchFamily="34" charset="0"/>
              <a:buChar char="•"/>
            </a:pPr>
            <a:r>
              <a:rPr lang="en-US" sz="2000" b="1" i="0" dirty="0">
                <a:effectLst/>
              </a:rPr>
              <a:t>Integration</a:t>
            </a:r>
            <a:r>
              <a:rPr lang="en-US" sz="2000" b="0" i="0" dirty="0">
                <a:effectLst/>
              </a:rPr>
              <a:t> of existing tools, systems, and industry standards</a:t>
            </a:r>
          </a:p>
          <a:p>
            <a:pPr marL="285750" indent="-228600">
              <a:lnSpc>
                <a:spcPct val="90000"/>
              </a:lnSpc>
              <a:spcAft>
                <a:spcPts val="600"/>
              </a:spcAft>
              <a:buFont typeface="Arial" panose="020B0604020202020204" pitchFamily="34" charset="0"/>
              <a:buChar char="•"/>
            </a:pPr>
            <a:endParaRPr lang="en-US" sz="2000" dirty="0"/>
          </a:p>
        </p:txBody>
      </p:sp>
      <p:pic>
        <p:nvPicPr>
          <p:cNvPr id="7" name="Graphic 6" descr="Box with solid fill">
            <a:extLst>
              <a:ext uri="{FF2B5EF4-FFF2-40B4-BE49-F238E27FC236}">
                <a16:creationId xmlns:a16="http://schemas.microsoft.com/office/drawing/2014/main" id="{5F19D61B-C73F-2EA6-59A3-BB1BBCCEC8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06950" y="775798"/>
            <a:ext cx="1486670" cy="1486670"/>
          </a:xfrm>
          <a:prstGeom prst="rect">
            <a:avLst/>
          </a:prstGeom>
        </p:spPr>
      </p:pic>
      <p:pic>
        <p:nvPicPr>
          <p:cNvPr id="5" name="Graphic 4" descr="Recycle with solid fill">
            <a:extLst>
              <a:ext uri="{FF2B5EF4-FFF2-40B4-BE49-F238E27FC236}">
                <a16:creationId xmlns:a16="http://schemas.microsoft.com/office/drawing/2014/main" id="{59EA208E-C2B6-936B-0673-B882C36EF5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43514" y="2746076"/>
            <a:ext cx="1487878" cy="1487878"/>
          </a:xfrm>
          <a:prstGeom prst="rect">
            <a:avLst/>
          </a:prstGeom>
        </p:spPr>
      </p:pic>
      <p:pic>
        <p:nvPicPr>
          <p:cNvPr id="1026" name="Picture 2" descr="Scalable Icon Billeder – Gennemse 65,304 stockfotos ...">
            <a:extLst>
              <a:ext uri="{FF2B5EF4-FFF2-40B4-BE49-F238E27FC236}">
                <a16:creationId xmlns:a16="http://schemas.microsoft.com/office/drawing/2014/main" id="{E7F8B9F6-426A-8F69-76A0-25A3BC8B937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460656" y="4487968"/>
            <a:ext cx="1470736" cy="14707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itHub - nextflow-io/nextflow: A DSL for data-driven computational pipelines">
            <a:extLst>
              <a:ext uri="{FF2B5EF4-FFF2-40B4-BE49-F238E27FC236}">
                <a16:creationId xmlns:a16="http://schemas.microsoft.com/office/drawing/2014/main" id="{8A8406C9-10A4-1A78-E60B-F1922A91C516}"/>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47016" y="627495"/>
            <a:ext cx="3937820" cy="1968909"/>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le 7">
            <a:extLst>
              <a:ext uri="{FF2B5EF4-FFF2-40B4-BE49-F238E27FC236}">
                <a16:creationId xmlns:a16="http://schemas.microsoft.com/office/drawing/2014/main" id="{924CBBF1-5B11-2513-F324-CDA1705AD1F7}"/>
              </a:ext>
            </a:extLst>
          </p:cNvPr>
          <p:cNvSpPr/>
          <p:nvPr/>
        </p:nvSpPr>
        <p:spPr>
          <a:xfrm>
            <a:off x="153317" y="762423"/>
            <a:ext cx="4725218" cy="5422900"/>
          </a:xfrm>
          <a:prstGeom prst="roundRect">
            <a:avLst/>
          </a:prstGeom>
          <a:noFill/>
          <a:ln>
            <a:solidFill>
              <a:srgbClr val="19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TextBox 2">
            <a:extLst>
              <a:ext uri="{FF2B5EF4-FFF2-40B4-BE49-F238E27FC236}">
                <a16:creationId xmlns:a16="http://schemas.microsoft.com/office/drawing/2014/main" id="{0833F49D-CA3D-C1FF-CC3E-5585BCF06D4A}"/>
              </a:ext>
            </a:extLst>
          </p:cNvPr>
          <p:cNvSpPr txBox="1"/>
          <p:nvPr/>
        </p:nvSpPr>
        <p:spPr>
          <a:xfrm>
            <a:off x="655169" y="2065889"/>
            <a:ext cx="3918454" cy="1769715"/>
          </a:xfrm>
          <a:prstGeom prst="rect">
            <a:avLst/>
          </a:prstGeom>
          <a:noFill/>
        </p:spPr>
        <p:txBody>
          <a:bodyPr wrap="square" rtlCol="0">
            <a:spAutoFit/>
          </a:bodyPr>
          <a:lstStyle/>
          <a:p>
            <a:pPr marL="231458" indent="-228600">
              <a:lnSpc>
                <a:spcPct val="90000"/>
              </a:lnSpc>
              <a:spcAft>
                <a:spcPts val="600"/>
              </a:spcAft>
              <a:buFont typeface="Arial" panose="020B0604020202020204" pitchFamily="34" charset="0"/>
              <a:buChar char="•"/>
            </a:pPr>
            <a:r>
              <a:rPr lang="en-US" dirty="0" err="1">
                <a:solidFill>
                  <a:schemeClr val="tx1">
                    <a:alpha val="55000"/>
                  </a:schemeClr>
                </a:solidFill>
                <a:latin typeface="Arial" panose="020B0604020202020204" pitchFamily="34" charset="0"/>
                <a:cs typeface="Arial" panose="020B0604020202020204" pitchFamily="34" charset="0"/>
              </a:rPr>
              <a:t>Nextflow</a:t>
            </a:r>
            <a:r>
              <a:rPr lang="en-US" dirty="0">
                <a:solidFill>
                  <a:schemeClr val="tx1">
                    <a:alpha val="55000"/>
                  </a:schemeClr>
                </a:solidFill>
                <a:latin typeface="Arial" panose="020B0604020202020204" pitchFamily="34" charset="0"/>
                <a:cs typeface="Arial" panose="020B0604020202020204" pitchFamily="34" charset="0"/>
              </a:rPr>
              <a:t> is a </a:t>
            </a:r>
            <a:r>
              <a:rPr lang="en-US" b="1" dirty="0">
                <a:solidFill>
                  <a:schemeClr val="tx1">
                    <a:alpha val="55000"/>
                  </a:schemeClr>
                </a:solidFill>
                <a:latin typeface="Arial" panose="020B0604020202020204" pitchFamily="34" charset="0"/>
                <a:cs typeface="Arial" panose="020B0604020202020204" pitchFamily="34" charset="0"/>
              </a:rPr>
              <a:t>software</a:t>
            </a:r>
            <a:r>
              <a:rPr lang="en-US" dirty="0">
                <a:solidFill>
                  <a:schemeClr val="tx1">
                    <a:alpha val="55000"/>
                  </a:schemeClr>
                </a:solidFill>
                <a:latin typeface="Arial" panose="020B0604020202020204" pitchFamily="34" charset="0"/>
                <a:cs typeface="Arial" panose="020B0604020202020204" pitchFamily="34" charset="0"/>
              </a:rPr>
              <a:t> - Workflow orchestrator engine </a:t>
            </a:r>
          </a:p>
          <a:p>
            <a:pPr marL="231458" indent="-228600">
              <a:lnSpc>
                <a:spcPct val="90000"/>
              </a:lnSpc>
              <a:spcAft>
                <a:spcPts val="600"/>
              </a:spcAft>
              <a:buFont typeface="Arial" panose="020B0604020202020204" pitchFamily="34" charset="0"/>
              <a:buChar char="•"/>
            </a:pPr>
            <a:r>
              <a:rPr lang="en-US" dirty="0" err="1">
                <a:solidFill>
                  <a:schemeClr val="tx1">
                    <a:alpha val="55000"/>
                  </a:schemeClr>
                </a:solidFill>
                <a:latin typeface="Arial" panose="020B0604020202020204" pitchFamily="34" charset="0"/>
                <a:cs typeface="Arial" panose="020B0604020202020204" pitchFamily="34" charset="0"/>
              </a:rPr>
              <a:t>Nextflow</a:t>
            </a:r>
            <a:r>
              <a:rPr lang="en-US" dirty="0">
                <a:solidFill>
                  <a:schemeClr val="tx1">
                    <a:alpha val="55000"/>
                  </a:schemeClr>
                </a:solidFill>
                <a:latin typeface="Arial" panose="020B0604020202020204" pitchFamily="34" charset="0"/>
                <a:cs typeface="Arial" panose="020B0604020202020204" pitchFamily="34" charset="0"/>
              </a:rPr>
              <a:t> is a Domain-specific </a:t>
            </a:r>
            <a:r>
              <a:rPr lang="en-US" b="1" dirty="0">
                <a:solidFill>
                  <a:schemeClr val="tx1">
                    <a:alpha val="55000"/>
                  </a:schemeClr>
                </a:solidFill>
                <a:latin typeface="Arial" panose="020B0604020202020204" pitchFamily="34" charset="0"/>
                <a:cs typeface="Arial" panose="020B0604020202020204" pitchFamily="34" charset="0"/>
              </a:rPr>
              <a:t>language</a:t>
            </a:r>
            <a:r>
              <a:rPr lang="en-US" dirty="0">
                <a:solidFill>
                  <a:schemeClr val="tx1">
                    <a:alpha val="55000"/>
                  </a:schemeClr>
                </a:solidFill>
                <a:latin typeface="Arial" panose="020B0604020202020204" pitchFamily="34" charset="0"/>
                <a:cs typeface="Arial" panose="020B0604020202020204" pitchFamily="34" charset="0"/>
              </a:rPr>
              <a:t> (DSL) built on top of Groovy</a:t>
            </a:r>
          </a:p>
          <a:p>
            <a:endParaRPr lang="en-DK" dirty="0"/>
          </a:p>
        </p:txBody>
      </p:sp>
      <p:pic>
        <p:nvPicPr>
          <p:cNvPr id="10" name="Picture 2" descr="What is nf-core? - training.nextflow.io">
            <a:extLst>
              <a:ext uri="{FF2B5EF4-FFF2-40B4-BE49-F238E27FC236}">
                <a16:creationId xmlns:a16="http://schemas.microsoft.com/office/drawing/2014/main" id="{387FA504-12BD-7F3D-7FA2-CA5AB5869F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1451" y="3540770"/>
            <a:ext cx="3918454" cy="101523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nf-core/rnaseq metro map">
            <a:extLst>
              <a:ext uri="{FF2B5EF4-FFF2-40B4-BE49-F238E27FC236}">
                <a16:creationId xmlns:a16="http://schemas.microsoft.com/office/drawing/2014/main" id="{392CDED7-36EC-96E4-652D-DBDC035D06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790" y="4502473"/>
            <a:ext cx="3659045" cy="1528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848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veat card">
            <a:extLst>
              <a:ext uri="{FF2B5EF4-FFF2-40B4-BE49-F238E27FC236}">
                <a16:creationId xmlns:a16="http://schemas.microsoft.com/office/drawing/2014/main" id="{35E54515-B091-3E82-24F9-C62B6AF96020}"/>
              </a:ext>
            </a:extLst>
          </p:cNvPr>
          <p:cNvSpPr/>
          <p:nvPr/>
        </p:nvSpPr>
        <p:spPr>
          <a:xfrm>
            <a:off x="5717893" y="936533"/>
            <a:ext cx="6088283" cy="5662053"/>
          </a:xfrm>
          <a:prstGeom prst="roundRect">
            <a:avLst>
              <a:gd name="adj" fmla="val 2581"/>
            </a:avLst>
          </a:prstGeom>
          <a:solidFill>
            <a:schemeClr val="bg2"/>
          </a:solidFill>
          <a:ln/>
        </p:spPr>
        <p:txBody>
          <a:bodyPr/>
          <a:lstStyle/>
          <a:p>
            <a:endParaRPr lang="en-DK"/>
          </a:p>
        </p:txBody>
      </p:sp>
      <p:sp>
        <p:nvSpPr>
          <p:cNvPr id="2" name="Title 1">
            <a:extLst>
              <a:ext uri="{FF2B5EF4-FFF2-40B4-BE49-F238E27FC236}">
                <a16:creationId xmlns:a16="http://schemas.microsoft.com/office/drawing/2014/main" id="{D5A97D01-7BE9-F5E1-E8D7-DA39BB5232A1}"/>
              </a:ext>
            </a:extLst>
          </p:cNvPr>
          <p:cNvSpPr>
            <a:spLocks noGrp="1"/>
          </p:cNvSpPr>
          <p:nvPr>
            <p:ph type="title" idx="100"/>
          </p:nvPr>
        </p:nvSpPr>
        <p:spPr/>
        <p:txBody>
          <a:bodyPr/>
          <a:lstStyle/>
          <a:p>
            <a:r>
              <a:rPr lang="en-US" dirty="0"/>
              <a:t>Proteomics: </a:t>
            </a:r>
            <a:r>
              <a:rPr lang="en-US" dirty="0" err="1"/>
              <a:t>bigbio</a:t>
            </a:r>
            <a:r>
              <a:rPr lang="en-US" dirty="0"/>
              <a:t>/</a:t>
            </a:r>
            <a:r>
              <a:rPr lang="en-US" dirty="0" err="1"/>
              <a:t>quantmsdiann</a:t>
            </a:r>
            <a:r>
              <a:rPr lang="en-US" dirty="0"/>
              <a:t> (DIA-NN)</a:t>
            </a:r>
            <a:endParaRPr lang="en-DK" dirty="0"/>
          </a:p>
        </p:txBody>
      </p:sp>
      <p:pic>
        <p:nvPicPr>
          <p:cNvPr id="3" name="Graphic 2" descr="quantmsdiann_workflow.svg">
            <a:extLst>
              <a:ext uri="{FF2B5EF4-FFF2-40B4-BE49-F238E27FC236}">
                <a16:creationId xmlns:a16="http://schemas.microsoft.com/office/drawing/2014/main" id="{9012010D-3082-DE52-D5CE-0E0DDB032244}"/>
              </a:ext>
            </a:extLst>
          </p:cNvPr>
          <p:cNvPicPr>
            <a:picLocks noChangeAspect="1"/>
          </p:cNvPicPr>
          <p:nvPr/>
        </p:nvPicPr>
        <p:blipFill>
          <a:blip>
            <a:extLst>
              <a:ext uri="{96DAC541-7B7A-43D3-8B79-37D633B846F1}">
                <asvg:svgBlip xmlns:asvg="http://schemas.microsoft.com/office/drawing/2016/SVG/main" r:embed="rId3"/>
              </a:ext>
            </a:extLst>
          </a:blip>
          <a:srcRect r="11087"/>
          <a:stretch>
            <a:fillRect/>
          </a:stretch>
        </p:blipFill>
        <p:spPr>
          <a:xfrm>
            <a:off x="548640" y="1035291"/>
            <a:ext cx="5006132" cy="5306190"/>
          </a:xfrm>
          <a:prstGeom prst="rect">
            <a:avLst/>
          </a:prstGeom>
        </p:spPr>
      </p:pic>
      <p:sp>
        <p:nvSpPr>
          <p:cNvPr id="4" name="TextBox 3">
            <a:extLst>
              <a:ext uri="{FF2B5EF4-FFF2-40B4-BE49-F238E27FC236}">
                <a16:creationId xmlns:a16="http://schemas.microsoft.com/office/drawing/2014/main" id="{5121CD6F-2698-28E9-4761-3794E87E4966}"/>
              </a:ext>
            </a:extLst>
          </p:cNvPr>
          <p:cNvSpPr txBox="1"/>
          <p:nvPr/>
        </p:nvSpPr>
        <p:spPr>
          <a:xfrm>
            <a:off x="5874851" y="1027830"/>
            <a:ext cx="5768204" cy="5570756"/>
          </a:xfrm>
          <a:prstGeom prst="rect">
            <a:avLst/>
          </a:prstGeom>
          <a:noFill/>
        </p:spPr>
        <p:txBody>
          <a:bodyPr wrap="square" rtlCol="0">
            <a:spAutoFit/>
          </a:bodyPr>
          <a:lstStyle/>
          <a:p>
            <a:pPr indent="0" algn="l">
              <a:spcAft>
                <a:spcPts val="1200"/>
              </a:spcAft>
              <a:buNone/>
            </a:pPr>
            <a:r>
              <a:rPr lang="en-DK" sz="1400" b="0" i="0" dirty="0">
                <a:solidFill>
                  <a:srgbClr val="1F2328"/>
                </a:solidFill>
                <a:effectLst/>
              </a:rPr>
              <a:t>The pipeline takes </a:t>
            </a:r>
            <a:r>
              <a:rPr lang="en-DK" sz="1400" b="0" i="0" u="sng" dirty="0">
                <a:solidFill>
                  <a:srgbClr val="0969DA"/>
                </a:solidFill>
                <a:effectLst/>
                <a:hlinkClick r:id="rId4"/>
              </a:rPr>
              <a:t>SDRF</a:t>
            </a:r>
            <a:r>
              <a:rPr lang="en-DK" sz="1400" b="0" i="0" dirty="0">
                <a:solidFill>
                  <a:srgbClr val="1F2328"/>
                </a:solidFill>
                <a:effectLst/>
              </a:rPr>
              <a:t> metadata (must use the .sdrf.tsv extension) and mass spectrometry data files (.raw, .mzML, .d, .dia, .wiff) as input and performs:</a:t>
            </a:r>
          </a:p>
          <a:p>
            <a:pPr marL="342900" lvl="0" indent="-342900" algn="l">
              <a:spcAft>
                <a:spcPts val="1200"/>
              </a:spcAft>
              <a:buFont typeface="+mj-lt"/>
              <a:buAutoNum type="arabicPeriod"/>
            </a:pPr>
            <a:r>
              <a:rPr lang="en-DK" sz="1400" b="1" i="0" dirty="0">
                <a:solidFill>
                  <a:srgbClr val="1F2328"/>
                </a:solidFill>
                <a:effectLst/>
              </a:rPr>
              <a:t>Input validation</a:t>
            </a:r>
            <a:r>
              <a:rPr lang="en-DK" sz="1400" b="0" i="0" dirty="0">
                <a:solidFill>
                  <a:srgbClr val="1F2328"/>
                </a:solidFill>
                <a:effectLst/>
              </a:rPr>
              <a:t> — SDRF parsing and validation via </a:t>
            </a:r>
            <a:r>
              <a:rPr lang="en-DK" sz="1400" b="0" i="0" u="sng" dirty="0">
                <a:solidFill>
                  <a:srgbClr val="0969DA"/>
                </a:solidFill>
                <a:effectLst/>
                <a:hlinkClick r:id="rId5"/>
              </a:rPr>
              <a:t>sdrf-pipelines</a:t>
            </a:r>
            <a:endParaRPr lang="en-DK" sz="1400" b="0" i="0" dirty="0">
              <a:solidFill>
                <a:srgbClr val="1F2328"/>
              </a:solidFill>
              <a:effectLst/>
            </a:endParaRPr>
          </a:p>
          <a:p>
            <a:pPr marL="342900" lvl="0" indent="-342900" algn="l">
              <a:spcAft>
                <a:spcPts val="1200"/>
              </a:spcAft>
              <a:buFont typeface="+mj-lt"/>
              <a:buAutoNum type="arabicPeriod"/>
            </a:pPr>
            <a:r>
              <a:rPr lang="en-DK" sz="1400" b="1" i="0" dirty="0">
                <a:solidFill>
                  <a:srgbClr val="1F2328"/>
                </a:solidFill>
                <a:effectLst/>
              </a:rPr>
              <a:t>File preparation</a:t>
            </a:r>
            <a:r>
              <a:rPr lang="en-DK" sz="1400" b="0" i="0" dirty="0">
                <a:solidFill>
                  <a:srgbClr val="1F2328"/>
                </a:solidFill>
                <a:effectLst/>
              </a:rPr>
              <a:t> — RAW to mzML conversion (</a:t>
            </a:r>
            <a:r>
              <a:rPr lang="en-DK" sz="1400" b="0" i="0" u="sng" dirty="0">
                <a:solidFill>
                  <a:srgbClr val="0969DA"/>
                </a:solidFill>
                <a:effectLst/>
                <a:hlinkClick r:id="rId6"/>
              </a:rPr>
              <a:t>ThermoRawFileParser</a:t>
            </a:r>
            <a:r>
              <a:rPr lang="en-DK" sz="1400" b="0" i="0" dirty="0">
                <a:solidFill>
                  <a:srgbClr val="1F2328"/>
                </a:solidFill>
                <a:effectLst/>
              </a:rPr>
              <a:t>), indexing. WIFF to mzML conversion (</a:t>
            </a:r>
            <a:r>
              <a:rPr lang="en-DK" sz="1400" b="0" i="0" u="sng" dirty="0">
                <a:solidFill>
                  <a:srgbClr val="0969DA"/>
                </a:solidFill>
                <a:effectLst/>
                <a:hlinkClick r:id="rId7"/>
              </a:rPr>
              <a:t>WiffConverter</a:t>
            </a:r>
            <a:r>
              <a:rPr lang="en-DK" sz="1400" b="0" i="0" dirty="0">
                <a:solidFill>
                  <a:srgbClr val="1F2328"/>
                </a:solidFill>
                <a:effectLst/>
              </a:rPr>
              <a:t>, ghcr.io/bigbio/wiffconverter:0.10)</a:t>
            </a:r>
          </a:p>
          <a:p>
            <a:pPr marL="342900" lvl="0" indent="-342900" algn="l">
              <a:spcAft>
                <a:spcPts val="1200"/>
              </a:spcAft>
              <a:buFont typeface="+mj-lt"/>
              <a:buAutoNum type="arabicPeriod"/>
            </a:pPr>
            <a:r>
              <a:rPr lang="en-DK" sz="1400" b="1" i="0" dirty="0">
                <a:solidFill>
                  <a:srgbClr val="1F2328"/>
                </a:solidFill>
                <a:effectLst/>
              </a:rPr>
              <a:t>In-silico spectral library generation</a:t>
            </a:r>
            <a:r>
              <a:rPr lang="en-DK" sz="1400" b="0" i="0" dirty="0">
                <a:solidFill>
                  <a:srgbClr val="1F2328"/>
                </a:solidFill>
                <a:effectLst/>
              </a:rPr>
              <a:t> — deep learning-based prediction, or use a user-provided library (--speclib)</a:t>
            </a:r>
          </a:p>
          <a:p>
            <a:pPr marL="342900" lvl="0" indent="-342900" algn="l">
              <a:spcAft>
                <a:spcPts val="1200"/>
              </a:spcAft>
              <a:buFont typeface="+mj-lt"/>
              <a:buAutoNum type="arabicPeriod"/>
            </a:pPr>
            <a:r>
              <a:rPr lang="en-DK" sz="1400" b="1" i="0" dirty="0">
                <a:solidFill>
                  <a:srgbClr val="1F2328"/>
                </a:solidFill>
                <a:effectLst/>
              </a:rPr>
              <a:t>Preliminary analysis</a:t>
            </a:r>
            <a:r>
              <a:rPr lang="en-DK" sz="1400" b="0" i="0" dirty="0">
                <a:solidFill>
                  <a:srgbClr val="1F2328"/>
                </a:solidFill>
                <a:effectLst/>
              </a:rPr>
              <a:t> — per-file calibration and mass accuracy estimation (parallelized)</a:t>
            </a:r>
          </a:p>
          <a:p>
            <a:pPr marL="342900" lvl="0" indent="-342900" algn="l">
              <a:spcAft>
                <a:spcPts val="1200"/>
              </a:spcAft>
              <a:buFont typeface="+mj-lt"/>
              <a:buAutoNum type="arabicPeriod"/>
            </a:pPr>
            <a:r>
              <a:rPr lang="en-DK" sz="1400" b="1" i="0" dirty="0">
                <a:solidFill>
                  <a:srgbClr val="1F2328"/>
                </a:solidFill>
                <a:effectLst/>
              </a:rPr>
              <a:t>Empirical library assembly</a:t>
            </a:r>
            <a:r>
              <a:rPr lang="en-DK" sz="1400" b="0" i="0" dirty="0">
                <a:solidFill>
                  <a:srgbClr val="1F2328"/>
                </a:solidFill>
                <a:effectLst/>
              </a:rPr>
              <a:t> — consensus library from preliminary results with RT profiling</a:t>
            </a:r>
          </a:p>
          <a:p>
            <a:pPr marL="342900" lvl="0" indent="-342900" algn="l">
              <a:spcAft>
                <a:spcPts val="1200"/>
              </a:spcAft>
              <a:buFont typeface="+mj-lt"/>
              <a:buAutoNum type="arabicPeriod"/>
            </a:pPr>
            <a:r>
              <a:rPr lang="en-DK" sz="1400" b="1" i="0" dirty="0">
                <a:solidFill>
                  <a:srgbClr val="1F2328"/>
                </a:solidFill>
                <a:effectLst/>
              </a:rPr>
              <a:t>Individual analysis</a:t>
            </a:r>
            <a:r>
              <a:rPr lang="en-DK" sz="1400" b="0" i="0" dirty="0">
                <a:solidFill>
                  <a:srgbClr val="1F2328"/>
                </a:solidFill>
                <a:effectLst/>
              </a:rPr>
              <a:t> — per-file search with the empirical library (parallelized)</a:t>
            </a:r>
          </a:p>
          <a:p>
            <a:pPr marL="342900" lvl="0" indent="-342900" algn="l">
              <a:spcAft>
                <a:spcPts val="1200"/>
              </a:spcAft>
              <a:buFont typeface="+mj-lt"/>
              <a:buAutoNum type="arabicPeriod"/>
            </a:pPr>
            <a:r>
              <a:rPr lang="en-DK" sz="1400" b="1" i="0" dirty="0">
                <a:solidFill>
                  <a:srgbClr val="1F2328"/>
                </a:solidFill>
                <a:effectLst/>
              </a:rPr>
              <a:t>Final quantification</a:t>
            </a:r>
            <a:r>
              <a:rPr lang="en-DK" sz="1400" b="0" i="0" dirty="0">
                <a:solidFill>
                  <a:srgbClr val="1F2328"/>
                </a:solidFill>
                <a:effectLst/>
              </a:rPr>
              <a:t> — protein/peptide/gene group matrices with cross-run normalization</a:t>
            </a:r>
          </a:p>
          <a:p>
            <a:pPr marL="342900" lvl="0" indent="-342900" algn="l">
              <a:spcAft>
                <a:spcPts val="1200"/>
              </a:spcAft>
              <a:buFont typeface="+mj-lt"/>
              <a:buAutoNum type="arabicPeriod"/>
            </a:pPr>
            <a:r>
              <a:rPr lang="en-DK" sz="1400" b="1" i="0" dirty="0">
                <a:solidFill>
                  <a:srgbClr val="1F2328"/>
                </a:solidFill>
                <a:effectLst/>
              </a:rPr>
              <a:t>MSstats conversion</a:t>
            </a:r>
            <a:r>
              <a:rPr lang="en-DK" sz="1400" b="0" i="0" dirty="0">
                <a:solidFill>
                  <a:srgbClr val="1F2328"/>
                </a:solidFill>
                <a:effectLst/>
              </a:rPr>
              <a:t> — DIA-NN report to </a:t>
            </a:r>
            <a:r>
              <a:rPr lang="en-DK" sz="1400" b="0" i="0" u="sng" dirty="0">
                <a:solidFill>
                  <a:srgbClr val="0969DA"/>
                </a:solidFill>
                <a:effectLst/>
                <a:hlinkClick r:id="rId8"/>
              </a:rPr>
              <a:t>MSstats</a:t>
            </a:r>
            <a:r>
              <a:rPr lang="en-DK" sz="1400" b="0" i="0" dirty="0">
                <a:solidFill>
                  <a:srgbClr val="1F2328"/>
                </a:solidFill>
                <a:effectLst/>
              </a:rPr>
              <a:t>-compatible format</a:t>
            </a:r>
          </a:p>
          <a:p>
            <a:pPr marL="342900" lvl="0" indent="-342900" algn="l">
              <a:spcAft>
                <a:spcPts val="1200"/>
              </a:spcAft>
              <a:buFont typeface="+mj-lt"/>
              <a:buAutoNum type="arabicPeriod"/>
            </a:pPr>
            <a:r>
              <a:rPr lang="en-DK" sz="1400" b="1" i="0" dirty="0">
                <a:solidFill>
                  <a:srgbClr val="1F2328"/>
                </a:solidFill>
                <a:effectLst/>
              </a:rPr>
              <a:t>Quality control</a:t>
            </a:r>
            <a:r>
              <a:rPr lang="en-DK" sz="1400" b="0" i="0" dirty="0">
                <a:solidFill>
                  <a:srgbClr val="1F2328"/>
                </a:solidFill>
                <a:effectLst/>
              </a:rPr>
              <a:t> — interactive QC report via </a:t>
            </a:r>
            <a:r>
              <a:rPr lang="en-DK" sz="1400" b="0" i="0" u="sng" dirty="0">
                <a:solidFill>
                  <a:srgbClr val="0969DA"/>
                </a:solidFill>
                <a:effectLst/>
                <a:hlinkClick r:id="rId9"/>
              </a:rPr>
              <a:t>pmultiqc</a:t>
            </a:r>
            <a:endParaRPr lang="en-DK" sz="1400" b="0" i="0" dirty="0">
              <a:solidFill>
                <a:srgbClr val="1F2328"/>
              </a:solidFill>
              <a:effectLst/>
            </a:endParaRPr>
          </a:p>
        </p:txBody>
      </p:sp>
    </p:spTree>
    <p:extLst>
      <p:ext uri="{BB962C8B-B14F-4D97-AF65-F5344CB8AC3E}">
        <p14:creationId xmlns:p14="http://schemas.microsoft.com/office/powerpoint/2010/main" val="317034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veat card">
            <a:extLst>
              <a:ext uri="{FF2B5EF4-FFF2-40B4-BE49-F238E27FC236}">
                <a16:creationId xmlns:a16="http://schemas.microsoft.com/office/drawing/2014/main" id="{8A99CF76-3D6B-5052-13A1-40C208415D07}"/>
              </a:ext>
            </a:extLst>
          </p:cNvPr>
          <p:cNvSpPr/>
          <p:nvPr/>
        </p:nvSpPr>
        <p:spPr>
          <a:xfrm>
            <a:off x="7470943" y="1344706"/>
            <a:ext cx="4467099" cy="4607917"/>
          </a:xfrm>
          <a:prstGeom prst="roundRect">
            <a:avLst>
              <a:gd name="adj" fmla="val 2581"/>
            </a:avLst>
          </a:prstGeom>
          <a:solidFill>
            <a:schemeClr val="bg2"/>
          </a:solidFill>
          <a:ln/>
        </p:spPr>
        <p:txBody>
          <a:bodyPr/>
          <a:lstStyle/>
          <a:p>
            <a:endParaRPr lang="en-DK"/>
          </a:p>
        </p:txBody>
      </p:sp>
      <p:sp>
        <p:nvSpPr>
          <p:cNvPr id="2" name="Title 1">
            <a:extLst>
              <a:ext uri="{FF2B5EF4-FFF2-40B4-BE49-F238E27FC236}">
                <a16:creationId xmlns:a16="http://schemas.microsoft.com/office/drawing/2014/main" id="{36090B9D-36EC-7904-A070-34215215CC12}"/>
              </a:ext>
            </a:extLst>
          </p:cNvPr>
          <p:cNvSpPr>
            <a:spLocks noGrp="1"/>
          </p:cNvSpPr>
          <p:nvPr>
            <p:ph type="title" idx="100"/>
          </p:nvPr>
        </p:nvSpPr>
        <p:spPr/>
        <p:txBody>
          <a:bodyPr/>
          <a:lstStyle/>
          <a:p>
            <a:r>
              <a:rPr lang="en-US" dirty="0"/>
              <a:t>Metabolomics: </a:t>
            </a:r>
            <a:r>
              <a:rPr lang="en-US" dirty="0" err="1"/>
              <a:t>nf</a:t>
            </a:r>
            <a:r>
              <a:rPr lang="en-US" dirty="0"/>
              <a:t>-core/</a:t>
            </a:r>
            <a:r>
              <a:rPr lang="en-US" dirty="0" err="1"/>
              <a:t>metaboigniter</a:t>
            </a:r>
            <a:r>
              <a:rPr lang="en-US" dirty="0"/>
              <a:t> (</a:t>
            </a:r>
            <a:r>
              <a:rPr lang="en-US" dirty="0" err="1"/>
              <a:t>OpenMS</a:t>
            </a:r>
            <a:r>
              <a:rPr lang="en-US" dirty="0"/>
              <a:t>)</a:t>
            </a:r>
            <a:endParaRPr lang="en-DK" dirty="0"/>
          </a:p>
        </p:txBody>
      </p:sp>
      <p:pic>
        <p:nvPicPr>
          <p:cNvPr id="3" name="Picture 2" descr="nf-core/metaboigniter metro map">
            <a:extLst>
              <a:ext uri="{FF2B5EF4-FFF2-40B4-BE49-F238E27FC236}">
                <a16:creationId xmlns:a16="http://schemas.microsoft.com/office/drawing/2014/main" id="{DF68BAD1-51F6-FA35-4927-9DF7F0E2C7EC}"/>
              </a:ext>
            </a:extLst>
          </p:cNvPr>
          <p:cNvPicPr>
            <a:picLocks noChangeAspect="1"/>
          </p:cNvPicPr>
          <p:nvPr/>
        </p:nvPicPr>
        <p:blipFill>
          <a:blip r:embed="rId3"/>
          <a:stretch>
            <a:fillRect/>
          </a:stretch>
        </p:blipFill>
        <p:spPr>
          <a:xfrm>
            <a:off x="253957" y="2326467"/>
            <a:ext cx="7246438" cy="2447402"/>
          </a:xfrm>
          <a:prstGeom prst="rect">
            <a:avLst/>
          </a:prstGeom>
        </p:spPr>
      </p:pic>
      <p:sp>
        <p:nvSpPr>
          <p:cNvPr id="4" name="TextBox 3">
            <a:extLst>
              <a:ext uri="{FF2B5EF4-FFF2-40B4-BE49-F238E27FC236}">
                <a16:creationId xmlns:a16="http://schemas.microsoft.com/office/drawing/2014/main" id="{812A36DA-6443-246A-8FEA-337A9E02EBD7}"/>
              </a:ext>
            </a:extLst>
          </p:cNvPr>
          <p:cNvSpPr txBox="1"/>
          <p:nvPr/>
        </p:nvSpPr>
        <p:spPr>
          <a:xfrm>
            <a:off x="7602811" y="1551418"/>
            <a:ext cx="4335232" cy="4401205"/>
          </a:xfrm>
          <a:prstGeom prst="rect">
            <a:avLst/>
          </a:prstGeom>
          <a:noFill/>
        </p:spPr>
        <p:txBody>
          <a:bodyPr wrap="square" rtlCol="0">
            <a:spAutoFit/>
          </a:bodyPr>
          <a:lstStyle/>
          <a:p>
            <a:pPr marL="342900" lvl="0" indent="-342900" algn="l">
              <a:buFont typeface="+mj-lt"/>
              <a:buAutoNum type="arabicPeriod"/>
            </a:pPr>
            <a:r>
              <a:rPr lang="en-DK" sz="1400" b="1" i="0" dirty="0">
                <a:solidFill>
                  <a:srgbClr val="212529"/>
                </a:solidFill>
                <a:effectLst/>
                <a:latin typeface="+mj-lt"/>
              </a:rPr>
              <a:t>Centroiding</a:t>
            </a:r>
            <a:r>
              <a:rPr lang="en-DK" sz="1400" b="0" i="0" dirty="0">
                <a:solidFill>
                  <a:srgbClr val="212529"/>
                </a:solidFill>
                <a:effectLst/>
                <a:latin typeface="+mj-lt"/>
              </a:rPr>
              <a:t>: Converts the continuous mass spectra into a series of discrete points.</a:t>
            </a:r>
          </a:p>
          <a:p>
            <a:pPr marL="342900" lvl="0" indent="-342900" algn="l">
              <a:buFont typeface="+mj-lt"/>
              <a:buAutoNum type="arabicPeriod"/>
            </a:pPr>
            <a:r>
              <a:rPr lang="en-DK" sz="1400" b="1" i="0" dirty="0">
                <a:solidFill>
                  <a:srgbClr val="212529"/>
                </a:solidFill>
                <a:effectLst/>
                <a:latin typeface="+mj-lt"/>
              </a:rPr>
              <a:t>Feature Detection</a:t>
            </a:r>
            <a:r>
              <a:rPr lang="en-DK" sz="1400" b="0" i="0" dirty="0">
                <a:solidFill>
                  <a:srgbClr val="212529"/>
                </a:solidFill>
                <a:effectLst/>
                <a:latin typeface="+mj-lt"/>
              </a:rPr>
              <a:t>: Identifies unique signals or ‘features’ in the spectra.</a:t>
            </a:r>
          </a:p>
          <a:p>
            <a:pPr marL="342900" lvl="0" indent="-342900" algn="l">
              <a:buFont typeface="+mj-lt"/>
              <a:buAutoNum type="arabicPeriod"/>
            </a:pPr>
            <a:r>
              <a:rPr lang="en-DK" sz="1400" b="1" i="0" dirty="0">
                <a:solidFill>
                  <a:srgbClr val="212529"/>
                </a:solidFill>
                <a:effectLst/>
                <a:latin typeface="+mj-lt"/>
              </a:rPr>
              <a:t>Adduct Detection</a:t>
            </a:r>
            <a:r>
              <a:rPr lang="en-DK" sz="1400" b="0" i="0" dirty="0">
                <a:solidFill>
                  <a:srgbClr val="212529"/>
                </a:solidFill>
                <a:effectLst/>
                <a:latin typeface="+mj-lt"/>
              </a:rPr>
              <a:t>: Identifies adduct ions, which are formed by the interaction of the sample with the ion source.</a:t>
            </a:r>
          </a:p>
          <a:p>
            <a:pPr marL="342900" lvl="0" indent="-342900" algn="l">
              <a:buFont typeface="+mj-lt"/>
              <a:buAutoNum type="arabicPeriod"/>
            </a:pPr>
            <a:r>
              <a:rPr lang="en-DK" sz="1400" b="1" i="0" dirty="0">
                <a:solidFill>
                  <a:srgbClr val="212529"/>
                </a:solidFill>
                <a:effectLst/>
                <a:latin typeface="+mj-lt"/>
              </a:rPr>
              <a:t>Alignment</a:t>
            </a:r>
            <a:r>
              <a:rPr lang="en-DK" sz="1400" b="0" i="0" dirty="0">
                <a:solidFill>
                  <a:srgbClr val="212529"/>
                </a:solidFill>
                <a:effectLst/>
                <a:latin typeface="+mj-lt"/>
              </a:rPr>
              <a:t>: Ensures that the same features across different samples are matched together.</a:t>
            </a:r>
          </a:p>
          <a:p>
            <a:pPr marL="342900" lvl="0" indent="-342900" algn="l">
              <a:buFont typeface="+mj-lt"/>
              <a:buAutoNum type="arabicPeriod"/>
            </a:pPr>
            <a:r>
              <a:rPr lang="en-DK" sz="1400" b="1" i="0" dirty="0">
                <a:solidFill>
                  <a:srgbClr val="212529"/>
                </a:solidFill>
                <a:effectLst/>
                <a:latin typeface="+mj-lt"/>
              </a:rPr>
              <a:t>Linking</a:t>
            </a:r>
            <a:r>
              <a:rPr lang="en-DK" sz="1400" b="0" i="0" dirty="0">
                <a:solidFill>
                  <a:srgbClr val="212529"/>
                </a:solidFill>
                <a:effectLst/>
                <a:latin typeface="+mj-lt"/>
              </a:rPr>
              <a:t>: Establishes connections between features across different ionization modes or adducts.</a:t>
            </a:r>
          </a:p>
          <a:p>
            <a:pPr marL="342900" lvl="0" indent="-342900" algn="l">
              <a:buFont typeface="+mj-lt"/>
              <a:buAutoNum type="arabicPeriod"/>
            </a:pPr>
            <a:r>
              <a:rPr lang="en-DK" sz="1400" b="1" i="0" dirty="0">
                <a:solidFill>
                  <a:srgbClr val="212529"/>
                </a:solidFill>
                <a:effectLst/>
                <a:latin typeface="+mj-lt"/>
              </a:rPr>
              <a:t>Requantification</a:t>
            </a:r>
            <a:r>
              <a:rPr lang="en-DK" sz="1400" b="0" i="0" dirty="0">
                <a:solidFill>
                  <a:srgbClr val="212529"/>
                </a:solidFill>
                <a:effectLst/>
                <a:latin typeface="+mj-lt"/>
              </a:rPr>
              <a:t>: Fills in missing values in the data set for a more complete analysis.</a:t>
            </a:r>
          </a:p>
          <a:p>
            <a:pPr marL="342900" lvl="0" indent="-342900" algn="l">
              <a:buFont typeface="+mj-lt"/>
              <a:buAutoNum type="arabicPeriod"/>
            </a:pPr>
            <a:r>
              <a:rPr lang="en-DK" sz="1400" b="1" i="0" dirty="0">
                <a:solidFill>
                  <a:srgbClr val="212529"/>
                </a:solidFill>
                <a:effectLst/>
                <a:latin typeface="+mj-lt"/>
              </a:rPr>
              <a:t>Identification</a:t>
            </a:r>
            <a:r>
              <a:rPr lang="en-DK" sz="1400" b="0" i="0" dirty="0">
                <a:solidFill>
                  <a:srgbClr val="212529"/>
                </a:solidFill>
                <a:effectLst/>
                <a:latin typeface="+mj-lt"/>
              </a:rPr>
              <a:t>: Uses MS2Query and SIRIUS to identify compounds based on their MS2 spectral data.</a:t>
            </a:r>
          </a:p>
          <a:p>
            <a:pPr marL="342900" lvl="0" indent="-342900" algn="l">
              <a:buFont typeface="+mj-lt"/>
              <a:buAutoNum type="arabicPeriod"/>
            </a:pPr>
            <a:r>
              <a:rPr lang="en-DK" sz="1400" b="1" i="0" dirty="0">
                <a:solidFill>
                  <a:srgbClr val="212529"/>
                </a:solidFill>
                <a:effectLst/>
                <a:latin typeface="+mj-lt"/>
              </a:rPr>
              <a:t>Output Generation</a:t>
            </a:r>
            <a:r>
              <a:rPr lang="en-DK" sz="1400" b="0" i="0" dirty="0">
                <a:solidFill>
                  <a:srgbClr val="212529"/>
                </a:solidFill>
                <a:effectLst/>
                <a:latin typeface="+mj-lt"/>
              </a:rPr>
              <a:t>: Produces a comprehensive list of detected and potentially identified metabolites.</a:t>
            </a:r>
          </a:p>
        </p:txBody>
      </p:sp>
    </p:spTree>
    <p:extLst>
      <p:ext uri="{BB962C8B-B14F-4D97-AF65-F5344CB8AC3E}">
        <p14:creationId xmlns:p14="http://schemas.microsoft.com/office/powerpoint/2010/main" val="3440578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Metabolomics: nf-core/metaboigniter (</a:t>
            </a:r>
            <a:r>
              <a:rPr lang="en-US" sz="3200" b="1" dirty="0" err="1">
                <a:solidFill>
                  <a:schemeClr val="tx1"/>
                </a:solidFill>
                <a:latin typeface="Cambria" pitchFamily="34" charset="0"/>
                <a:ea typeface="Cambria" pitchFamily="34" charset="-122"/>
                <a:cs typeface="Cambria" pitchFamily="34" charset="-120"/>
              </a:rPr>
              <a:t>OpenMS</a:t>
            </a:r>
            <a:r>
              <a:rPr lang="en-US" sz="3200" b="1" dirty="0">
                <a:solidFill>
                  <a:schemeClr val="tx1"/>
                </a:solidFill>
                <a:latin typeface="Cambria" pitchFamily="34" charset="0"/>
                <a:ea typeface="Cambria" pitchFamily="34" charset="-122"/>
                <a:cs typeface="Cambria" pitchFamily="34" charset="-120"/>
              </a:rPr>
              <a:t>)</a:t>
            </a:r>
            <a:br>
              <a:rPr lang="en-US" sz="3200" b="1" dirty="0">
                <a:solidFill>
                  <a:schemeClr val="tx1"/>
                </a:solidFill>
                <a:latin typeface="Cambria" pitchFamily="34" charset="0"/>
                <a:ea typeface="Cambria" pitchFamily="34" charset="-122"/>
                <a:cs typeface="Cambria" pitchFamily="34" charset="-120"/>
              </a:rPr>
            </a:br>
            <a:r>
              <a:rPr lang="en-US" sz="3200" b="1" dirty="0">
                <a:solidFill>
                  <a:schemeClr val="tx1"/>
                </a:solidFill>
                <a:latin typeface="Cambria" pitchFamily="34" charset="0"/>
                <a:ea typeface="Cambria" pitchFamily="34" charset="-122"/>
                <a:cs typeface="Cambria" pitchFamily="34" charset="-120"/>
              </a:rPr>
              <a:t>To keep in mind if you run the original course another day</a:t>
            </a:r>
            <a:endParaRPr lang="en-US" sz="3200" dirty="0"/>
          </a:p>
        </p:txBody>
      </p:sp>
      <p:sp>
        <p:nvSpPr>
          <p:cNvPr id="3" name="metab step 1"/>
          <p:cNvSpPr/>
          <p:nvPr/>
        </p:nvSpPr>
        <p:spPr>
          <a:xfrm>
            <a:off x="548640" y="1453896"/>
            <a:ext cx="384048" cy="384048"/>
          </a:xfrm>
          <a:prstGeom prst="ellipse">
            <a:avLst/>
          </a:prstGeom>
          <a:solidFill>
            <a:schemeClr val="accent2"/>
          </a:solidFill>
          <a:ln/>
        </p:spPr>
        <p:txBody>
          <a:bodyPr/>
          <a:lstStyle/>
          <a:p>
            <a:endParaRPr lang="en-DK"/>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097280" y="1417320"/>
            <a:ext cx="4206240" cy="457200"/>
          </a:xfrm>
          <a:prstGeom prst="rect">
            <a:avLst/>
          </a:prstGeom>
          <a:noFill/>
          <a:ln/>
        </p:spPr>
        <p:txBody>
          <a:bodyPr wrap="square" lIns="0" tIns="0" rIns="0" bIns="0" rtlCol="0" anchor="ctr"/>
          <a:lstStyle/>
          <a:p>
            <a:pPr marL="0" indent="0">
              <a:buNone/>
            </a:pPr>
            <a:r>
              <a:rPr lang="en-US" sz="1500" dirty="0">
                <a:solidFill>
                  <a:schemeClr val="tx1"/>
                </a:solidFill>
              </a:rPr>
              <a:t>Peak picking</a:t>
            </a:r>
            <a:endParaRPr lang="en-US" sz="1500" dirty="0"/>
          </a:p>
        </p:txBody>
      </p:sp>
      <p:sp>
        <p:nvSpPr>
          <p:cNvPr id="6" name="metab step 2"/>
          <p:cNvSpPr/>
          <p:nvPr/>
        </p:nvSpPr>
        <p:spPr>
          <a:xfrm>
            <a:off x="548640" y="2002536"/>
            <a:ext cx="384048" cy="384048"/>
          </a:xfrm>
          <a:prstGeom prst="ellipse">
            <a:avLst/>
          </a:prstGeom>
          <a:solidFill>
            <a:schemeClr val="accent2"/>
          </a:solidFill>
          <a:ln/>
        </p:spPr>
        <p:txBody>
          <a:bodyPr/>
          <a:lstStyle/>
          <a:p>
            <a:endParaRPr lang="en-DK"/>
          </a:p>
        </p:txBody>
      </p:sp>
      <p:sp>
        <p:nvSpPr>
          <p:cNvPr id="7" name="Text 5"/>
          <p:cNvSpPr txBox="1"/>
          <p:nvPr/>
        </p:nvSpPr>
        <p:spPr>
          <a:xfrm>
            <a:off x="548640" y="200253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8" name="Text 6"/>
          <p:cNvSpPr txBox="1"/>
          <p:nvPr/>
        </p:nvSpPr>
        <p:spPr>
          <a:xfrm>
            <a:off x="1097280" y="1965960"/>
            <a:ext cx="4206240" cy="457200"/>
          </a:xfrm>
          <a:prstGeom prst="rect">
            <a:avLst/>
          </a:prstGeom>
          <a:noFill/>
          <a:ln/>
        </p:spPr>
        <p:txBody>
          <a:bodyPr wrap="square" lIns="0" tIns="0" rIns="0" bIns="0" rtlCol="0" anchor="ctr"/>
          <a:lstStyle/>
          <a:p>
            <a:pPr marL="0" indent="0">
              <a:buNone/>
            </a:pPr>
            <a:r>
              <a:rPr lang="en-US" sz="1500" dirty="0">
                <a:solidFill>
                  <a:schemeClr val="tx1"/>
                </a:solidFill>
              </a:rPr>
              <a:t>Feature detection</a:t>
            </a:r>
            <a:endParaRPr lang="en-US" sz="1500" dirty="0"/>
          </a:p>
        </p:txBody>
      </p:sp>
      <p:sp>
        <p:nvSpPr>
          <p:cNvPr id="9" name="metab step 3"/>
          <p:cNvSpPr/>
          <p:nvPr/>
        </p:nvSpPr>
        <p:spPr>
          <a:xfrm>
            <a:off x="548640" y="2551176"/>
            <a:ext cx="384048" cy="384048"/>
          </a:xfrm>
          <a:prstGeom prst="ellipse">
            <a:avLst/>
          </a:prstGeom>
          <a:solidFill>
            <a:schemeClr val="accent2"/>
          </a:solidFill>
          <a:ln/>
        </p:spPr>
        <p:txBody>
          <a:bodyPr/>
          <a:lstStyle/>
          <a:p>
            <a:endParaRPr lang="en-DK"/>
          </a:p>
        </p:txBody>
      </p:sp>
      <p:sp>
        <p:nvSpPr>
          <p:cNvPr id="10" name="Text 8"/>
          <p:cNvSpPr txBox="1"/>
          <p:nvPr/>
        </p:nvSpPr>
        <p:spPr>
          <a:xfrm>
            <a:off x="548640" y="255117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1" name="Text 9"/>
          <p:cNvSpPr txBox="1"/>
          <p:nvPr/>
        </p:nvSpPr>
        <p:spPr>
          <a:xfrm>
            <a:off x="1097280" y="2514600"/>
            <a:ext cx="4206240" cy="457200"/>
          </a:xfrm>
          <a:prstGeom prst="rect">
            <a:avLst/>
          </a:prstGeom>
          <a:noFill/>
          <a:ln/>
        </p:spPr>
        <p:txBody>
          <a:bodyPr wrap="square" lIns="0" tIns="0" rIns="0" bIns="0" rtlCol="0" anchor="ctr"/>
          <a:lstStyle/>
          <a:p>
            <a:pPr marL="0" indent="0">
              <a:buNone/>
            </a:pPr>
            <a:r>
              <a:rPr lang="en-US" sz="1500" dirty="0">
                <a:solidFill>
                  <a:schemeClr val="tx1"/>
                </a:solidFill>
              </a:rPr>
              <a:t>Adduct grouping</a:t>
            </a:r>
            <a:endParaRPr lang="en-US" sz="1500" dirty="0"/>
          </a:p>
        </p:txBody>
      </p:sp>
      <p:sp>
        <p:nvSpPr>
          <p:cNvPr id="12" name="metab step 4"/>
          <p:cNvSpPr/>
          <p:nvPr/>
        </p:nvSpPr>
        <p:spPr>
          <a:xfrm>
            <a:off x="548640" y="3099816"/>
            <a:ext cx="384048" cy="384048"/>
          </a:xfrm>
          <a:prstGeom prst="ellipse">
            <a:avLst/>
          </a:prstGeom>
          <a:solidFill>
            <a:schemeClr val="accent2"/>
          </a:solidFill>
          <a:ln/>
        </p:spPr>
        <p:txBody>
          <a:bodyPr/>
          <a:lstStyle/>
          <a:p>
            <a:endParaRPr lang="en-DK"/>
          </a:p>
        </p:txBody>
      </p:sp>
      <p:sp>
        <p:nvSpPr>
          <p:cNvPr id="13" name="Text 11"/>
          <p:cNvSpPr txBox="1"/>
          <p:nvPr/>
        </p:nvSpPr>
        <p:spPr>
          <a:xfrm>
            <a:off x="548640" y="309981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4" name="Text 12"/>
          <p:cNvSpPr txBox="1"/>
          <p:nvPr/>
        </p:nvSpPr>
        <p:spPr>
          <a:xfrm>
            <a:off x="1097280" y="3063240"/>
            <a:ext cx="4206240" cy="457200"/>
          </a:xfrm>
          <a:prstGeom prst="rect">
            <a:avLst/>
          </a:prstGeom>
          <a:noFill/>
          <a:ln/>
        </p:spPr>
        <p:txBody>
          <a:bodyPr wrap="square" lIns="0" tIns="0" rIns="0" bIns="0" rtlCol="0" anchor="ctr"/>
          <a:lstStyle/>
          <a:p>
            <a:pPr marL="0" indent="0">
              <a:buNone/>
            </a:pPr>
            <a:r>
              <a:rPr lang="en-US" sz="1500" dirty="0">
                <a:solidFill>
                  <a:schemeClr val="tx1"/>
                </a:solidFill>
              </a:rPr>
              <a:t>RT alignment</a:t>
            </a:r>
            <a:endParaRPr lang="en-US" sz="1500" dirty="0"/>
          </a:p>
        </p:txBody>
      </p:sp>
      <p:sp>
        <p:nvSpPr>
          <p:cNvPr id="15" name="metab step 5"/>
          <p:cNvSpPr/>
          <p:nvPr/>
        </p:nvSpPr>
        <p:spPr>
          <a:xfrm>
            <a:off x="548640" y="3648456"/>
            <a:ext cx="384048" cy="384048"/>
          </a:xfrm>
          <a:prstGeom prst="ellipse">
            <a:avLst/>
          </a:prstGeom>
          <a:solidFill>
            <a:schemeClr val="accent2"/>
          </a:solidFill>
          <a:ln/>
        </p:spPr>
        <p:txBody>
          <a:bodyPr/>
          <a:lstStyle/>
          <a:p>
            <a:endParaRPr lang="en-DK"/>
          </a:p>
        </p:txBody>
      </p:sp>
      <p:sp>
        <p:nvSpPr>
          <p:cNvPr id="16" name="Text 14"/>
          <p:cNvSpPr txBox="1"/>
          <p:nvPr/>
        </p:nvSpPr>
        <p:spPr>
          <a:xfrm>
            <a:off x="548640" y="364845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7" name="Text 15"/>
          <p:cNvSpPr txBox="1"/>
          <p:nvPr/>
        </p:nvSpPr>
        <p:spPr>
          <a:xfrm>
            <a:off x="1097280" y="3611880"/>
            <a:ext cx="4206240" cy="457200"/>
          </a:xfrm>
          <a:prstGeom prst="rect">
            <a:avLst/>
          </a:prstGeom>
          <a:noFill/>
          <a:ln/>
        </p:spPr>
        <p:txBody>
          <a:bodyPr wrap="square" lIns="0" tIns="0" rIns="0" bIns="0" rtlCol="0" anchor="ctr"/>
          <a:lstStyle/>
          <a:p>
            <a:pPr marL="0" indent="0">
              <a:buNone/>
            </a:pPr>
            <a:r>
              <a:rPr lang="en-US" sz="1500" dirty="0">
                <a:solidFill>
                  <a:schemeClr val="tx1"/>
                </a:solidFill>
              </a:rPr>
              <a:t>Link across samples</a:t>
            </a:r>
            <a:endParaRPr lang="en-US" sz="1500" dirty="0"/>
          </a:p>
        </p:txBody>
      </p:sp>
      <p:sp>
        <p:nvSpPr>
          <p:cNvPr id="18" name="metab step 6"/>
          <p:cNvSpPr/>
          <p:nvPr/>
        </p:nvSpPr>
        <p:spPr>
          <a:xfrm>
            <a:off x="548640" y="4197096"/>
            <a:ext cx="384048" cy="384048"/>
          </a:xfrm>
          <a:prstGeom prst="ellipse">
            <a:avLst/>
          </a:prstGeom>
          <a:solidFill>
            <a:schemeClr val="accent2"/>
          </a:solidFill>
          <a:ln/>
        </p:spPr>
        <p:txBody>
          <a:bodyPr/>
          <a:lstStyle/>
          <a:p>
            <a:endParaRPr lang="en-DK"/>
          </a:p>
        </p:txBody>
      </p:sp>
      <p:sp>
        <p:nvSpPr>
          <p:cNvPr id="19" name="Text 17"/>
          <p:cNvSpPr txBox="1"/>
          <p:nvPr/>
        </p:nvSpPr>
        <p:spPr>
          <a:xfrm>
            <a:off x="548640" y="419709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0" name="Text 18"/>
          <p:cNvSpPr txBox="1"/>
          <p:nvPr/>
        </p:nvSpPr>
        <p:spPr>
          <a:xfrm>
            <a:off x="1097280" y="4160520"/>
            <a:ext cx="4206240" cy="457200"/>
          </a:xfrm>
          <a:prstGeom prst="rect">
            <a:avLst/>
          </a:prstGeom>
          <a:noFill/>
          <a:ln/>
        </p:spPr>
        <p:txBody>
          <a:bodyPr wrap="square" lIns="0" tIns="0" rIns="0" bIns="0" rtlCol="0" anchor="ctr"/>
          <a:lstStyle/>
          <a:p>
            <a:pPr marL="0" indent="0">
              <a:buNone/>
            </a:pPr>
            <a:r>
              <a:rPr lang="en-US" sz="1500" dirty="0">
                <a:solidFill>
                  <a:schemeClr val="tx1"/>
                </a:solidFill>
              </a:rPr>
              <a:t>Requantify</a:t>
            </a:r>
            <a:endParaRPr lang="en-US" sz="1500" dirty="0"/>
          </a:p>
        </p:txBody>
      </p:sp>
      <p:sp>
        <p:nvSpPr>
          <p:cNvPr id="21" name="metab step 7"/>
          <p:cNvSpPr/>
          <p:nvPr/>
        </p:nvSpPr>
        <p:spPr>
          <a:xfrm>
            <a:off x="548640" y="4745736"/>
            <a:ext cx="384048" cy="384048"/>
          </a:xfrm>
          <a:prstGeom prst="ellipse">
            <a:avLst/>
          </a:prstGeom>
          <a:solidFill>
            <a:schemeClr val="accent2"/>
          </a:solidFill>
          <a:ln/>
        </p:spPr>
        <p:txBody>
          <a:bodyPr/>
          <a:lstStyle/>
          <a:p>
            <a:endParaRPr lang="en-DK"/>
          </a:p>
        </p:txBody>
      </p:sp>
      <p:sp>
        <p:nvSpPr>
          <p:cNvPr id="22" name="Text 20"/>
          <p:cNvSpPr txBox="1"/>
          <p:nvPr/>
        </p:nvSpPr>
        <p:spPr>
          <a:xfrm>
            <a:off x="548640" y="474573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7</a:t>
            </a:r>
            <a:endParaRPr lang="en-US" sz="1300" dirty="0"/>
          </a:p>
        </p:txBody>
      </p:sp>
      <p:sp>
        <p:nvSpPr>
          <p:cNvPr id="23" name="Text 21"/>
          <p:cNvSpPr txBox="1"/>
          <p:nvPr/>
        </p:nvSpPr>
        <p:spPr>
          <a:xfrm>
            <a:off x="1097280" y="4709160"/>
            <a:ext cx="4206240" cy="457200"/>
          </a:xfrm>
          <a:prstGeom prst="rect">
            <a:avLst/>
          </a:prstGeom>
          <a:noFill/>
          <a:ln/>
        </p:spPr>
        <p:txBody>
          <a:bodyPr wrap="square" lIns="0" tIns="0" rIns="0" bIns="0" rtlCol="0" anchor="ctr"/>
          <a:lstStyle/>
          <a:p>
            <a:pPr marL="0" indent="0">
              <a:buNone/>
            </a:pPr>
            <a:r>
              <a:rPr lang="en-US" sz="1500" dirty="0">
                <a:solidFill>
                  <a:schemeClr val="tx1"/>
                </a:solidFill>
              </a:rPr>
              <a:t>Identify (SIRIUS, MS2Query)</a:t>
            </a:r>
            <a:endParaRPr lang="en-US" sz="1500" dirty="0"/>
          </a:p>
        </p:txBody>
      </p:sp>
      <p:sp>
        <p:nvSpPr>
          <p:cNvPr id="24" name="Text 22"/>
          <p:cNvSpPr txBox="1"/>
          <p:nvPr/>
        </p:nvSpPr>
        <p:spPr>
          <a:xfrm>
            <a:off x="548640" y="5303520"/>
            <a:ext cx="5120640" cy="365760"/>
          </a:xfrm>
          <a:prstGeom prst="rect">
            <a:avLst/>
          </a:prstGeom>
          <a:noFill/>
          <a:ln/>
        </p:spPr>
        <p:txBody>
          <a:bodyPr wrap="square" lIns="0" tIns="0" rIns="0" bIns="0" rtlCol="0" anchor="t"/>
          <a:lstStyle/>
          <a:p>
            <a:pPr marL="0" indent="0">
              <a:buNone/>
            </a:pPr>
            <a:r>
              <a:rPr lang="en-US" sz="1400" b="1" dirty="0">
                <a:solidFill>
                  <a:schemeClr val="accent2"/>
                </a:solidFill>
              </a:rPr>
              <a:t>→ feature table: m/z · RT · adduct · intensity per sample</a:t>
            </a:r>
            <a:endParaRPr lang="en-US" sz="1400" dirty="0"/>
          </a:p>
        </p:txBody>
      </p:sp>
      <p:sp>
        <p:nvSpPr>
          <p:cNvPr id="25" name="caveat card"/>
          <p:cNvSpPr/>
          <p:nvPr/>
        </p:nvSpPr>
        <p:spPr>
          <a:xfrm>
            <a:off x="6035040" y="1417320"/>
            <a:ext cx="5608015" cy="4251960"/>
          </a:xfrm>
          <a:prstGeom prst="roundRect">
            <a:avLst>
              <a:gd name="adj" fmla="val 2581"/>
            </a:avLst>
          </a:prstGeom>
          <a:solidFill>
            <a:schemeClr val="bg2"/>
          </a:solidFill>
          <a:ln/>
        </p:spPr>
        <p:txBody>
          <a:bodyPr/>
          <a:lstStyle/>
          <a:p>
            <a:endParaRPr lang="en-DK"/>
          </a:p>
        </p:txBody>
      </p:sp>
      <p:sp>
        <p:nvSpPr>
          <p:cNvPr id="26" name="caveat disc"/>
          <p:cNvSpPr/>
          <p:nvPr/>
        </p:nvSpPr>
        <p:spPr>
          <a:xfrm>
            <a:off x="6263640" y="1645920"/>
            <a:ext cx="685800" cy="685800"/>
          </a:xfrm>
          <a:prstGeom prst="ellipse">
            <a:avLst/>
          </a:prstGeom>
          <a:solidFill>
            <a:schemeClr val="accent3"/>
          </a:solidFill>
          <a:ln/>
        </p:spPr>
        <p:txBody>
          <a:bodyPr/>
          <a:lstStyle/>
          <a:p>
            <a:endParaRPr lang="en-DK"/>
          </a:p>
        </p:txBody>
      </p:sp>
      <p:pic>
        <p:nvPicPr>
          <p:cNvPr id="27" name="caveat icon" descr="preencoded.png"/>
          <p:cNvPicPr>
            <a:picLocks noChangeAspect="1"/>
          </p:cNvPicPr>
          <p:nvPr/>
        </p:nvPicPr>
        <p:blipFill>
          <a:blip r:embed="rId3"/>
          <a:stretch>
            <a:fillRect/>
          </a:stretch>
        </p:blipFill>
        <p:spPr>
          <a:xfrm>
            <a:off x="6435090" y="1817370"/>
            <a:ext cx="342900" cy="342900"/>
          </a:xfrm>
          <a:prstGeom prst="rect">
            <a:avLst/>
          </a:prstGeom>
        </p:spPr>
      </p:pic>
      <p:sp>
        <p:nvSpPr>
          <p:cNvPr id="28" name="Text 25"/>
          <p:cNvSpPr txBox="1"/>
          <p:nvPr/>
        </p:nvSpPr>
        <p:spPr>
          <a:xfrm>
            <a:off x="7086600" y="1691640"/>
            <a:ext cx="4389120" cy="64008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Our cohort cannot go through it</a:t>
            </a:r>
            <a:endParaRPr lang="en-US" sz="1900" dirty="0"/>
          </a:p>
        </p:txBody>
      </p:sp>
      <p:sp>
        <p:nvSpPr>
          <p:cNvPr id="29" name="Text 26"/>
          <p:cNvSpPr txBox="1"/>
          <p:nvPr/>
        </p:nvSpPr>
        <p:spPr>
          <a:xfrm>
            <a:off x="6309360" y="2514600"/>
            <a:ext cx="512064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metaboigniter is untargeted: it picks peaks from full-scan spectra</a:t>
            </a:r>
            <a:endParaRPr lang="en-US" sz="1500" dirty="0"/>
          </a:p>
          <a:p>
            <a:pPr marL="342900" indent="-342900">
              <a:spcAft>
                <a:spcPts val="800"/>
              </a:spcAft>
              <a:buSzPct val="100000"/>
              <a:buChar char="•"/>
            </a:pPr>
            <a:r>
              <a:rPr lang="en-US" sz="1500" dirty="0">
                <a:solidFill>
                  <a:schemeClr val="tx2"/>
                </a:solidFill>
              </a:rPr>
              <a:t>MTBLS14016 is targeted MRM: each mzML holds ~1 550 SRM chromatograms and zero spectra</a:t>
            </a:r>
            <a:endParaRPr lang="en-US" sz="1500" dirty="0"/>
          </a:p>
          <a:p>
            <a:pPr marL="342900" indent="-342900">
              <a:spcAft>
                <a:spcPts val="800"/>
              </a:spcAft>
              <a:buSzPct val="100000"/>
              <a:buChar char="•"/>
            </a:pPr>
            <a:r>
              <a:rPr lang="en-US" sz="1500" dirty="0">
                <a:solidFill>
                  <a:schemeClr val="tx2"/>
                </a:solidFill>
              </a:rPr>
              <a:t>Course solution: show where an MRM peak area comes from, then run metaboigniter on a small untargeted study (MTBLS8735)</a:t>
            </a:r>
            <a:endParaRPr lang="en-US" sz="1500" dirty="0"/>
          </a:p>
          <a:p>
            <a:pPr marL="342900" indent="-342900">
              <a:spcAft>
                <a:spcPts val="800"/>
              </a:spcAft>
              <a:buSzPct val="100000"/>
              <a:buChar char="•"/>
            </a:pPr>
            <a:r>
              <a:rPr lang="en-US" sz="1500" dirty="0">
                <a:solidFill>
                  <a:schemeClr val="tx2"/>
                </a:solidFill>
              </a:rPr>
              <a:t>The cohort matrix = vendor-integrated MRM peak areas</a:t>
            </a:r>
            <a:endParaRPr lang="en-US" sz="1500" dirty="0"/>
          </a:p>
        </p:txBody>
      </p:sp>
      <p:sp>
        <p:nvSpPr>
          <p:cNvPr id="30"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Traps that come with real public data</a:t>
            </a:r>
            <a:endParaRPr lang="en-US" sz="3200" dirty="0"/>
          </a:p>
        </p:txBody>
      </p:sp>
      <p:sp>
        <p:nvSpPr>
          <p:cNvPr id="3" name="trap 1"/>
          <p:cNvSpPr/>
          <p:nvPr/>
        </p:nvSpPr>
        <p:spPr>
          <a:xfrm>
            <a:off x="548640" y="1417320"/>
            <a:ext cx="5440680" cy="1920240"/>
          </a:xfrm>
          <a:prstGeom prst="roundRect">
            <a:avLst>
              <a:gd name="adj" fmla="val 5714"/>
            </a:avLst>
          </a:prstGeom>
          <a:solidFill>
            <a:schemeClr val="bg2"/>
          </a:solidFill>
          <a:ln/>
        </p:spPr>
        <p:txBody>
          <a:bodyPr/>
          <a:lstStyle/>
          <a:p>
            <a:endParaRPr lang="en-DK"/>
          </a:p>
        </p:txBody>
      </p:sp>
      <p:sp>
        <p:nvSpPr>
          <p:cNvPr id="4" name="trap 1 disc"/>
          <p:cNvSpPr/>
          <p:nvPr/>
        </p:nvSpPr>
        <p:spPr>
          <a:xfrm>
            <a:off x="777240" y="1691640"/>
            <a:ext cx="685800" cy="685800"/>
          </a:xfrm>
          <a:prstGeom prst="ellipse">
            <a:avLst/>
          </a:prstGeom>
          <a:solidFill>
            <a:schemeClr val="tx2"/>
          </a:solidFill>
          <a:ln/>
        </p:spPr>
        <p:txBody>
          <a:bodyPr/>
          <a:lstStyle/>
          <a:p>
            <a:endParaRPr lang="en-DK"/>
          </a:p>
        </p:txBody>
      </p:sp>
      <p:pic>
        <p:nvPicPr>
          <p:cNvPr id="5" name="trap 1 icon" descr="preencoded.png"/>
          <p:cNvPicPr>
            <a:picLocks noChangeAspect="1"/>
          </p:cNvPicPr>
          <p:nvPr/>
        </p:nvPicPr>
        <p:blipFill>
          <a:blip r:embed="rId3"/>
          <a:stretch>
            <a:fillRect/>
          </a:stretch>
        </p:blipFill>
        <p:spPr>
          <a:xfrm>
            <a:off x="948690" y="1863090"/>
            <a:ext cx="342900" cy="342900"/>
          </a:xfrm>
          <a:prstGeom prst="rect">
            <a:avLst/>
          </a:prstGeom>
        </p:spPr>
      </p:pic>
      <p:sp>
        <p:nvSpPr>
          <p:cNvPr id="6" name="Text 3"/>
          <p:cNvSpPr txBox="1"/>
          <p:nvPr/>
        </p:nvSpPr>
        <p:spPr>
          <a:xfrm>
            <a:off x="1645920" y="1691640"/>
            <a:ext cx="411480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Sample names differ</a:t>
            </a:r>
            <a:endParaRPr lang="en-US" sz="1800" dirty="0"/>
          </a:p>
        </p:txBody>
      </p:sp>
      <p:sp>
        <p:nvSpPr>
          <p:cNvPr id="7" name="Text 4"/>
          <p:cNvSpPr txBox="1"/>
          <p:nvPr/>
        </p:nvSpPr>
        <p:spPr>
          <a:xfrm>
            <a:off x="1645920" y="2194560"/>
            <a:ext cx="4114800" cy="1051560"/>
          </a:xfrm>
          <a:prstGeom prst="rect">
            <a:avLst/>
          </a:prstGeom>
          <a:noFill/>
          <a:ln/>
        </p:spPr>
        <p:txBody>
          <a:bodyPr wrap="square" lIns="0" tIns="0" rIns="0" bIns="0" rtlCol="0" anchor="t"/>
          <a:lstStyle/>
          <a:p>
            <a:pPr marL="0" indent="0">
              <a:buNone/>
            </a:pPr>
            <a:r>
              <a:rPr lang="en-US" sz="1400" dirty="0">
                <a:solidFill>
                  <a:schemeClr val="tx2"/>
                </a:solidFill>
              </a:rPr>
              <a:t>DIA-NN headers say CPKP1–15, everything else CRKP1–15. Join on the wrong string and 15 patients vanish silently.</a:t>
            </a:r>
            <a:endParaRPr lang="en-US" sz="1400" dirty="0"/>
          </a:p>
        </p:txBody>
      </p:sp>
      <p:sp>
        <p:nvSpPr>
          <p:cNvPr id="8" name="trap 2"/>
          <p:cNvSpPr/>
          <p:nvPr/>
        </p:nvSpPr>
        <p:spPr>
          <a:xfrm>
            <a:off x="6172200" y="1417320"/>
            <a:ext cx="5440680" cy="1920240"/>
          </a:xfrm>
          <a:prstGeom prst="roundRect">
            <a:avLst>
              <a:gd name="adj" fmla="val 5714"/>
            </a:avLst>
          </a:prstGeom>
          <a:solidFill>
            <a:schemeClr val="bg2"/>
          </a:solidFill>
          <a:ln/>
        </p:spPr>
        <p:txBody>
          <a:bodyPr/>
          <a:lstStyle/>
          <a:p>
            <a:endParaRPr lang="en-DK"/>
          </a:p>
        </p:txBody>
      </p:sp>
      <p:sp>
        <p:nvSpPr>
          <p:cNvPr id="9" name="trap 2 disc"/>
          <p:cNvSpPr/>
          <p:nvPr/>
        </p:nvSpPr>
        <p:spPr>
          <a:xfrm>
            <a:off x="6400800" y="1691640"/>
            <a:ext cx="685800" cy="685800"/>
          </a:xfrm>
          <a:prstGeom prst="ellipse">
            <a:avLst/>
          </a:prstGeom>
          <a:solidFill>
            <a:schemeClr val="tx2"/>
          </a:solidFill>
          <a:ln/>
        </p:spPr>
        <p:txBody>
          <a:bodyPr/>
          <a:lstStyle/>
          <a:p>
            <a:endParaRPr lang="en-DK"/>
          </a:p>
        </p:txBody>
      </p:sp>
      <p:pic>
        <p:nvPicPr>
          <p:cNvPr id="10" name="trap 2 icon" descr="preencoded.png"/>
          <p:cNvPicPr>
            <a:picLocks noChangeAspect="1"/>
          </p:cNvPicPr>
          <p:nvPr/>
        </p:nvPicPr>
        <p:blipFill>
          <a:blip r:embed="rId4"/>
          <a:stretch>
            <a:fillRect/>
          </a:stretch>
        </p:blipFill>
        <p:spPr>
          <a:xfrm>
            <a:off x="6572250" y="1863090"/>
            <a:ext cx="342900" cy="342900"/>
          </a:xfrm>
          <a:prstGeom prst="rect">
            <a:avLst/>
          </a:prstGeom>
        </p:spPr>
      </p:pic>
      <p:sp>
        <p:nvSpPr>
          <p:cNvPr id="11" name="Text 7"/>
          <p:cNvSpPr txBox="1"/>
          <p:nvPr/>
        </p:nvSpPr>
        <p:spPr>
          <a:xfrm>
            <a:off x="7269480" y="1691640"/>
            <a:ext cx="411480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QC samples are not patients</a:t>
            </a:r>
            <a:endParaRPr lang="en-US" sz="1800" dirty="0"/>
          </a:p>
        </p:txBody>
      </p:sp>
      <p:sp>
        <p:nvSpPr>
          <p:cNvPr id="12" name="Text 8"/>
          <p:cNvSpPr txBox="1"/>
          <p:nvPr/>
        </p:nvSpPr>
        <p:spPr>
          <a:xfrm>
            <a:off x="7269480" y="2194560"/>
            <a:ext cx="4114800" cy="1051560"/>
          </a:xfrm>
          <a:prstGeom prst="rect">
            <a:avLst/>
          </a:prstGeom>
          <a:noFill/>
          <a:ln/>
        </p:spPr>
        <p:txBody>
          <a:bodyPr wrap="square" lIns="0" tIns="0" rIns="0" bIns="0" rtlCol="0" anchor="t"/>
          <a:lstStyle/>
          <a:p>
            <a:pPr marL="0" indent="0">
              <a:buNone/>
            </a:pPr>
            <a:r>
              <a:rPr lang="en-US" sz="1400" dirty="0">
                <a:solidFill>
                  <a:schemeClr val="tx2"/>
                </a:solidFill>
              </a:rPr>
              <a:t>QC_pool1–3 vs QC01–06 — exclude before integrating. The notebooks assert 45 shared patients.</a:t>
            </a:r>
            <a:endParaRPr lang="en-US" sz="1400" dirty="0"/>
          </a:p>
        </p:txBody>
      </p:sp>
      <p:sp>
        <p:nvSpPr>
          <p:cNvPr id="13" name="trap 3"/>
          <p:cNvSpPr/>
          <p:nvPr/>
        </p:nvSpPr>
        <p:spPr>
          <a:xfrm>
            <a:off x="548640" y="3566160"/>
            <a:ext cx="5440680" cy="1920240"/>
          </a:xfrm>
          <a:prstGeom prst="roundRect">
            <a:avLst>
              <a:gd name="adj" fmla="val 5714"/>
            </a:avLst>
          </a:prstGeom>
          <a:solidFill>
            <a:schemeClr val="bg2"/>
          </a:solidFill>
          <a:ln/>
        </p:spPr>
        <p:txBody>
          <a:bodyPr/>
          <a:lstStyle/>
          <a:p>
            <a:endParaRPr lang="en-DK"/>
          </a:p>
        </p:txBody>
      </p:sp>
      <p:sp>
        <p:nvSpPr>
          <p:cNvPr id="14" name="trap 3 disc"/>
          <p:cNvSpPr/>
          <p:nvPr/>
        </p:nvSpPr>
        <p:spPr>
          <a:xfrm>
            <a:off x="777240" y="3840480"/>
            <a:ext cx="685800" cy="685800"/>
          </a:xfrm>
          <a:prstGeom prst="ellipse">
            <a:avLst/>
          </a:prstGeom>
          <a:solidFill>
            <a:schemeClr val="tx2"/>
          </a:solidFill>
          <a:ln/>
        </p:spPr>
        <p:txBody>
          <a:bodyPr/>
          <a:lstStyle/>
          <a:p>
            <a:endParaRPr lang="en-DK"/>
          </a:p>
        </p:txBody>
      </p:sp>
      <p:pic>
        <p:nvPicPr>
          <p:cNvPr id="15" name="trap 3 icon" descr="preencoded.png"/>
          <p:cNvPicPr>
            <a:picLocks noChangeAspect="1"/>
          </p:cNvPicPr>
          <p:nvPr/>
        </p:nvPicPr>
        <p:blipFill>
          <a:blip r:embed="rId5"/>
          <a:stretch>
            <a:fillRect/>
          </a:stretch>
        </p:blipFill>
        <p:spPr>
          <a:xfrm>
            <a:off x="948690" y="4011930"/>
            <a:ext cx="342900" cy="342900"/>
          </a:xfrm>
          <a:prstGeom prst="rect">
            <a:avLst/>
          </a:prstGeom>
        </p:spPr>
      </p:pic>
      <p:sp>
        <p:nvSpPr>
          <p:cNvPr id="16" name="Text 11"/>
          <p:cNvSpPr txBox="1"/>
          <p:nvPr/>
        </p:nvSpPr>
        <p:spPr>
          <a:xfrm>
            <a:off x="1645920" y="3840480"/>
            <a:ext cx="411480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Broken metadata</a:t>
            </a:r>
            <a:endParaRPr lang="en-US" sz="1800" dirty="0"/>
          </a:p>
        </p:txBody>
      </p:sp>
      <p:sp>
        <p:nvSpPr>
          <p:cNvPr id="17" name="Text 12"/>
          <p:cNvSpPr txBox="1"/>
          <p:nvPr/>
        </p:nvSpPr>
        <p:spPr>
          <a:xfrm>
            <a:off x="1645920" y="4343400"/>
            <a:ext cx="4114800" cy="1051560"/>
          </a:xfrm>
          <a:prstGeom prst="rect">
            <a:avLst/>
          </a:prstGeom>
          <a:noFill/>
          <a:ln/>
        </p:spPr>
        <p:txBody>
          <a:bodyPr wrap="square" lIns="0" tIns="0" rIns="0" bIns="0" rtlCol="0" anchor="t"/>
          <a:lstStyle/>
          <a:p>
            <a:pPr marL="0" indent="0">
              <a:buNone/>
            </a:pPr>
            <a:r>
              <a:rPr lang="en-US" sz="1400" dirty="0">
                <a:solidFill>
                  <a:schemeClr val="tx2"/>
                </a:solidFill>
              </a:rPr>
              <a:t>The two MetaboLights MAF files are byte-identical; assay tables pair samples with the wrong files.</a:t>
            </a:r>
            <a:endParaRPr lang="en-US" sz="1400" dirty="0"/>
          </a:p>
        </p:txBody>
      </p:sp>
      <p:sp>
        <p:nvSpPr>
          <p:cNvPr id="18" name="trap 4"/>
          <p:cNvSpPr/>
          <p:nvPr/>
        </p:nvSpPr>
        <p:spPr>
          <a:xfrm>
            <a:off x="6172200" y="3566160"/>
            <a:ext cx="5440680" cy="1920240"/>
          </a:xfrm>
          <a:prstGeom prst="roundRect">
            <a:avLst>
              <a:gd name="adj" fmla="val 5714"/>
            </a:avLst>
          </a:prstGeom>
          <a:solidFill>
            <a:schemeClr val="tx1"/>
          </a:solidFill>
          <a:ln/>
        </p:spPr>
        <p:txBody>
          <a:bodyPr/>
          <a:lstStyle/>
          <a:p>
            <a:endParaRPr lang="en-DK"/>
          </a:p>
        </p:txBody>
      </p:sp>
      <p:sp>
        <p:nvSpPr>
          <p:cNvPr id="19" name="trap 4 disc"/>
          <p:cNvSpPr/>
          <p:nvPr/>
        </p:nvSpPr>
        <p:spPr>
          <a:xfrm>
            <a:off x="6400800" y="3840480"/>
            <a:ext cx="685800" cy="685800"/>
          </a:xfrm>
          <a:prstGeom prst="ellipse">
            <a:avLst/>
          </a:prstGeom>
          <a:solidFill>
            <a:schemeClr val="accent3"/>
          </a:solidFill>
          <a:ln/>
        </p:spPr>
        <p:txBody>
          <a:bodyPr/>
          <a:lstStyle/>
          <a:p>
            <a:endParaRPr lang="en-DK"/>
          </a:p>
        </p:txBody>
      </p:sp>
      <p:pic>
        <p:nvPicPr>
          <p:cNvPr id="20" name="trap 4 icon" descr="preencoded.png"/>
          <p:cNvPicPr>
            <a:picLocks noChangeAspect="1"/>
          </p:cNvPicPr>
          <p:nvPr/>
        </p:nvPicPr>
        <p:blipFill>
          <a:blip r:embed="rId6"/>
          <a:stretch>
            <a:fillRect/>
          </a:stretch>
        </p:blipFill>
        <p:spPr>
          <a:xfrm>
            <a:off x="6572250" y="4011930"/>
            <a:ext cx="342900" cy="342900"/>
          </a:xfrm>
          <a:prstGeom prst="rect">
            <a:avLst/>
          </a:prstGeom>
        </p:spPr>
      </p:pic>
      <p:sp>
        <p:nvSpPr>
          <p:cNvPr id="21" name="Text 15"/>
          <p:cNvSpPr txBox="1"/>
          <p:nvPr/>
        </p:nvSpPr>
        <p:spPr>
          <a:xfrm>
            <a:off x="7269480" y="3840480"/>
            <a:ext cx="4114800" cy="45720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Run order = group</a:t>
            </a:r>
            <a:endParaRPr lang="en-US" sz="1800" dirty="0"/>
          </a:p>
        </p:txBody>
      </p:sp>
      <p:sp>
        <p:nvSpPr>
          <p:cNvPr id="22" name="Text 16"/>
          <p:cNvSpPr txBox="1"/>
          <p:nvPr/>
        </p:nvSpPr>
        <p:spPr>
          <a:xfrm>
            <a:off x="7269480" y="4343400"/>
            <a:ext cx="4114800" cy="1051560"/>
          </a:xfrm>
          <a:prstGeom prst="rect">
            <a:avLst/>
          </a:prstGeom>
          <a:noFill/>
          <a:ln/>
        </p:spPr>
        <p:txBody>
          <a:bodyPr wrap="square" lIns="0" tIns="0" rIns="0" bIns="0" rtlCol="0" anchor="t"/>
          <a:lstStyle/>
          <a:p>
            <a:pPr marL="0" indent="0">
              <a:buNone/>
            </a:pPr>
            <a:r>
              <a:rPr lang="en-US" sz="1400" dirty="0">
                <a:solidFill>
                  <a:schemeClr val="accent6"/>
                </a:solidFill>
              </a:rPr>
              <a:t>All Con, then all CSKP, then all CRKP. In Proteomics dataset the instrument drift is inseparable from biology; no injection order communicated for metabolomics.</a:t>
            </a:r>
            <a:endParaRPr lang="en-US" sz="1400" dirty="0"/>
          </a:p>
        </p:txBody>
      </p:sp>
      <p:sp>
        <p:nvSpPr>
          <p:cNvPr id="23" name="Text 17"/>
          <p:cNvSpPr txBox="1"/>
          <p:nvPr/>
        </p:nvSpPr>
        <p:spPr>
          <a:xfrm>
            <a:off x="548640" y="5806440"/>
            <a:ext cx="11094415" cy="365760"/>
          </a:xfrm>
          <a:prstGeom prst="rect">
            <a:avLst/>
          </a:prstGeom>
          <a:noFill/>
          <a:ln/>
        </p:spPr>
        <p:txBody>
          <a:bodyPr wrap="square" lIns="0" tIns="0" rIns="0" bIns="0" rtlCol="0" anchor="t"/>
          <a:lstStyle/>
          <a:p>
            <a:pPr marL="0" indent="0">
              <a:buNone/>
            </a:pPr>
            <a:r>
              <a:rPr lang="en-US" sz="1400" i="1" dirty="0">
                <a:solidFill>
                  <a:schemeClr val="accent5"/>
                </a:solidFill>
              </a:rPr>
              <a:t>Design lesson that costs nothing at the bench: randomise or interleave injection order — and deposit it.</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51760"/>
            <a:ext cx="10515600" cy="109728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3  ·  What each layer says on its own</a:t>
            </a:r>
            <a:endParaRPr lang="en-US" sz="4000" dirty="0"/>
          </a:p>
        </p:txBody>
      </p:sp>
      <p:sp>
        <p:nvSpPr>
          <p:cNvPr id="3" name="Text 0"/>
          <p:cNvSpPr>
            <a:spLocks noGrp="1"/>
          </p:cNvSpPr>
          <p:nvPr>
            <p:ph type="body" idx="101" hasCustomPrompt="1"/>
          </p:nvPr>
        </p:nvSpPr>
        <p:spPr>
          <a:xfrm>
            <a:off x="548640" y="3794760"/>
            <a:ext cx="10058400" cy="914400"/>
          </a:xfrm>
          <a:prstGeom prst="rect">
            <a:avLst/>
          </a:prstGeom>
          <a:noFill/>
          <a:ln/>
        </p:spPr>
        <p:txBody>
          <a:bodyPr wrap="square" rtlCol="0" anchor="t"/>
          <a:lstStyle/>
          <a:p>
            <a:pPr marL="0" indent="0">
              <a:buNone/>
            </a:pPr>
            <a:r>
              <a:rPr lang="en-US" sz="2000" dirty="0">
                <a:solidFill>
                  <a:schemeClr val="accent4">
                    <a:lumMod val="20000"/>
                    <a:lumOff val="80000"/>
                  </a:schemeClr>
                </a:solidFill>
                <a:latin typeface="Calibri" pitchFamily="34" charset="0"/>
                <a:ea typeface="Calibri" pitchFamily="34" charset="-122"/>
                <a:cs typeface="Calibri" pitchFamily="34" charset="-120"/>
              </a:rPr>
              <a:t>Main comparison: CRKP vs CSKP — same bacterium, different resistance</a:t>
            </a:r>
            <a:endParaRPr lang="en-US" sz="2000" dirty="0">
              <a:solidFill>
                <a:schemeClr val="accent4">
                  <a:lumMod val="20000"/>
                  <a:lumOff val="80000"/>
                </a:schemeClr>
              </a:solidFill>
            </a:endParaRPr>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Proteomics: six decisions from matrix to list</a:t>
            </a:r>
            <a:endParaRPr lang="en-US" sz="3200" dirty="0"/>
          </a:p>
        </p:txBody>
      </p:sp>
      <p:sp>
        <p:nvSpPr>
          <p:cNvPr id="3" name="prot flow log2"/>
          <p:cNvSpPr/>
          <p:nvPr/>
        </p:nvSpPr>
        <p:spPr>
          <a:xfrm>
            <a:off x="3305599" y="1413803"/>
            <a:ext cx="1734769" cy="685800"/>
          </a:xfrm>
          <a:prstGeom prst="chevron">
            <a:avLst/>
          </a:prstGeom>
          <a:solidFill>
            <a:schemeClr val="accent1"/>
          </a:solidFill>
          <a:ln/>
        </p:spPr>
        <p:txBody>
          <a:bodyPr/>
          <a:lstStyle/>
          <a:p>
            <a:endParaRPr lang="en-DK"/>
          </a:p>
        </p:txBody>
      </p:sp>
      <p:sp>
        <p:nvSpPr>
          <p:cNvPr id="4" name="Text 2"/>
          <p:cNvSpPr txBox="1"/>
          <p:nvPr/>
        </p:nvSpPr>
        <p:spPr>
          <a:xfrm>
            <a:off x="3534199" y="1413803"/>
            <a:ext cx="1277569" cy="685800"/>
          </a:xfrm>
          <a:prstGeom prst="rect">
            <a:avLst/>
          </a:prstGeom>
          <a:noFill/>
          <a:ln/>
        </p:spPr>
        <p:txBody>
          <a:bodyPr wrap="square" lIns="0" tIns="0" rIns="0" bIns="0" rtlCol="0" anchor="ctr"/>
          <a:lstStyle/>
          <a:p>
            <a:pPr marL="0" indent="0" algn="ctr">
              <a:buNone/>
            </a:pPr>
            <a:r>
              <a:rPr lang="en-US" sz="1600" b="1" dirty="0">
                <a:solidFill>
                  <a:schemeClr val="bg1"/>
                </a:solidFill>
              </a:rPr>
              <a:t>log2</a:t>
            </a:r>
            <a:endParaRPr lang="en-US" sz="1600" dirty="0"/>
          </a:p>
        </p:txBody>
      </p:sp>
      <p:sp>
        <p:nvSpPr>
          <p:cNvPr id="5" name="Text 3"/>
          <p:cNvSpPr txBox="1"/>
          <p:nvPr/>
        </p:nvSpPr>
        <p:spPr>
          <a:xfrm>
            <a:off x="3305599" y="2191043"/>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multiplicative → additive</a:t>
            </a:r>
            <a:endParaRPr lang="en-US" sz="1300" dirty="0"/>
          </a:p>
        </p:txBody>
      </p:sp>
      <p:sp>
        <p:nvSpPr>
          <p:cNvPr id="6" name="prot flow Filter"/>
          <p:cNvSpPr/>
          <p:nvPr/>
        </p:nvSpPr>
        <p:spPr>
          <a:xfrm>
            <a:off x="1515949" y="1413803"/>
            <a:ext cx="1734769" cy="685800"/>
          </a:xfrm>
          <a:prstGeom prst="chevron">
            <a:avLst/>
          </a:prstGeom>
          <a:solidFill>
            <a:schemeClr val="accent1"/>
          </a:solidFill>
          <a:ln/>
        </p:spPr>
        <p:txBody>
          <a:bodyPr/>
          <a:lstStyle/>
          <a:p>
            <a:endParaRPr lang="en-DK"/>
          </a:p>
        </p:txBody>
      </p:sp>
      <p:sp>
        <p:nvSpPr>
          <p:cNvPr id="7" name="Text 5"/>
          <p:cNvSpPr txBox="1"/>
          <p:nvPr/>
        </p:nvSpPr>
        <p:spPr>
          <a:xfrm>
            <a:off x="1744549" y="1413803"/>
            <a:ext cx="1277569" cy="685800"/>
          </a:xfrm>
          <a:prstGeom prst="rect">
            <a:avLst/>
          </a:prstGeom>
          <a:noFill/>
          <a:ln/>
        </p:spPr>
        <p:txBody>
          <a:bodyPr wrap="square" lIns="0" tIns="0" rIns="0" bIns="0" rtlCol="0" anchor="ctr"/>
          <a:lstStyle/>
          <a:p>
            <a:pPr marL="0" indent="0" algn="ctr">
              <a:buNone/>
            </a:pPr>
            <a:r>
              <a:rPr lang="en-US" sz="1600" b="1" dirty="0">
                <a:solidFill>
                  <a:schemeClr val="bg1"/>
                </a:solidFill>
              </a:rPr>
              <a:t>Filter</a:t>
            </a:r>
            <a:endParaRPr lang="en-US" sz="1600" dirty="0"/>
          </a:p>
        </p:txBody>
      </p:sp>
      <p:sp>
        <p:nvSpPr>
          <p:cNvPr id="8" name="Text 6"/>
          <p:cNvSpPr txBox="1"/>
          <p:nvPr/>
        </p:nvSpPr>
        <p:spPr>
          <a:xfrm>
            <a:off x="1515949" y="2191043"/>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filtered out proteins missing in ≥ 70 % of patients</a:t>
            </a:r>
            <a:endParaRPr lang="en-US" sz="1300" dirty="0"/>
          </a:p>
        </p:txBody>
      </p:sp>
      <p:sp>
        <p:nvSpPr>
          <p:cNvPr id="9" name="prot flow Impute"/>
          <p:cNvSpPr/>
          <p:nvPr/>
        </p:nvSpPr>
        <p:spPr>
          <a:xfrm>
            <a:off x="5082202" y="1417320"/>
            <a:ext cx="1734769" cy="685800"/>
          </a:xfrm>
          <a:prstGeom prst="chevron">
            <a:avLst/>
          </a:prstGeom>
          <a:solidFill>
            <a:schemeClr val="accent1"/>
          </a:solidFill>
          <a:ln/>
        </p:spPr>
        <p:txBody>
          <a:bodyPr/>
          <a:lstStyle/>
          <a:p>
            <a:endParaRPr lang="en-DK"/>
          </a:p>
        </p:txBody>
      </p:sp>
      <p:sp>
        <p:nvSpPr>
          <p:cNvPr id="10" name="Text 8"/>
          <p:cNvSpPr txBox="1"/>
          <p:nvPr/>
        </p:nvSpPr>
        <p:spPr>
          <a:xfrm>
            <a:off x="5310802" y="1417320"/>
            <a:ext cx="1277569" cy="685800"/>
          </a:xfrm>
          <a:prstGeom prst="rect">
            <a:avLst/>
          </a:prstGeom>
          <a:noFill/>
          <a:ln/>
        </p:spPr>
        <p:txBody>
          <a:bodyPr wrap="square" lIns="0" tIns="0" rIns="0" bIns="0" rtlCol="0" anchor="ctr"/>
          <a:lstStyle/>
          <a:p>
            <a:pPr marL="0" indent="0" algn="ctr">
              <a:buNone/>
            </a:pPr>
            <a:r>
              <a:rPr lang="en-US" sz="1600" b="1" dirty="0">
                <a:solidFill>
                  <a:schemeClr val="bg1"/>
                </a:solidFill>
              </a:rPr>
              <a:t>Impute</a:t>
            </a:r>
            <a:endParaRPr lang="en-US" sz="1600" dirty="0"/>
          </a:p>
        </p:txBody>
      </p:sp>
      <p:sp>
        <p:nvSpPr>
          <p:cNvPr id="11" name="Text 9"/>
          <p:cNvSpPr txBox="1"/>
          <p:nvPr/>
        </p:nvSpPr>
        <p:spPr>
          <a:xfrm>
            <a:off x="5082202"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down-shifted normal</a:t>
            </a:r>
            <a:endParaRPr lang="en-US" sz="1300" dirty="0"/>
          </a:p>
          <a:p>
            <a:pPr marL="0" indent="0" algn="ctr">
              <a:buNone/>
            </a:pPr>
            <a:r>
              <a:rPr lang="en-US" sz="1300" dirty="0">
                <a:solidFill>
                  <a:schemeClr val="tx2"/>
                </a:solidFill>
              </a:rPr>
              <a:t>(missing = low)</a:t>
            </a:r>
            <a:endParaRPr lang="en-US" sz="1300" dirty="0"/>
          </a:p>
        </p:txBody>
      </p:sp>
      <p:sp>
        <p:nvSpPr>
          <p:cNvPr id="15" name="prot flow Test"/>
          <p:cNvSpPr/>
          <p:nvPr/>
        </p:nvSpPr>
        <p:spPr>
          <a:xfrm>
            <a:off x="6893356" y="1417320"/>
            <a:ext cx="1734769" cy="685800"/>
          </a:xfrm>
          <a:prstGeom prst="chevron">
            <a:avLst/>
          </a:prstGeom>
          <a:solidFill>
            <a:schemeClr val="accent1"/>
          </a:solidFill>
          <a:ln/>
        </p:spPr>
        <p:txBody>
          <a:bodyPr/>
          <a:lstStyle/>
          <a:p>
            <a:endParaRPr lang="en-DK"/>
          </a:p>
        </p:txBody>
      </p:sp>
      <p:sp>
        <p:nvSpPr>
          <p:cNvPr id="16" name="Text 14"/>
          <p:cNvSpPr txBox="1"/>
          <p:nvPr/>
        </p:nvSpPr>
        <p:spPr>
          <a:xfrm>
            <a:off x="7121956" y="1417320"/>
            <a:ext cx="1277569" cy="685800"/>
          </a:xfrm>
          <a:prstGeom prst="rect">
            <a:avLst/>
          </a:prstGeom>
          <a:noFill/>
          <a:ln/>
        </p:spPr>
        <p:txBody>
          <a:bodyPr wrap="square" lIns="0" tIns="0" rIns="0" bIns="0" rtlCol="0" anchor="ctr"/>
          <a:lstStyle/>
          <a:p>
            <a:pPr marL="0" indent="0" algn="ctr">
              <a:buNone/>
            </a:pPr>
            <a:r>
              <a:rPr lang="en-US" sz="1600" b="1" dirty="0">
                <a:solidFill>
                  <a:schemeClr val="bg1"/>
                </a:solidFill>
              </a:rPr>
              <a:t>Test</a:t>
            </a:r>
            <a:endParaRPr lang="en-US" sz="1600" dirty="0"/>
          </a:p>
        </p:txBody>
      </p:sp>
      <p:sp>
        <p:nvSpPr>
          <p:cNvPr id="17" name="Text 15"/>
          <p:cNvSpPr txBox="1"/>
          <p:nvPr/>
        </p:nvSpPr>
        <p:spPr>
          <a:xfrm>
            <a:off x="6893356"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ANOVA, t-test</a:t>
            </a:r>
            <a:endParaRPr lang="en-US" sz="1300" dirty="0"/>
          </a:p>
          <a:p>
            <a:pPr marL="0" indent="0" algn="ctr">
              <a:buNone/>
            </a:pPr>
            <a:r>
              <a:rPr lang="en-US" sz="1300" dirty="0">
                <a:solidFill>
                  <a:schemeClr val="tx2"/>
                </a:solidFill>
              </a:rPr>
              <a:t>CRKP vs CSKP</a:t>
            </a:r>
            <a:endParaRPr lang="en-US" sz="1300" dirty="0"/>
          </a:p>
        </p:txBody>
      </p:sp>
      <p:sp>
        <p:nvSpPr>
          <p:cNvPr id="18" name="prot flow Enrich"/>
          <p:cNvSpPr/>
          <p:nvPr/>
        </p:nvSpPr>
        <p:spPr>
          <a:xfrm>
            <a:off x="8765285" y="1417320"/>
            <a:ext cx="1734769" cy="685800"/>
          </a:xfrm>
          <a:prstGeom prst="chevron">
            <a:avLst/>
          </a:prstGeom>
          <a:solidFill>
            <a:schemeClr val="accent1"/>
          </a:solidFill>
          <a:ln/>
        </p:spPr>
        <p:txBody>
          <a:bodyPr/>
          <a:lstStyle/>
          <a:p>
            <a:endParaRPr lang="en-DK"/>
          </a:p>
        </p:txBody>
      </p:sp>
      <p:sp>
        <p:nvSpPr>
          <p:cNvPr id="19" name="Text 17"/>
          <p:cNvSpPr txBox="1"/>
          <p:nvPr/>
        </p:nvSpPr>
        <p:spPr>
          <a:xfrm>
            <a:off x="8993885" y="1417320"/>
            <a:ext cx="1277569" cy="685800"/>
          </a:xfrm>
          <a:prstGeom prst="rect">
            <a:avLst/>
          </a:prstGeom>
          <a:noFill/>
          <a:ln/>
        </p:spPr>
        <p:txBody>
          <a:bodyPr wrap="square" lIns="0" tIns="0" rIns="0" bIns="0" rtlCol="0" anchor="ctr"/>
          <a:lstStyle/>
          <a:p>
            <a:pPr marL="0" indent="0" algn="ctr">
              <a:buNone/>
            </a:pPr>
            <a:r>
              <a:rPr lang="en-US" sz="1600" b="1" dirty="0">
                <a:solidFill>
                  <a:schemeClr val="bg1"/>
                </a:solidFill>
              </a:rPr>
              <a:t>Enrich</a:t>
            </a:r>
            <a:endParaRPr lang="en-US" sz="1600" dirty="0"/>
          </a:p>
        </p:txBody>
      </p:sp>
      <p:sp>
        <p:nvSpPr>
          <p:cNvPr id="20" name="Text 18"/>
          <p:cNvSpPr txBox="1"/>
          <p:nvPr/>
        </p:nvSpPr>
        <p:spPr>
          <a:xfrm>
            <a:off x="8765285"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GO / KEGG,</a:t>
            </a:r>
            <a:endParaRPr lang="en-US" sz="1300" dirty="0"/>
          </a:p>
          <a:p>
            <a:pPr marL="0" indent="0" algn="ctr">
              <a:buNone/>
            </a:pPr>
            <a:r>
              <a:rPr lang="en-US" sz="1300" dirty="0">
                <a:solidFill>
                  <a:schemeClr val="tx2"/>
                </a:solidFill>
              </a:rPr>
              <a:t>measured background</a:t>
            </a:r>
            <a:endParaRPr lang="en-US" sz="1300" dirty="0"/>
          </a:p>
        </p:txBody>
      </p:sp>
      <p:sp>
        <p:nvSpPr>
          <p:cNvPr id="21" name="prot stat 1"/>
          <p:cNvSpPr/>
          <p:nvPr/>
        </p:nvSpPr>
        <p:spPr>
          <a:xfrm>
            <a:off x="548640" y="3246120"/>
            <a:ext cx="2606040" cy="2011680"/>
          </a:xfrm>
          <a:prstGeom prst="roundRect">
            <a:avLst>
              <a:gd name="adj" fmla="val 5455"/>
            </a:avLst>
          </a:prstGeom>
          <a:solidFill>
            <a:schemeClr val="bg2"/>
          </a:solidFill>
          <a:ln/>
        </p:spPr>
        <p:txBody>
          <a:bodyPr/>
          <a:lstStyle/>
          <a:p>
            <a:endParaRPr lang="en-DK"/>
          </a:p>
        </p:txBody>
      </p:sp>
      <p:sp>
        <p:nvSpPr>
          <p:cNvPr id="22" name="Text 20"/>
          <p:cNvSpPr txBox="1"/>
          <p:nvPr/>
        </p:nvSpPr>
        <p:spPr>
          <a:xfrm>
            <a:off x="777240" y="3383280"/>
            <a:ext cx="2194560"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1458</a:t>
            </a:r>
            <a:endParaRPr lang="en-US" sz="4400" dirty="0"/>
          </a:p>
        </p:txBody>
      </p:sp>
      <p:sp>
        <p:nvSpPr>
          <p:cNvPr id="23" name="Text 21"/>
          <p:cNvSpPr txBox="1"/>
          <p:nvPr/>
        </p:nvSpPr>
        <p:spPr>
          <a:xfrm>
            <a:off x="77724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protein groups</a:t>
            </a:r>
            <a:endParaRPr lang="en-US" sz="1400" dirty="0"/>
          </a:p>
        </p:txBody>
      </p:sp>
      <p:sp>
        <p:nvSpPr>
          <p:cNvPr id="24" name="prot stat 2"/>
          <p:cNvSpPr/>
          <p:nvPr/>
        </p:nvSpPr>
        <p:spPr>
          <a:xfrm>
            <a:off x="3383280" y="3246120"/>
            <a:ext cx="2606040" cy="2011680"/>
          </a:xfrm>
          <a:prstGeom prst="roundRect">
            <a:avLst>
              <a:gd name="adj" fmla="val 5455"/>
            </a:avLst>
          </a:prstGeom>
          <a:solidFill>
            <a:schemeClr val="bg2"/>
          </a:solidFill>
          <a:ln/>
        </p:spPr>
        <p:txBody>
          <a:bodyPr/>
          <a:lstStyle/>
          <a:p>
            <a:endParaRPr lang="en-DK"/>
          </a:p>
        </p:txBody>
      </p:sp>
      <p:sp>
        <p:nvSpPr>
          <p:cNvPr id="25" name="Text 23"/>
          <p:cNvSpPr txBox="1"/>
          <p:nvPr/>
        </p:nvSpPr>
        <p:spPr>
          <a:xfrm>
            <a:off x="3611880" y="3383280"/>
            <a:ext cx="2194560"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85</a:t>
            </a:r>
            <a:endParaRPr lang="en-US" sz="4400" dirty="0"/>
          </a:p>
        </p:txBody>
      </p:sp>
      <p:sp>
        <p:nvSpPr>
          <p:cNvPr id="26" name="Text 24"/>
          <p:cNvSpPr txBox="1"/>
          <p:nvPr/>
        </p:nvSpPr>
        <p:spPr>
          <a:xfrm>
            <a:off x="361188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published differential expressed proteins, CRKP vs CSKP</a:t>
            </a:r>
            <a:r>
              <a:rPr lang="en-US" sz="1400" dirty="0"/>
              <a:t> </a:t>
            </a:r>
            <a:r>
              <a:rPr lang="en-US" sz="1400" dirty="0">
                <a:solidFill>
                  <a:schemeClr val="tx2"/>
                </a:solidFill>
              </a:rPr>
              <a:t>(68 up · 17 down regulated)</a:t>
            </a:r>
            <a:endParaRPr lang="en-US" sz="1400" dirty="0"/>
          </a:p>
        </p:txBody>
      </p:sp>
      <p:sp>
        <p:nvSpPr>
          <p:cNvPr id="27" name="prot stat 3"/>
          <p:cNvSpPr/>
          <p:nvPr/>
        </p:nvSpPr>
        <p:spPr>
          <a:xfrm>
            <a:off x="6217920" y="3246120"/>
            <a:ext cx="2606040" cy="2011680"/>
          </a:xfrm>
          <a:prstGeom prst="roundRect">
            <a:avLst>
              <a:gd name="adj" fmla="val 5455"/>
            </a:avLst>
          </a:prstGeom>
          <a:solidFill>
            <a:schemeClr val="bg2"/>
          </a:solidFill>
          <a:ln/>
        </p:spPr>
        <p:txBody>
          <a:bodyPr/>
          <a:lstStyle/>
          <a:p>
            <a:endParaRPr lang="en-DK"/>
          </a:p>
        </p:txBody>
      </p:sp>
      <p:sp>
        <p:nvSpPr>
          <p:cNvPr id="28" name="Text 26"/>
          <p:cNvSpPr txBox="1"/>
          <p:nvPr/>
        </p:nvSpPr>
        <p:spPr>
          <a:xfrm>
            <a:off x="6446520" y="3383280"/>
            <a:ext cx="2194560"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51</a:t>
            </a:r>
            <a:endParaRPr lang="en-US" sz="4400" dirty="0"/>
          </a:p>
        </p:txBody>
      </p:sp>
      <p:sp>
        <p:nvSpPr>
          <p:cNvPr id="29" name="Text 27"/>
          <p:cNvSpPr txBox="1"/>
          <p:nvPr/>
        </p:nvSpPr>
        <p:spPr>
          <a:xfrm>
            <a:off x="644652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proteins rising stepwise</a:t>
            </a:r>
            <a:endParaRPr lang="en-US" sz="1400" dirty="0"/>
          </a:p>
          <a:p>
            <a:pPr marL="0" indent="0">
              <a:buNone/>
            </a:pPr>
            <a:r>
              <a:rPr lang="en-US" sz="1400" dirty="0">
                <a:solidFill>
                  <a:schemeClr val="tx2"/>
                </a:solidFill>
              </a:rPr>
              <a:t>Con → CSKP → CRKP</a:t>
            </a:r>
            <a:endParaRPr lang="en-US" sz="1400" dirty="0"/>
          </a:p>
        </p:txBody>
      </p:sp>
      <p:sp>
        <p:nvSpPr>
          <p:cNvPr id="30" name="prot stat 4"/>
          <p:cNvSpPr/>
          <p:nvPr/>
        </p:nvSpPr>
        <p:spPr>
          <a:xfrm>
            <a:off x="8915401" y="3246120"/>
            <a:ext cx="2872046" cy="2194560"/>
          </a:xfrm>
          <a:prstGeom prst="roundRect">
            <a:avLst>
              <a:gd name="adj" fmla="val 5455"/>
            </a:avLst>
          </a:prstGeom>
          <a:solidFill>
            <a:schemeClr val="bg2"/>
          </a:solidFill>
          <a:ln/>
        </p:spPr>
        <p:txBody>
          <a:bodyPr/>
          <a:lstStyle/>
          <a:p>
            <a:endParaRPr lang="en-DK"/>
          </a:p>
        </p:txBody>
      </p:sp>
      <p:sp>
        <p:nvSpPr>
          <p:cNvPr id="31" name="Text 29"/>
          <p:cNvSpPr txBox="1"/>
          <p:nvPr/>
        </p:nvSpPr>
        <p:spPr>
          <a:xfrm>
            <a:off x="9015152" y="3383280"/>
            <a:ext cx="2772295"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AUC = 0.92</a:t>
            </a:r>
            <a:endParaRPr lang="en-US" sz="4400" dirty="0"/>
          </a:p>
        </p:txBody>
      </p:sp>
      <p:sp>
        <p:nvSpPr>
          <p:cNvPr id="32" name="Text 30"/>
          <p:cNvSpPr txBox="1"/>
          <p:nvPr/>
        </p:nvSpPr>
        <p:spPr>
          <a:xfrm>
            <a:off x="8993886" y="4106008"/>
            <a:ext cx="2872045" cy="868680"/>
          </a:xfrm>
          <a:prstGeom prst="rect">
            <a:avLst/>
          </a:prstGeom>
          <a:noFill/>
          <a:ln/>
        </p:spPr>
        <p:txBody>
          <a:bodyPr wrap="square" lIns="0" tIns="0" rIns="0" bIns="0" rtlCol="0" anchor="t"/>
          <a:lstStyle/>
          <a:p>
            <a:r>
              <a:rPr lang="en-US" sz="1400" dirty="0">
                <a:solidFill>
                  <a:schemeClr val="tx2"/>
                </a:solidFill>
              </a:rPr>
              <a:t>LASSO regression with CV: key differential proteins;</a:t>
            </a:r>
            <a:r>
              <a:rPr lang="en-DK" sz="1400" dirty="0"/>
              <a:t> Logistic Regression, Random Forest, and XGBoost</a:t>
            </a:r>
            <a:r>
              <a:rPr lang="en-US" sz="1400" dirty="0">
                <a:solidFill>
                  <a:schemeClr val="tx2"/>
                </a:solidFill>
              </a:rPr>
              <a:t>: predictive 4-protein panel: IGHV1-8, ITGA2, PKP1, IGFBP6</a:t>
            </a:r>
            <a:endParaRPr lang="en-US" sz="1400" dirty="0"/>
          </a:p>
          <a:p>
            <a:pPr marL="0" indent="0">
              <a:buNone/>
            </a:pPr>
            <a:r>
              <a:rPr lang="en-US" sz="1400" dirty="0">
                <a:solidFill>
                  <a:schemeClr val="tx2"/>
                </a:solidFill>
              </a:rPr>
              <a:t>(discovery cohort)</a:t>
            </a:r>
            <a:endParaRPr lang="en-US" sz="1400" dirty="0"/>
          </a:p>
        </p:txBody>
      </p:sp>
      <p:sp>
        <p:nvSpPr>
          <p:cNvPr id="33" name="Text 31"/>
          <p:cNvSpPr txBox="1"/>
          <p:nvPr/>
        </p:nvSpPr>
        <p:spPr>
          <a:xfrm>
            <a:off x="548640" y="5532120"/>
            <a:ext cx="11094415" cy="548640"/>
          </a:xfrm>
          <a:prstGeom prst="rect">
            <a:avLst/>
          </a:prstGeom>
          <a:noFill/>
          <a:ln/>
        </p:spPr>
        <p:txBody>
          <a:bodyPr wrap="square" lIns="0" tIns="0" rIns="0" bIns="0" rtlCol="0" anchor="t"/>
          <a:lstStyle/>
          <a:p>
            <a:pPr marL="0" indent="0">
              <a:buNone/>
            </a:pPr>
            <a:r>
              <a:rPr lang="en-US" sz="1300" dirty="0">
                <a:solidFill>
                  <a:schemeClr val="accent5"/>
                </a:solidFill>
              </a:rPr>
              <a:t>Paper's DEP rule: unadjusted p &lt; 0.05 and |log2FC| ≥ 0.58 — far fewer proteins survive 5 % FDR. Hypothesis-generating, then validated by PRM.</a:t>
            </a:r>
            <a:endParaRPr lang="en-US" sz="1300" dirty="0"/>
          </a:p>
        </p:txBody>
      </p:sp>
      <p:sp>
        <p:nvSpPr>
          <p:cNvPr id="34"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Proteomics: antigen presentation and a 4-protein panel</a:t>
            </a:r>
            <a:endParaRPr lang="en-US" sz="3200" dirty="0"/>
          </a:p>
        </p:txBody>
      </p:sp>
      <p:sp>
        <p:nvSpPr>
          <p:cNvPr id="5" name="prot finding 1"/>
          <p:cNvSpPr/>
          <p:nvPr/>
        </p:nvSpPr>
        <p:spPr>
          <a:xfrm>
            <a:off x="6949440" y="1508760"/>
            <a:ext cx="292608" cy="292608"/>
          </a:xfrm>
          <a:prstGeom prst="roundRect">
            <a:avLst>
              <a:gd name="adj" fmla="val 15625"/>
            </a:avLst>
          </a:prstGeom>
          <a:solidFill>
            <a:schemeClr val="accent1"/>
          </a:solidFill>
          <a:ln/>
        </p:spPr>
        <p:txBody>
          <a:bodyPr/>
          <a:lstStyle/>
          <a:p>
            <a:endParaRPr lang="en-DK"/>
          </a:p>
        </p:txBody>
      </p:sp>
      <p:sp>
        <p:nvSpPr>
          <p:cNvPr id="6" name="Text 3"/>
          <p:cNvSpPr txBox="1"/>
          <p:nvPr/>
        </p:nvSpPr>
        <p:spPr>
          <a:xfrm>
            <a:off x="7406640" y="1463040"/>
            <a:ext cx="4206240" cy="384048"/>
          </a:xfrm>
          <a:prstGeom prst="rect">
            <a:avLst/>
          </a:prstGeom>
          <a:noFill/>
          <a:ln/>
        </p:spPr>
        <p:txBody>
          <a:bodyPr wrap="square" lIns="0" tIns="0" rIns="0" bIns="0" rtlCol="0" anchor="t"/>
          <a:lstStyle/>
          <a:p>
            <a:pPr marL="0" indent="0">
              <a:buNone/>
            </a:pPr>
            <a:r>
              <a:rPr lang="en-US" sz="1800" b="1" dirty="0">
                <a:solidFill>
                  <a:schemeClr val="tx1"/>
                </a:solidFill>
              </a:rPr>
              <a:t>Immune recognition</a:t>
            </a:r>
            <a:endParaRPr lang="en-US" sz="1800" dirty="0"/>
          </a:p>
        </p:txBody>
      </p:sp>
      <p:sp>
        <p:nvSpPr>
          <p:cNvPr id="7" name="Text 4"/>
          <p:cNvSpPr txBox="1"/>
          <p:nvPr/>
        </p:nvSpPr>
        <p:spPr>
          <a:xfrm>
            <a:off x="7406640" y="1874520"/>
            <a:ext cx="4206240" cy="868680"/>
          </a:xfrm>
          <a:prstGeom prst="rect">
            <a:avLst/>
          </a:prstGeom>
          <a:noFill/>
          <a:ln/>
        </p:spPr>
        <p:txBody>
          <a:bodyPr wrap="square" lIns="0" tIns="0" rIns="0" bIns="0" rtlCol="0" anchor="t"/>
          <a:lstStyle/>
          <a:p>
            <a:pPr marL="0" indent="0">
              <a:buNone/>
            </a:pPr>
            <a:r>
              <a:rPr lang="en-US" sz="1400" dirty="0">
                <a:solidFill>
                  <a:schemeClr val="tx2"/>
                </a:solidFill>
              </a:rPr>
              <a:t>HLA-C, B2M, CALR, CANX, CTSL — MHC class I antigen presentation shifts with resistance</a:t>
            </a:r>
            <a:endParaRPr lang="en-US" sz="1400" dirty="0"/>
          </a:p>
        </p:txBody>
      </p:sp>
      <p:sp>
        <p:nvSpPr>
          <p:cNvPr id="8" name="prot finding 2"/>
          <p:cNvSpPr/>
          <p:nvPr/>
        </p:nvSpPr>
        <p:spPr>
          <a:xfrm>
            <a:off x="6949440" y="2834640"/>
            <a:ext cx="292608" cy="292608"/>
          </a:xfrm>
          <a:prstGeom prst="roundRect">
            <a:avLst>
              <a:gd name="adj" fmla="val 15625"/>
            </a:avLst>
          </a:prstGeom>
          <a:solidFill>
            <a:schemeClr val="accent1"/>
          </a:solidFill>
          <a:ln/>
        </p:spPr>
        <p:txBody>
          <a:bodyPr/>
          <a:lstStyle/>
          <a:p>
            <a:endParaRPr lang="en-DK"/>
          </a:p>
        </p:txBody>
      </p:sp>
      <p:sp>
        <p:nvSpPr>
          <p:cNvPr id="9" name="Text 6"/>
          <p:cNvSpPr txBox="1"/>
          <p:nvPr/>
        </p:nvSpPr>
        <p:spPr>
          <a:xfrm>
            <a:off x="7406640" y="2788920"/>
            <a:ext cx="4206240" cy="384048"/>
          </a:xfrm>
          <a:prstGeom prst="rect">
            <a:avLst/>
          </a:prstGeom>
          <a:noFill/>
          <a:ln/>
        </p:spPr>
        <p:txBody>
          <a:bodyPr wrap="square" lIns="0" tIns="0" rIns="0" bIns="0" rtlCol="0" anchor="t"/>
          <a:lstStyle/>
          <a:p>
            <a:pPr marL="0" indent="0">
              <a:buNone/>
            </a:pPr>
            <a:r>
              <a:rPr lang="en-US" sz="1800" b="1" dirty="0">
                <a:solidFill>
                  <a:schemeClr val="tx1"/>
                </a:solidFill>
              </a:rPr>
              <a:t>Diagnostic panel</a:t>
            </a:r>
            <a:endParaRPr lang="en-US" sz="1800" dirty="0"/>
          </a:p>
        </p:txBody>
      </p:sp>
      <p:sp>
        <p:nvSpPr>
          <p:cNvPr id="10" name="Text 7"/>
          <p:cNvSpPr txBox="1"/>
          <p:nvPr/>
        </p:nvSpPr>
        <p:spPr>
          <a:xfrm>
            <a:off x="7406640" y="3200400"/>
            <a:ext cx="4206240" cy="868680"/>
          </a:xfrm>
          <a:prstGeom prst="rect">
            <a:avLst/>
          </a:prstGeom>
          <a:noFill/>
          <a:ln/>
        </p:spPr>
        <p:txBody>
          <a:bodyPr wrap="square" lIns="0" tIns="0" rIns="0" bIns="0" rtlCol="0" anchor="t"/>
          <a:lstStyle/>
          <a:p>
            <a:pPr marL="0" indent="0">
              <a:buNone/>
            </a:pPr>
            <a:r>
              <a:rPr lang="en-US" sz="1400" dirty="0">
                <a:solidFill>
                  <a:schemeClr val="tx2"/>
                </a:solidFill>
              </a:rPr>
              <a:t>IGHV1-8 · ITGA2 · PKP1 · IGFBP6 — AUC 0.920 (LASSO, 70/30 split), confirmed by PRM in a second cohort</a:t>
            </a:r>
            <a:endParaRPr lang="en-US" sz="1400" dirty="0"/>
          </a:p>
        </p:txBody>
      </p:sp>
      <p:sp>
        <p:nvSpPr>
          <p:cNvPr id="11" name="prot finding 3"/>
          <p:cNvSpPr/>
          <p:nvPr/>
        </p:nvSpPr>
        <p:spPr>
          <a:xfrm>
            <a:off x="6949440" y="4160520"/>
            <a:ext cx="292608" cy="292608"/>
          </a:xfrm>
          <a:prstGeom prst="roundRect">
            <a:avLst>
              <a:gd name="adj" fmla="val 15625"/>
            </a:avLst>
          </a:prstGeom>
          <a:solidFill>
            <a:schemeClr val="accent1"/>
          </a:solidFill>
          <a:ln/>
        </p:spPr>
        <p:txBody>
          <a:bodyPr/>
          <a:lstStyle/>
          <a:p>
            <a:endParaRPr lang="en-DK"/>
          </a:p>
        </p:txBody>
      </p:sp>
      <p:sp>
        <p:nvSpPr>
          <p:cNvPr id="12" name="Text 9"/>
          <p:cNvSpPr txBox="1"/>
          <p:nvPr/>
        </p:nvSpPr>
        <p:spPr>
          <a:xfrm>
            <a:off x="7406640" y="4114800"/>
            <a:ext cx="4206240" cy="384048"/>
          </a:xfrm>
          <a:prstGeom prst="rect">
            <a:avLst/>
          </a:prstGeom>
          <a:noFill/>
          <a:ln/>
        </p:spPr>
        <p:txBody>
          <a:bodyPr wrap="square" lIns="0" tIns="0" rIns="0" bIns="0" rtlCol="0" anchor="t"/>
          <a:lstStyle/>
          <a:p>
            <a:pPr marL="0" indent="0">
              <a:buNone/>
            </a:pPr>
            <a:r>
              <a:rPr lang="en-US" sz="1800" b="1" dirty="0">
                <a:solidFill>
                  <a:schemeClr val="tx1"/>
                </a:solidFill>
              </a:rPr>
              <a:t>Network hubs</a:t>
            </a:r>
            <a:endParaRPr lang="en-US" sz="1800" dirty="0"/>
          </a:p>
        </p:txBody>
      </p:sp>
      <p:sp>
        <p:nvSpPr>
          <p:cNvPr id="13" name="Text 10"/>
          <p:cNvSpPr txBox="1"/>
          <p:nvPr/>
        </p:nvSpPr>
        <p:spPr>
          <a:xfrm>
            <a:off x="7406640" y="4526280"/>
            <a:ext cx="4206240" cy="868680"/>
          </a:xfrm>
          <a:prstGeom prst="rect">
            <a:avLst/>
          </a:prstGeom>
          <a:noFill/>
          <a:ln/>
        </p:spPr>
        <p:txBody>
          <a:bodyPr wrap="square" lIns="0" tIns="0" rIns="0" bIns="0" rtlCol="0" anchor="t"/>
          <a:lstStyle/>
          <a:p>
            <a:pPr marL="0" indent="0">
              <a:buNone/>
            </a:pPr>
            <a:r>
              <a:rPr lang="en-US" sz="1400" dirty="0">
                <a:solidFill>
                  <a:schemeClr val="tx2"/>
                </a:solidFill>
              </a:rPr>
              <a:t>CD44 and B2M; coagulation (VWF) among stepwise-rising proteins</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
        <p:nvSpPr>
          <p:cNvPr id="14" name="TextBox 13">
            <a:extLst>
              <a:ext uri="{FF2B5EF4-FFF2-40B4-BE49-F238E27FC236}">
                <a16:creationId xmlns:a16="http://schemas.microsoft.com/office/drawing/2014/main" id="{C684FA0E-BC24-1B14-8104-F607AC4822DF}"/>
              </a:ext>
            </a:extLst>
          </p:cNvPr>
          <p:cNvSpPr txBox="1"/>
          <p:nvPr/>
        </p:nvSpPr>
        <p:spPr>
          <a:xfrm>
            <a:off x="859734" y="5235047"/>
            <a:ext cx="10472226" cy="923330"/>
          </a:xfrm>
          <a:prstGeom prst="rect">
            <a:avLst/>
          </a:prstGeom>
          <a:noFill/>
        </p:spPr>
        <p:txBody>
          <a:bodyPr wrap="square" rtlCol="0">
            <a:spAutoFit/>
          </a:bodyPr>
          <a:lstStyle/>
          <a:p>
            <a:r>
              <a:rPr lang="en-DK" dirty="0"/>
              <a:t>enriched in </a:t>
            </a:r>
            <a:r>
              <a:rPr lang="en-DK" b="1" dirty="0"/>
              <a:t>viral infection-related pathways</a:t>
            </a:r>
            <a:r>
              <a:rPr lang="en-DK" dirty="0"/>
              <a:t>, immune processes such as </a:t>
            </a:r>
            <a:r>
              <a:rPr lang="en-DK" b="1" dirty="0"/>
              <a:t>antigen processing</a:t>
            </a:r>
            <a:r>
              <a:rPr lang="en-DK" dirty="0"/>
              <a:t>, and presentation and </a:t>
            </a:r>
            <a:r>
              <a:rPr lang="en-DK" b="1" dirty="0"/>
              <a:t>phagosome</a:t>
            </a:r>
            <a:r>
              <a:rPr lang="en-DK" dirty="0"/>
              <a:t>, as well as fundamental cellular signaling pathways including the </a:t>
            </a:r>
            <a:r>
              <a:rPr lang="en-DK" b="1" dirty="0"/>
              <a:t>phosphatidylinositol signaling system </a:t>
            </a:r>
            <a:r>
              <a:rPr lang="en-DK" dirty="0"/>
              <a:t>and </a:t>
            </a:r>
            <a:r>
              <a:rPr lang="en-DK" b="1" dirty="0"/>
              <a:t>calcium signaling pathway </a:t>
            </a:r>
          </a:p>
        </p:txBody>
      </p:sp>
      <p:pic>
        <p:nvPicPr>
          <p:cNvPr id="17" name="Picture 16" descr="Panel A shows a heatmap of differentially expressed proteins among three groups labeled Con (green), CRKP (peach), and KP (light blue), with intensity color ranging from blue (downregulated) to red (upregulated). Panels B, C, and D display volcano plots showing the distribution of protein expression changes by log2 fold-change and statistical significance, highlighting upregulated and downregulated proteins for each group comparison. Panel E presents a KEGG pathway enrichment dot plot, with dot size representing the number of proteins and color indicating statistical significance for biological pathways. Panel F contains a protein interaction network with nodes colored by log2 fold-change, distinguishing upregulated and downregulated proteins.">
            <a:extLst>
              <a:ext uri="{FF2B5EF4-FFF2-40B4-BE49-F238E27FC236}">
                <a16:creationId xmlns:a16="http://schemas.microsoft.com/office/drawing/2014/main" id="{B5D8FEF1-108F-9FCE-2B87-1D967545FFF8}"/>
              </a:ext>
            </a:extLst>
          </p:cNvPr>
          <p:cNvPicPr>
            <a:picLocks noChangeAspect="1"/>
          </p:cNvPicPr>
          <p:nvPr/>
        </p:nvPicPr>
        <p:blipFill>
          <a:blip r:embed="rId3"/>
          <a:srcRect t="74287" r="43366"/>
          <a:stretch>
            <a:fillRect/>
          </a:stretch>
        </p:blipFill>
        <p:spPr>
          <a:xfrm>
            <a:off x="579120" y="1517904"/>
            <a:ext cx="6210901" cy="32186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Metabolomics: the QC samples become the ruler</a:t>
            </a:r>
            <a:endParaRPr lang="en-US" sz="3200" dirty="0"/>
          </a:p>
        </p:txBody>
      </p:sp>
      <p:sp>
        <p:nvSpPr>
          <p:cNvPr id="3" name="metab flow 80 % rule"/>
          <p:cNvSpPr/>
          <p:nvPr/>
        </p:nvSpPr>
        <p:spPr>
          <a:xfrm>
            <a:off x="548640" y="1417320"/>
            <a:ext cx="1734769" cy="685800"/>
          </a:xfrm>
          <a:prstGeom prst="chevron">
            <a:avLst/>
          </a:prstGeom>
          <a:solidFill>
            <a:schemeClr val="accent2"/>
          </a:solidFill>
          <a:ln/>
        </p:spPr>
        <p:txBody>
          <a:bodyPr/>
          <a:lstStyle/>
          <a:p>
            <a:endParaRPr lang="en-DK"/>
          </a:p>
        </p:txBody>
      </p:sp>
      <p:sp>
        <p:nvSpPr>
          <p:cNvPr id="4" name="Text 2"/>
          <p:cNvSpPr txBox="1"/>
          <p:nvPr/>
        </p:nvSpPr>
        <p:spPr>
          <a:xfrm>
            <a:off x="777240" y="1417320"/>
            <a:ext cx="1277569" cy="685800"/>
          </a:xfrm>
          <a:prstGeom prst="rect">
            <a:avLst/>
          </a:prstGeom>
          <a:noFill/>
          <a:ln/>
        </p:spPr>
        <p:txBody>
          <a:bodyPr wrap="square" lIns="0" tIns="0" rIns="0" bIns="0" rtlCol="0" anchor="ctr"/>
          <a:lstStyle/>
          <a:p>
            <a:pPr marL="0" indent="0" algn="ctr">
              <a:buNone/>
            </a:pPr>
            <a:r>
              <a:rPr lang="en-US" sz="1500" b="1" dirty="0">
                <a:solidFill>
                  <a:schemeClr val="bg1"/>
                </a:solidFill>
              </a:rPr>
              <a:t>80 % rule</a:t>
            </a:r>
            <a:endParaRPr lang="en-US" sz="1500" dirty="0"/>
          </a:p>
        </p:txBody>
      </p:sp>
      <p:sp>
        <p:nvSpPr>
          <p:cNvPr id="5" name="Text 3"/>
          <p:cNvSpPr txBox="1"/>
          <p:nvPr/>
        </p:nvSpPr>
        <p:spPr>
          <a:xfrm>
            <a:off x="548640"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measured in ≥ 80 % of patients</a:t>
            </a:r>
            <a:endParaRPr lang="en-US" sz="1300" dirty="0"/>
          </a:p>
        </p:txBody>
      </p:sp>
      <p:sp>
        <p:nvSpPr>
          <p:cNvPr id="6" name="metab flow CV filter"/>
          <p:cNvSpPr/>
          <p:nvPr/>
        </p:nvSpPr>
        <p:spPr>
          <a:xfrm>
            <a:off x="2420569" y="1417320"/>
            <a:ext cx="1734769" cy="685800"/>
          </a:xfrm>
          <a:prstGeom prst="chevron">
            <a:avLst/>
          </a:prstGeom>
          <a:solidFill>
            <a:schemeClr val="accent2"/>
          </a:solidFill>
          <a:ln/>
        </p:spPr>
        <p:txBody>
          <a:bodyPr/>
          <a:lstStyle/>
          <a:p>
            <a:endParaRPr lang="en-DK"/>
          </a:p>
        </p:txBody>
      </p:sp>
      <p:sp>
        <p:nvSpPr>
          <p:cNvPr id="7" name="Text 5"/>
          <p:cNvSpPr txBox="1"/>
          <p:nvPr/>
        </p:nvSpPr>
        <p:spPr>
          <a:xfrm>
            <a:off x="2649169" y="1417320"/>
            <a:ext cx="1277569" cy="685800"/>
          </a:xfrm>
          <a:prstGeom prst="rect">
            <a:avLst/>
          </a:prstGeom>
          <a:noFill/>
          <a:ln/>
        </p:spPr>
        <p:txBody>
          <a:bodyPr wrap="square" lIns="0" tIns="0" rIns="0" bIns="0" rtlCol="0" anchor="ctr"/>
          <a:lstStyle/>
          <a:p>
            <a:pPr marL="0" indent="0" algn="ctr">
              <a:buNone/>
            </a:pPr>
            <a:r>
              <a:rPr lang="en-US" sz="1500" b="1" dirty="0">
                <a:solidFill>
                  <a:schemeClr val="bg1"/>
                </a:solidFill>
              </a:rPr>
              <a:t>CV filter</a:t>
            </a:r>
            <a:endParaRPr lang="en-US" sz="1500" dirty="0"/>
          </a:p>
        </p:txBody>
      </p:sp>
      <p:sp>
        <p:nvSpPr>
          <p:cNvPr id="8" name="Text 6"/>
          <p:cNvSpPr txBox="1"/>
          <p:nvPr/>
        </p:nvSpPr>
        <p:spPr>
          <a:xfrm>
            <a:off x="2420569"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QC CV &lt; patient CV</a:t>
            </a:r>
          </a:p>
          <a:p>
            <a:pPr algn="ctr"/>
            <a:r>
              <a:rPr lang="en-US" sz="1400" dirty="0"/>
              <a:t>near 0 is biology, near 1 is measurement noise</a:t>
            </a:r>
            <a:endParaRPr lang="en-US" sz="1300" dirty="0"/>
          </a:p>
        </p:txBody>
      </p:sp>
      <p:sp>
        <p:nvSpPr>
          <p:cNvPr id="9" name="metab flow D-ratio ≤ 0.5"/>
          <p:cNvSpPr/>
          <p:nvPr/>
        </p:nvSpPr>
        <p:spPr>
          <a:xfrm>
            <a:off x="4292498" y="1417320"/>
            <a:ext cx="1734769" cy="685800"/>
          </a:xfrm>
          <a:prstGeom prst="chevron">
            <a:avLst/>
          </a:prstGeom>
          <a:solidFill>
            <a:schemeClr val="accent2"/>
          </a:solidFill>
          <a:ln/>
        </p:spPr>
        <p:txBody>
          <a:bodyPr/>
          <a:lstStyle/>
          <a:p>
            <a:endParaRPr lang="en-DK"/>
          </a:p>
        </p:txBody>
      </p:sp>
      <p:sp>
        <p:nvSpPr>
          <p:cNvPr id="10" name="Text 8"/>
          <p:cNvSpPr txBox="1"/>
          <p:nvPr/>
        </p:nvSpPr>
        <p:spPr>
          <a:xfrm>
            <a:off x="4521098" y="1417320"/>
            <a:ext cx="1277569" cy="685800"/>
          </a:xfrm>
          <a:prstGeom prst="rect">
            <a:avLst/>
          </a:prstGeom>
          <a:noFill/>
          <a:ln/>
        </p:spPr>
        <p:txBody>
          <a:bodyPr wrap="square" lIns="0" tIns="0" rIns="0" bIns="0" rtlCol="0" anchor="ctr"/>
          <a:lstStyle/>
          <a:p>
            <a:pPr marL="0" indent="0" algn="ctr">
              <a:buNone/>
            </a:pPr>
            <a:r>
              <a:rPr lang="en-US" sz="1500" b="1" dirty="0">
                <a:solidFill>
                  <a:schemeClr val="bg1"/>
                </a:solidFill>
              </a:rPr>
              <a:t>D-ratio ≤ 0.5</a:t>
            </a:r>
            <a:endParaRPr lang="en-US" sz="1500" dirty="0"/>
          </a:p>
        </p:txBody>
      </p:sp>
      <p:sp>
        <p:nvSpPr>
          <p:cNvPr id="11" name="Text 9"/>
          <p:cNvSpPr txBox="1"/>
          <p:nvPr/>
        </p:nvSpPr>
        <p:spPr>
          <a:xfrm>
            <a:off x="4292498"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technical / biological</a:t>
            </a:r>
            <a:endParaRPr lang="en-US" sz="1300" dirty="0"/>
          </a:p>
          <a:p>
            <a:pPr marL="0" indent="0" algn="ctr">
              <a:buNone/>
            </a:pPr>
            <a:r>
              <a:rPr lang="en-US" sz="1300" dirty="0">
                <a:solidFill>
                  <a:schemeClr val="tx2"/>
                </a:solidFill>
              </a:rPr>
              <a:t>dispersion (MAD)</a:t>
            </a:r>
            <a:endParaRPr lang="en-US" sz="1300" dirty="0"/>
          </a:p>
        </p:txBody>
      </p:sp>
      <p:sp>
        <p:nvSpPr>
          <p:cNvPr id="12" name="metab flow Half-min"/>
          <p:cNvSpPr/>
          <p:nvPr/>
        </p:nvSpPr>
        <p:spPr>
          <a:xfrm>
            <a:off x="6164428" y="1417320"/>
            <a:ext cx="1734769" cy="685800"/>
          </a:xfrm>
          <a:prstGeom prst="chevron">
            <a:avLst/>
          </a:prstGeom>
          <a:solidFill>
            <a:schemeClr val="accent2"/>
          </a:solidFill>
          <a:ln/>
        </p:spPr>
        <p:txBody>
          <a:bodyPr/>
          <a:lstStyle/>
          <a:p>
            <a:endParaRPr lang="en-DK"/>
          </a:p>
        </p:txBody>
      </p:sp>
      <p:sp>
        <p:nvSpPr>
          <p:cNvPr id="13" name="Text 11"/>
          <p:cNvSpPr txBox="1"/>
          <p:nvPr/>
        </p:nvSpPr>
        <p:spPr>
          <a:xfrm>
            <a:off x="6393028" y="1417320"/>
            <a:ext cx="1277569" cy="685800"/>
          </a:xfrm>
          <a:prstGeom prst="rect">
            <a:avLst/>
          </a:prstGeom>
          <a:noFill/>
          <a:ln/>
        </p:spPr>
        <p:txBody>
          <a:bodyPr wrap="square" lIns="0" tIns="0" rIns="0" bIns="0" rtlCol="0" anchor="ctr"/>
          <a:lstStyle/>
          <a:p>
            <a:pPr algn="ctr"/>
            <a:r>
              <a:rPr lang="en-US" sz="1500" b="1" dirty="0">
                <a:solidFill>
                  <a:schemeClr val="bg1"/>
                </a:solidFill>
              </a:rPr>
              <a:t>1/5 of the minimum</a:t>
            </a:r>
            <a:endParaRPr lang="en-US" sz="1500" dirty="0"/>
          </a:p>
        </p:txBody>
      </p:sp>
      <p:sp>
        <p:nvSpPr>
          <p:cNvPr id="14" name="Text 12"/>
          <p:cNvSpPr txBox="1"/>
          <p:nvPr/>
        </p:nvSpPr>
        <p:spPr>
          <a:xfrm>
            <a:off x="6164428"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missing = below LOQ</a:t>
            </a:r>
            <a:endParaRPr lang="en-US" sz="1300" dirty="0"/>
          </a:p>
        </p:txBody>
      </p:sp>
      <p:sp>
        <p:nvSpPr>
          <p:cNvPr id="15" name="metab flow ANCOVA"/>
          <p:cNvSpPr/>
          <p:nvPr/>
        </p:nvSpPr>
        <p:spPr>
          <a:xfrm>
            <a:off x="8036357" y="1417320"/>
            <a:ext cx="1734769" cy="685800"/>
          </a:xfrm>
          <a:prstGeom prst="chevron">
            <a:avLst/>
          </a:prstGeom>
          <a:solidFill>
            <a:schemeClr val="accent2"/>
          </a:solidFill>
          <a:ln/>
        </p:spPr>
        <p:txBody>
          <a:bodyPr/>
          <a:lstStyle/>
          <a:p>
            <a:endParaRPr lang="en-DK"/>
          </a:p>
        </p:txBody>
      </p:sp>
      <p:sp>
        <p:nvSpPr>
          <p:cNvPr id="16" name="Text 14"/>
          <p:cNvSpPr txBox="1"/>
          <p:nvPr/>
        </p:nvSpPr>
        <p:spPr>
          <a:xfrm>
            <a:off x="8264957" y="1417320"/>
            <a:ext cx="1277569" cy="685800"/>
          </a:xfrm>
          <a:prstGeom prst="rect">
            <a:avLst/>
          </a:prstGeom>
          <a:noFill/>
          <a:ln/>
        </p:spPr>
        <p:txBody>
          <a:bodyPr wrap="square" lIns="0" tIns="0" rIns="0" bIns="0" rtlCol="0" anchor="ctr"/>
          <a:lstStyle/>
          <a:p>
            <a:pPr marL="0" indent="0" algn="ctr">
              <a:buNone/>
            </a:pPr>
            <a:r>
              <a:rPr lang="en-US" sz="1500" b="1" dirty="0">
                <a:solidFill>
                  <a:schemeClr val="bg1"/>
                </a:solidFill>
              </a:rPr>
              <a:t>ANCOVA</a:t>
            </a:r>
            <a:endParaRPr lang="en-US" sz="1500" dirty="0"/>
          </a:p>
        </p:txBody>
      </p:sp>
      <p:sp>
        <p:nvSpPr>
          <p:cNvPr id="17" name="Text 15"/>
          <p:cNvSpPr txBox="1"/>
          <p:nvPr/>
        </p:nvSpPr>
        <p:spPr>
          <a:xfrm>
            <a:off x="8036357"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group effect,</a:t>
            </a:r>
            <a:endParaRPr lang="en-US" sz="1300" dirty="0"/>
          </a:p>
          <a:p>
            <a:pPr marL="0" indent="0" algn="ctr">
              <a:buNone/>
            </a:pPr>
            <a:r>
              <a:rPr lang="en-US" sz="1300" dirty="0">
                <a:solidFill>
                  <a:schemeClr val="tx2"/>
                </a:solidFill>
              </a:rPr>
              <a:t>adjusted for age</a:t>
            </a:r>
            <a:endParaRPr lang="en-US" sz="1300" dirty="0"/>
          </a:p>
        </p:txBody>
      </p:sp>
      <p:sp>
        <p:nvSpPr>
          <p:cNvPr id="18" name="metab flow KEGG"/>
          <p:cNvSpPr/>
          <p:nvPr/>
        </p:nvSpPr>
        <p:spPr>
          <a:xfrm>
            <a:off x="9908286" y="1417320"/>
            <a:ext cx="1734769" cy="685800"/>
          </a:xfrm>
          <a:prstGeom prst="chevron">
            <a:avLst/>
          </a:prstGeom>
          <a:solidFill>
            <a:schemeClr val="accent2"/>
          </a:solidFill>
          <a:ln/>
        </p:spPr>
        <p:txBody>
          <a:bodyPr/>
          <a:lstStyle/>
          <a:p>
            <a:endParaRPr lang="en-DK"/>
          </a:p>
        </p:txBody>
      </p:sp>
      <p:sp>
        <p:nvSpPr>
          <p:cNvPr id="19" name="Text 17"/>
          <p:cNvSpPr txBox="1"/>
          <p:nvPr/>
        </p:nvSpPr>
        <p:spPr>
          <a:xfrm>
            <a:off x="10136886" y="1417320"/>
            <a:ext cx="1277569" cy="685800"/>
          </a:xfrm>
          <a:prstGeom prst="rect">
            <a:avLst/>
          </a:prstGeom>
          <a:noFill/>
          <a:ln/>
        </p:spPr>
        <p:txBody>
          <a:bodyPr wrap="square" lIns="0" tIns="0" rIns="0" bIns="0" rtlCol="0" anchor="ctr"/>
          <a:lstStyle/>
          <a:p>
            <a:pPr marL="0" indent="0" algn="ctr">
              <a:buNone/>
            </a:pPr>
            <a:r>
              <a:rPr lang="en-US" sz="1500" b="1" dirty="0">
                <a:solidFill>
                  <a:schemeClr val="bg1"/>
                </a:solidFill>
              </a:rPr>
              <a:t>KEGG</a:t>
            </a:r>
            <a:endParaRPr lang="en-US" sz="1500" dirty="0"/>
          </a:p>
        </p:txBody>
      </p:sp>
      <p:sp>
        <p:nvSpPr>
          <p:cNvPr id="20" name="Text 18"/>
          <p:cNvSpPr txBox="1"/>
          <p:nvPr/>
        </p:nvSpPr>
        <p:spPr>
          <a:xfrm>
            <a:off x="9908286" y="2194560"/>
            <a:ext cx="1734769" cy="685800"/>
          </a:xfrm>
          <a:prstGeom prst="rect">
            <a:avLst/>
          </a:prstGeom>
          <a:noFill/>
          <a:ln/>
        </p:spPr>
        <p:txBody>
          <a:bodyPr wrap="square" lIns="0" tIns="0" rIns="0" bIns="0" rtlCol="0" anchor="t"/>
          <a:lstStyle/>
          <a:p>
            <a:pPr marL="0" indent="0" algn="ctr">
              <a:buNone/>
            </a:pPr>
            <a:r>
              <a:rPr lang="en-US" sz="1300" dirty="0">
                <a:solidFill>
                  <a:schemeClr val="tx2"/>
                </a:solidFill>
              </a:rPr>
              <a:t>compound → pathway</a:t>
            </a:r>
            <a:endParaRPr lang="en-US" sz="1300" dirty="0"/>
          </a:p>
        </p:txBody>
      </p:sp>
      <p:sp>
        <p:nvSpPr>
          <p:cNvPr id="21" name="metab stat 1"/>
          <p:cNvSpPr/>
          <p:nvPr/>
        </p:nvSpPr>
        <p:spPr>
          <a:xfrm>
            <a:off x="548640" y="3246120"/>
            <a:ext cx="2606040" cy="2011680"/>
          </a:xfrm>
          <a:prstGeom prst="roundRect">
            <a:avLst>
              <a:gd name="adj" fmla="val 5455"/>
            </a:avLst>
          </a:prstGeom>
          <a:solidFill>
            <a:schemeClr val="bg2"/>
          </a:solidFill>
          <a:ln/>
        </p:spPr>
        <p:txBody>
          <a:bodyPr/>
          <a:lstStyle/>
          <a:p>
            <a:endParaRPr lang="en-DK"/>
          </a:p>
        </p:txBody>
      </p:sp>
      <p:sp>
        <p:nvSpPr>
          <p:cNvPr id="22" name="Text 20"/>
          <p:cNvSpPr txBox="1"/>
          <p:nvPr/>
        </p:nvSpPr>
        <p:spPr>
          <a:xfrm>
            <a:off x="777240" y="3383280"/>
            <a:ext cx="2194560"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1073</a:t>
            </a:r>
            <a:endParaRPr lang="en-US" sz="4400" dirty="0"/>
          </a:p>
        </p:txBody>
      </p:sp>
      <p:sp>
        <p:nvSpPr>
          <p:cNvPr id="23" name="Text 21"/>
          <p:cNvSpPr txBox="1"/>
          <p:nvPr/>
        </p:nvSpPr>
        <p:spPr>
          <a:xfrm>
            <a:off x="77724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named metabolites</a:t>
            </a:r>
            <a:endParaRPr lang="en-US" sz="1400" dirty="0"/>
          </a:p>
          <a:p>
            <a:pPr marL="0" indent="0">
              <a:buNone/>
            </a:pPr>
            <a:r>
              <a:rPr lang="en-US" sz="1400" dirty="0">
                <a:solidFill>
                  <a:schemeClr val="tx2"/>
                </a:solidFill>
              </a:rPr>
              <a:t>+ 6 pooled QC injections</a:t>
            </a:r>
            <a:endParaRPr lang="en-US" sz="1400" dirty="0"/>
          </a:p>
        </p:txBody>
      </p:sp>
      <p:sp>
        <p:nvSpPr>
          <p:cNvPr id="24" name="metab stat 2"/>
          <p:cNvSpPr/>
          <p:nvPr/>
        </p:nvSpPr>
        <p:spPr>
          <a:xfrm>
            <a:off x="3383280" y="3246120"/>
            <a:ext cx="2606040" cy="2011680"/>
          </a:xfrm>
          <a:prstGeom prst="roundRect">
            <a:avLst>
              <a:gd name="adj" fmla="val 5455"/>
            </a:avLst>
          </a:prstGeom>
          <a:solidFill>
            <a:schemeClr val="bg2"/>
          </a:solidFill>
          <a:ln/>
        </p:spPr>
        <p:txBody>
          <a:bodyPr/>
          <a:lstStyle/>
          <a:p>
            <a:endParaRPr lang="en-DK"/>
          </a:p>
        </p:txBody>
      </p:sp>
      <p:sp>
        <p:nvSpPr>
          <p:cNvPr id="25" name="Text 23"/>
          <p:cNvSpPr txBox="1"/>
          <p:nvPr/>
        </p:nvSpPr>
        <p:spPr>
          <a:xfrm>
            <a:off x="3611880" y="3383280"/>
            <a:ext cx="2194560"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128</a:t>
            </a:r>
            <a:endParaRPr lang="en-US" sz="4400" dirty="0"/>
          </a:p>
        </p:txBody>
      </p:sp>
      <p:sp>
        <p:nvSpPr>
          <p:cNvPr id="26" name="Text 24"/>
          <p:cNvSpPr txBox="1"/>
          <p:nvPr/>
        </p:nvSpPr>
        <p:spPr>
          <a:xfrm>
            <a:off x="361188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published differentially expressed metabolites, CRKP vs CSKP</a:t>
            </a:r>
            <a:r>
              <a:rPr lang="en-US" sz="1400" dirty="0"/>
              <a:t> </a:t>
            </a:r>
            <a:r>
              <a:rPr lang="en-US" sz="1400" dirty="0">
                <a:solidFill>
                  <a:schemeClr val="tx2"/>
                </a:solidFill>
              </a:rPr>
              <a:t>(71 up · 57 down regulated)</a:t>
            </a:r>
            <a:endParaRPr lang="en-US" sz="1400" dirty="0"/>
          </a:p>
        </p:txBody>
      </p:sp>
      <p:sp>
        <p:nvSpPr>
          <p:cNvPr id="27" name="metab stat 3"/>
          <p:cNvSpPr/>
          <p:nvPr/>
        </p:nvSpPr>
        <p:spPr>
          <a:xfrm>
            <a:off x="6217920" y="3246120"/>
            <a:ext cx="2606040" cy="2011680"/>
          </a:xfrm>
          <a:prstGeom prst="roundRect">
            <a:avLst>
              <a:gd name="adj" fmla="val 5455"/>
            </a:avLst>
          </a:prstGeom>
          <a:solidFill>
            <a:schemeClr val="bg2"/>
          </a:solidFill>
          <a:ln/>
        </p:spPr>
        <p:txBody>
          <a:bodyPr/>
          <a:lstStyle/>
          <a:p>
            <a:endParaRPr lang="en-DK"/>
          </a:p>
        </p:txBody>
      </p:sp>
      <p:sp>
        <p:nvSpPr>
          <p:cNvPr id="28" name="Text 26"/>
          <p:cNvSpPr txBox="1"/>
          <p:nvPr/>
        </p:nvSpPr>
        <p:spPr>
          <a:xfrm>
            <a:off x="6446520" y="3383280"/>
            <a:ext cx="2194560"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VIP &gt; 1</a:t>
            </a:r>
            <a:endParaRPr lang="en-US" sz="4400" dirty="0"/>
          </a:p>
        </p:txBody>
      </p:sp>
      <p:sp>
        <p:nvSpPr>
          <p:cNvPr id="29" name="Text 27"/>
          <p:cNvSpPr txBox="1"/>
          <p:nvPr/>
        </p:nvSpPr>
        <p:spPr>
          <a:xfrm>
            <a:off x="644652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OPLS-DA + t-test p &lt; 0.05</a:t>
            </a:r>
            <a:endParaRPr lang="en-US" sz="1400" dirty="0"/>
          </a:p>
          <a:p>
            <a:pPr marL="0" indent="0">
              <a:buNone/>
            </a:pPr>
            <a:r>
              <a:rPr lang="en-US" sz="1400" dirty="0">
                <a:solidFill>
                  <a:schemeClr val="tx2"/>
                </a:solidFill>
              </a:rPr>
              <a:t>(paper's rule)</a:t>
            </a:r>
            <a:endParaRPr lang="en-US" sz="1400" dirty="0"/>
          </a:p>
        </p:txBody>
      </p:sp>
      <p:sp>
        <p:nvSpPr>
          <p:cNvPr id="30" name="metab stat 4"/>
          <p:cNvSpPr/>
          <p:nvPr/>
        </p:nvSpPr>
        <p:spPr>
          <a:xfrm>
            <a:off x="9052560" y="3246120"/>
            <a:ext cx="2606040" cy="2011680"/>
          </a:xfrm>
          <a:prstGeom prst="roundRect">
            <a:avLst>
              <a:gd name="adj" fmla="val 5455"/>
            </a:avLst>
          </a:prstGeom>
          <a:solidFill>
            <a:schemeClr val="bg2"/>
          </a:solidFill>
          <a:ln/>
        </p:spPr>
        <p:txBody>
          <a:bodyPr/>
          <a:lstStyle/>
          <a:p>
            <a:endParaRPr lang="en-DK"/>
          </a:p>
        </p:txBody>
      </p:sp>
      <p:sp>
        <p:nvSpPr>
          <p:cNvPr id="31" name="Text 29"/>
          <p:cNvSpPr txBox="1"/>
          <p:nvPr/>
        </p:nvSpPr>
        <p:spPr>
          <a:xfrm>
            <a:off x="9281160" y="3383280"/>
            <a:ext cx="2194560"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No</a:t>
            </a:r>
            <a:endParaRPr lang="en-US" sz="4400" dirty="0"/>
          </a:p>
        </p:txBody>
      </p:sp>
      <p:sp>
        <p:nvSpPr>
          <p:cNvPr id="32" name="Text 30"/>
          <p:cNvSpPr txBox="1"/>
          <p:nvPr/>
        </p:nvSpPr>
        <p:spPr>
          <a:xfrm>
            <a:off x="9281160" y="4297680"/>
            <a:ext cx="2240280" cy="868680"/>
          </a:xfrm>
          <a:prstGeom prst="rect">
            <a:avLst/>
          </a:prstGeom>
          <a:noFill/>
          <a:ln/>
        </p:spPr>
        <p:txBody>
          <a:bodyPr wrap="square" lIns="0" tIns="0" rIns="0" bIns="0" rtlCol="0" anchor="t"/>
          <a:lstStyle/>
          <a:p>
            <a:pPr marL="0" indent="0">
              <a:buNone/>
            </a:pPr>
            <a:r>
              <a:rPr lang="en-US" sz="1400" dirty="0">
                <a:solidFill>
                  <a:schemeClr val="tx2"/>
                </a:solidFill>
              </a:rPr>
              <a:t>drift correction possible —</a:t>
            </a:r>
            <a:endParaRPr lang="en-US" sz="1400" dirty="0"/>
          </a:p>
          <a:p>
            <a:pPr marL="0" indent="0">
              <a:buNone/>
            </a:pPr>
            <a:r>
              <a:rPr lang="en-US" sz="1400" dirty="0">
                <a:solidFill>
                  <a:schemeClr val="tx2"/>
                </a:solidFill>
              </a:rPr>
              <a:t>injection order never deposited</a:t>
            </a:r>
            <a:endParaRPr lang="en-US" sz="1400" dirty="0"/>
          </a:p>
        </p:txBody>
      </p:sp>
      <p:sp>
        <p:nvSpPr>
          <p:cNvPr id="33" name="Text 31"/>
          <p:cNvSpPr txBox="1"/>
          <p:nvPr/>
        </p:nvSpPr>
        <p:spPr>
          <a:xfrm>
            <a:off x="548640" y="5532120"/>
            <a:ext cx="11094415" cy="548640"/>
          </a:xfrm>
          <a:prstGeom prst="rect">
            <a:avLst/>
          </a:prstGeom>
          <a:noFill/>
          <a:ln/>
        </p:spPr>
        <p:txBody>
          <a:bodyPr wrap="square" lIns="0" tIns="0" rIns="0" bIns="0" rtlCol="0" anchor="t"/>
          <a:lstStyle/>
          <a:p>
            <a:pPr marL="0" indent="0">
              <a:buNone/>
            </a:pPr>
            <a:r>
              <a:rPr lang="en-US" sz="1300" dirty="0">
                <a:solidFill>
                  <a:schemeClr val="accent5"/>
                </a:solidFill>
              </a:rPr>
              <a:t>Three steps differ from proteomics: QC-based filtering, a different meaning of 'missing', and a covariate in the test.</a:t>
            </a:r>
            <a:endParaRPr lang="en-US" sz="1300" dirty="0"/>
          </a:p>
        </p:txBody>
      </p:sp>
      <p:sp>
        <p:nvSpPr>
          <p:cNvPr id="34"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Metabolomics: lipid fuel and amino-acid metabolism</a:t>
            </a:r>
            <a:endParaRPr lang="en-US" sz="3200" dirty="0"/>
          </a:p>
        </p:txBody>
      </p:sp>
      <p:sp>
        <p:nvSpPr>
          <p:cNvPr id="5" name="metab finding 1"/>
          <p:cNvSpPr/>
          <p:nvPr/>
        </p:nvSpPr>
        <p:spPr>
          <a:xfrm>
            <a:off x="6949440" y="1508760"/>
            <a:ext cx="292608" cy="292608"/>
          </a:xfrm>
          <a:prstGeom prst="ellipse">
            <a:avLst/>
          </a:prstGeom>
          <a:solidFill>
            <a:schemeClr val="accent2"/>
          </a:solidFill>
          <a:ln/>
        </p:spPr>
        <p:txBody>
          <a:bodyPr/>
          <a:lstStyle/>
          <a:p>
            <a:endParaRPr lang="en-DK"/>
          </a:p>
        </p:txBody>
      </p:sp>
      <p:sp>
        <p:nvSpPr>
          <p:cNvPr id="6" name="Text 3"/>
          <p:cNvSpPr txBox="1"/>
          <p:nvPr/>
        </p:nvSpPr>
        <p:spPr>
          <a:xfrm>
            <a:off x="7406640" y="1463040"/>
            <a:ext cx="4206240" cy="384048"/>
          </a:xfrm>
          <a:prstGeom prst="rect">
            <a:avLst/>
          </a:prstGeom>
          <a:noFill/>
          <a:ln/>
        </p:spPr>
        <p:txBody>
          <a:bodyPr wrap="square" lIns="0" tIns="0" rIns="0" bIns="0" rtlCol="0" anchor="t"/>
          <a:lstStyle/>
          <a:p>
            <a:pPr marL="0" indent="0">
              <a:buNone/>
            </a:pPr>
            <a:r>
              <a:rPr lang="en-US" sz="1800" b="1" dirty="0">
                <a:solidFill>
                  <a:schemeClr val="tx1"/>
                </a:solidFill>
              </a:rPr>
              <a:t>Fatty-acid fuel</a:t>
            </a:r>
            <a:endParaRPr lang="en-US" sz="1800" dirty="0"/>
          </a:p>
        </p:txBody>
      </p:sp>
      <p:sp>
        <p:nvSpPr>
          <p:cNvPr id="7" name="Text 4"/>
          <p:cNvSpPr txBox="1"/>
          <p:nvPr/>
        </p:nvSpPr>
        <p:spPr>
          <a:xfrm>
            <a:off x="7406640" y="1874520"/>
            <a:ext cx="4206240" cy="868680"/>
          </a:xfrm>
          <a:prstGeom prst="rect">
            <a:avLst/>
          </a:prstGeom>
          <a:noFill/>
          <a:ln/>
        </p:spPr>
        <p:txBody>
          <a:bodyPr wrap="square" lIns="0" tIns="0" rIns="0" bIns="0" rtlCol="0" anchor="t"/>
          <a:lstStyle/>
          <a:p>
            <a:pPr marL="0" indent="0">
              <a:buNone/>
            </a:pPr>
            <a:r>
              <a:rPr lang="en-US" sz="1400" dirty="0">
                <a:solidFill>
                  <a:schemeClr val="tx2"/>
                </a:solidFill>
              </a:rPr>
              <a:t>Acylcarnitines (C16-OH, C17:0) and free fatty acids higher in CRKP — a shift in mitochondrial fuel use</a:t>
            </a:r>
            <a:endParaRPr lang="en-US" sz="1400" dirty="0"/>
          </a:p>
        </p:txBody>
      </p:sp>
      <p:sp>
        <p:nvSpPr>
          <p:cNvPr id="8" name="metab finding 2"/>
          <p:cNvSpPr/>
          <p:nvPr/>
        </p:nvSpPr>
        <p:spPr>
          <a:xfrm>
            <a:off x="6949440" y="2834640"/>
            <a:ext cx="292608" cy="292608"/>
          </a:xfrm>
          <a:prstGeom prst="ellipse">
            <a:avLst/>
          </a:prstGeom>
          <a:solidFill>
            <a:schemeClr val="accent2"/>
          </a:solidFill>
          <a:ln/>
        </p:spPr>
        <p:txBody>
          <a:bodyPr/>
          <a:lstStyle/>
          <a:p>
            <a:endParaRPr lang="en-DK"/>
          </a:p>
        </p:txBody>
      </p:sp>
      <p:sp>
        <p:nvSpPr>
          <p:cNvPr id="9" name="Text 6"/>
          <p:cNvSpPr txBox="1"/>
          <p:nvPr/>
        </p:nvSpPr>
        <p:spPr>
          <a:xfrm>
            <a:off x="7406640" y="2788920"/>
            <a:ext cx="4206240" cy="384048"/>
          </a:xfrm>
          <a:prstGeom prst="rect">
            <a:avLst/>
          </a:prstGeom>
          <a:noFill/>
          <a:ln/>
        </p:spPr>
        <p:txBody>
          <a:bodyPr wrap="square" lIns="0" tIns="0" rIns="0" bIns="0" rtlCol="0" anchor="t"/>
          <a:lstStyle/>
          <a:p>
            <a:pPr marL="0" indent="0">
              <a:buNone/>
            </a:pPr>
            <a:r>
              <a:rPr lang="en-US" sz="1800" b="1" dirty="0">
                <a:solidFill>
                  <a:schemeClr val="tx1"/>
                </a:solidFill>
              </a:rPr>
              <a:t>Amino acids</a:t>
            </a:r>
            <a:endParaRPr lang="en-US" sz="1800" dirty="0"/>
          </a:p>
        </p:txBody>
      </p:sp>
      <p:sp>
        <p:nvSpPr>
          <p:cNvPr id="10" name="Text 7"/>
          <p:cNvSpPr txBox="1"/>
          <p:nvPr/>
        </p:nvSpPr>
        <p:spPr>
          <a:xfrm>
            <a:off x="7406640" y="3200400"/>
            <a:ext cx="4206240" cy="868680"/>
          </a:xfrm>
          <a:prstGeom prst="rect">
            <a:avLst/>
          </a:prstGeom>
          <a:noFill/>
          <a:ln/>
        </p:spPr>
        <p:txBody>
          <a:bodyPr wrap="square" lIns="0" tIns="0" rIns="0" bIns="0" rtlCol="0" anchor="t"/>
          <a:lstStyle/>
          <a:p>
            <a:pPr marL="0" indent="0">
              <a:buNone/>
            </a:pPr>
            <a:r>
              <a:rPr lang="en-US" sz="1400" dirty="0">
                <a:solidFill>
                  <a:schemeClr val="tx2"/>
                </a:solidFill>
              </a:rPr>
              <a:t>Lysine up; amino-acid biosynthesis, D-amino-acid and arginine/proline pathways enriched</a:t>
            </a:r>
            <a:endParaRPr lang="en-US" sz="1400" dirty="0"/>
          </a:p>
        </p:txBody>
      </p:sp>
      <p:sp>
        <p:nvSpPr>
          <p:cNvPr id="11" name="metab finding 3"/>
          <p:cNvSpPr/>
          <p:nvPr/>
        </p:nvSpPr>
        <p:spPr>
          <a:xfrm>
            <a:off x="6949440" y="4160520"/>
            <a:ext cx="292608" cy="292608"/>
          </a:xfrm>
          <a:prstGeom prst="ellipse">
            <a:avLst/>
          </a:prstGeom>
          <a:solidFill>
            <a:schemeClr val="accent2"/>
          </a:solidFill>
          <a:ln/>
        </p:spPr>
        <p:txBody>
          <a:bodyPr/>
          <a:lstStyle/>
          <a:p>
            <a:endParaRPr lang="en-DK"/>
          </a:p>
        </p:txBody>
      </p:sp>
      <p:sp>
        <p:nvSpPr>
          <p:cNvPr id="12" name="Text 9"/>
          <p:cNvSpPr txBox="1"/>
          <p:nvPr/>
        </p:nvSpPr>
        <p:spPr>
          <a:xfrm>
            <a:off x="7406640" y="4114800"/>
            <a:ext cx="4206240" cy="384048"/>
          </a:xfrm>
          <a:prstGeom prst="rect">
            <a:avLst/>
          </a:prstGeom>
          <a:noFill/>
          <a:ln/>
        </p:spPr>
        <p:txBody>
          <a:bodyPr wrap="square" lIns="0" tIns="0" rIns="0" bIns="0" rtlCol="0" anchor="t"/>
          <a:lstStyle/>
          <a:p>
            <a:pPr marL="0" indent="0">
              <a:buNone/>
            </a:pPr>
            <a:r>
              <a:rPr lang="en-US" sz="1800" b="1" dirty="0">
                <a:solidFill>
                  <a:schemeClr val="tx1"/>
                </a:solidFill>
              </a:rPr>
              <a:t>Methionine cycle</a:t>
            </a:r>
            <a:endParaRPr lang="en-US" sz="1800" dirty="0"/>
          </a:p>
        </p:txBody>
      </p:sp>
      <p:sp>
        <p:nvSpPr>
          <p:cNvPr id="13" name="Text 10"/>
          <p:cNvSpPr txBox="1"/>
          <p:nvPr/>
        </p:nvSpPr>
        <p:spPr>
          <a:xfrm>
            <a:off x="7406640" y="4526280"/>
            <a:ext cx="4206240" cy="868680"/>
          </a:xfrm>
          <a:prstGeom prst="rect">
            <a:avLst/>
          </a:prstGeom>
          <a:noFill/>
          <a:ln/>
        </p:spPr>
        <p:txBody>
          <a:bodyPr wrap="square" lIns="0" tIns="0" rIns="0" bIns="0" rtlCol="0" anchor="t"/>
          <a:lstStyle/>
          <a:p>
            <a:pPr marL="0" indent="0">
              <a:buNone/>
            </a:pPr>
            <a:r>
              <a:rPr lang="en-US" sz="1400" dirty="0">
                <a:solidFill>
                  <a:schemeClr val="tx2"/>
                </a:solidFill>
              </a:rPr>
              <a:t>Integrated pathway analysis of proteomic and metabolomic data highlighted dysregulation in cysteine/methionine metabolism and the folate-mediated one-carbon pool, with MAT2B as a key connecting protein.</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
        <p:nvSpPr>
          <p:cNvPr id="14" name="TextBox 13">
            <a:extLst>
              <a:ext uri="{FF2B5EF4-FFF2-40B4-BE49-F238E27FC236}">
                <a16:creationId xmlns:a16="http://schemas.microsoft.com/office/drawing/2014/main" id="{3DADF394-D050-62A5-5E1E-70C3DF3720D8}"/>
              </a:ext>
            </a:extLst>
          </p:cNvPr>
          <p:cNvSpPr txBox="1"/>
          <p:nvPr/>
        </p:nvSpPr>
        <p:spPr>
          <a:xfrm>
            <a:off x="6583680" y="3914954"/>
            <a:ext cx="5437991" cy="1754326"/>
          </a:xfrm>
          <a:prstGeom prst="rect">
            <a:avLst/>
          </a:prstGeom>
          <a:noFill/>
          <a:ln>
            <a:solidFill>
              <a:schemeClr val="accent1"/>
            </a:solidFill>
          </a:ln>
        </p:spPr>
        <p:txBody>
          <a:bodyPr wrap="square" rtlCol="0">
            <a:spAutoFit/>
          </a:bodyPr>
          <a:lstStyle/>
          <a:p>
            <a:endParaRPr lang="en-DK" dirty="0"/>
          </a:p>
          <a:p>
            <a:endParaRPr lang="en-DK" dirty="0"/>
          </a:p>
          <a:p>
            <a:endParaRPr lang="en-DK" dirty="0"/>
          </a:p>
          <a:p>
            <a:endParaRPr lang="en-DK" dirty="0"/>
          </a:p>
          <a:p>
            <a:endParaRPr lang="en-DK" dirty="0"/>
          </a:p>
          <a:p>
            <a:endParaRPr lang="en-DK" dirty="0"/>
          </a:p>
        </p:txBody>
      </p:sp>
      <p:sp>
        <p:nvSpPr>
          <p:cNvPr id="15" name="TextBox 14">
            <a:extLst>
              <a:ext uri="{FF2B5EF4-FFF2-40B4-BE49-F238E27FC236}">
                <a16:creationId xmlns:a16="http://schemas.microsoft.com/office/drawing/2014/main" id="{85BB6661-5CC3-33FF-8500-A66AAB9F782D}"/>
              </a:ext>
            </a:extLst>
          </p:cNvPr>
          <p:cNvSpPr txBox="1"/>
          <p:nvPr/>
        </p:nvSpPr>
        <p:spPr>
          <a:xfrm>
            <a:off x="561156" y="5099538"/>
            <a:ext cx="5869745" cy="1200329"/>
          </a:xfrm>
          <a:prstGeom prst="rect">
            <a:avLst/>
          </a:prstGeom>
          <a:noFill/>
        </p:spPr>
        <p:txBody>
          <a:bodyPr wrap="square" rtlCol="0">
            <a:spAutoFit/>
          </a:bodyPr>
          <a:lstStyle/>
          <a:p>
            <a:r>
              <a:rPr lang="en-DK" b="1" dirty="0"/>
              <a:t>thermogenesis</a:t>
            </a:r>
            <a:r>
              <a:rPr lang="en-DK" dirty="0"/>
              <a:t> as the most significantly enriched pathway, alongside pronounced alterations in </a:t>
            </a:r>
            <a:r>
              <a:rPr lang="en-DK" b="1" dirty="0"/>
              <a:t>amino acid metabolism </a:t>
            </a:r>
            <a:r>
              <a:rPr lang="en-DK" dirty="0"/>
              <a:t>(valine, leucine, isoleucine </a:t>
            </a:r>
            <a:r>
              <a:rPr lang="en-DK" b="1" dirty="0"/>
              <a:t>degradation</a:t>
            </a:r>
            <a:r>
              <a:rPr lang="en-DK" dirty="0"/>
              <a:t>; arginine and proline metabolism) and </a:t>
            </a:r>
            <a:r>
              <a:rPr lang="en-DK" b="1" dirty="0"/>
              <a:t>fatty acid degradation </a:t>
            </a:r>
            <a:r>
              <a:rPr lang="en-DK" dirty="0"/>
              <a:t>pathways</a:t>
            </a:r>
          </a:p>
        </p:txBody>
      </p:sp>
      <p:pic>
        <p:nvPicPr>
          <p:cNvPr id="16" name="Picture 15" descr="Panel A shows a clustered heatmap of metabolite abundance with color-coded groups across samples; Panel B presents a 2D principal component analysis plot showing group clustering; Panel C displays a supervised OPLS-DA scores plot illustrating separation between groups; Panels D, E, and F are volcano plots depicting statistically significant metabolites by fold change and p-value between group comparisons; Panel G is a bubble chart showing metabolic pathway enrichment, with dot size and color indicating significance and pathway impact.">
            <a:extLst>
              <a:ext uri="{FF2B5EF4-FFF2-40B4-BE49-F238E27FC236}">
                <a16:creationId xmlns:a16="http://schemas.microsoft.com/office/drawing/2014/main" id="{FD8546A5-DF09-3120-3962-B26D73C5F135}"/>
              </a:ext>
            </a:extLst>
          </p:cNvPr>
          <p:cNvPicPr>
            <a:picLocks noChangeAspect="1"/>
          </p:cNvPicPr>
          <p:nvPr/>
        </p:nvPicPr>
        <p:blipFill>
          <a:blip r:embed="rId3"/>
          <a:srcRect l="49839" t="78823" r="6058"/>
          <a:stretch>
            <a:fillRect/>
          </a:stretch>
        </p:blipFill>
        <p:spPr>
          <a:xfrm>
            <a:off x="579119" y="1234440"/>
            <a:ext cx="5699003" cy="386509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Two lessons before we integrate</a:t>
            </a:r>
            <a:endParaRPr lang="en-US" sz="3200" dirty="0"/>
          </a:p>
        </p:txBody>
      </p:sp>
      <p:sp>
        <p:nvSpPr>
          <p:cNvPr id="3" name="lesson 1"/>
          <p:cNvSpPr/>
          <p:nvPr/>
        </p:nvSpPr>
        <p:spPr>
          <a:xfrm>
            <a:off x="548640" y="1463040"/>
            <a:ext cx="5440680" cy="3931920"/>
          </a:xfrm>
          <a:prstGeom prst="roundRect">
            <a:avLst>
              <a:gd name="adj" fmla="val 2791"/>
            </a:avLst>
          </a:prstGeom>
          <a:solidFill>
            <a:schemeClr val="tx1"/>
          </a:solidFill>
          <a:ln/>
          <a:effectLst>
            <a:outerShdw blurRad="76200" dist="25400" dir="5400000" algn="bl" rotWithShape="0">
              <a:srgbClr val="8A96A8">
                <a:alpha val="25000"/>
              </a:srgbClr>
            </a:outerShdw>
          </a:effectLst>
        </p:spPr>
        <p:txBody>
          <a:bodyPr/>
          <a:lstStyle/>
          <a:p>
            <a:endParaRPr lang="en-DK"/>
          </a:p>
        </p:txBody>
      </p:sp>
      <p:sp>
        <p:nvSpPr>
          <p:cNvPr id="4" name="lesson 1 disc"/>
          <p:cNvSpPr/>
          <p:nvPr/>
        </p:nvSpPr>
        <p:spPr>
          <a:xfrm>
            <a:off x="868680" y="1737360"/>
            <a:ext cx="822960" cy="822960"/>
          </a:xfrm>
          <a:prstGeom prst="ellipse">
            <a:avLst/>
          </a:prstGeom>
          <a:solidFill>
            <a:schemeClr val="bg1"/>
          </a:solidFill>
          <a:ln/>
        </p:spPr>
        <p:txBody>
          <a:bodyPr/>
          <a:lstStyle/>
          <a:p>
            <a:endParaRPr lang="en-DK"/>
          </a:p>
        </p:txBody>
      </p:sp>
      <p:pic>
        <p:nvPicPr>
          <p:cNvPr id="5" name="lesson 1 icon" descr="preencoded.png"/>
          <p:cNvPicPr>
            <a:picLocks noChangeAspect="1"/>
          </p:cNvPicPr>
          <p:nvPr/>
        </p:nvPicPr>
        <p:blipFill>
          <a:blip r:embed="rId3"/>
          <a:stretch>
            <a:fillRect/>
          </a:stretch>
        </p:blipFill>
        <p:spPr>
          <a:xfrm>
            <a:off x="1074420" y="1943100"/>
            <a:ext cx="411480" cy="411480"/>
          </a:xfrm>
          <a:prstGeom prst="rect">
            <a:avLst/>
          </a:prstGeom>
        </p:spPr>
      </p:pic>
      <p:sp>
        <p:nvSpPr>
          <p:cNvPr id="6" name="Text 3"/>
          <p:cNvSpPr txBox="1"/>
          <p:nvPr/>
        </p:nvSpPr>
        <p:spPr>
          <a:xfrm>
            <a:off x="868680" y="2743200"/>
            <a:ext cx="475488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Sepsis Severity dominates</a:t>
            </a:r>
            <a:endParaRPr lang="en-US" sz="2400" dirty="0"/>
          </a:p>
        </p:txBody>
      </p:sp>
      <p:sp>
        <p:nvSpPr>
          <p:cNvPr id="7" name="Text 4"/>
          <p:cNvSpPr txBox="1"/>
          <p:nvPr/>
        </p:nvSpPr>
        <p:spPr>
          <a:xfrm>
            <a:off x="868680" y="3383280"/>
            <a:ext cx="4800600" cy="1828800"/>
          </a:xfrm>
          <a:prstGeom prst="rect">
            <a:avLst/>
          </a:prstGeom>
          <a:noFill/>
          <a:ln/>
        </p:spPr>
        <p:txBody>
          <a:bodyPr wrap="square" lIns="0" tIns="0" rIns="0" bIns="0" rtlCol="0" anchor="t"/>
          <a:lstStyle/>
          <a:p>
            <a:pPr marL="0" indent="0">
              <a:buNone/>
            </a:pPr>
            <a:r>
              <a:rPr lang="en-US" sz="1600" dirty="0">
                <a:solidFill>
                  <a:schemeClr val="bg1"/>
                </a:solidFill>
              </a:rPr>
              <a:t> The largest variance is how ill each patient is — the resistance signal is a small perturbation on top.</a:t>
            </a:r>
            <a:endParaRPr lang="en-US" sz="1600" dirty="0"/>
          </a:p>
        </p:txBody>
      </p:sp>
      <p:sp>
        <p:nvSpPr>
          <p:cNvPr id="8" name="lesson 2"/>
          <p:cNvSpPr/>
          <p:nvPr/>
        </p:nvSpPr>
        <p:spPr>
          <a:xfrm>
            <a:off x="6172200" y="1463040"/>
            <a:ext cx="5440680" cy="3931920"/>
          </a:xfrm>
          <a:prstGeom prst="roundRect">
            <a:avLst>
              <a:gd name="adj" fmla="val 2791"/>
            </a:avLst>
          </a:prstGeom>
          <a:solidFill>
            <a:schemeClr val="accent4"/>
          </a:solidFill>
          <a:ln/>
          <a:effectLst>
            <a:outerShdw blurRad="76200" dist="25400" dir="5400000" algn="bl" rotWithShape="0">
              <a:srgbClr val="8A96A8">
                <a:alpha val="25000"/>
              </a:srgbClr>
            </a:outerShdw>
          </a:effectLst>
        </p:spPr>
        <p:txBody>
          <a:bodyPr/>
          <a:lstStyle/>
          <a:p>
            <a:endParaRPr lang="en-DK"/>
          </a:p>
        </p:txBody>
      </p:sp>
      <p:sp>
        <p:nvSpPr>
          <p:cNvPr id="9" name="lesson 2 disc"/>
          <p:cNvSpPr/>
          <p:nvPr/>
        </p:nvSpPr>
        <p:spPr>
          <a:xfrm>
            <a:off x="6492240" y="1737360"/>
            <a:ext cx="822960" cy="822960"/>
          </a:xfrm>
          <a:prstGeom prst="ellipse">
            <a:avLst/>
          </a:prstGeom>
          <a:solidFill>
            <a:schemeClr val="bg1"/>
          </a:solidFill>
          <a:ln/>
        </p:spPr>
        <p:txBody>
          <a:bodyPr/>
          <a:lstStyle/>
          <a:p>
            <a:endParaRPr lang="en-DK"/>
          </a:p>
        </p:txBody>
      </p:sp>
      <p:pic>
        <p:nvPicPr>
          <p:cNvPr id="10" name="lesson 2 icon" descr="preencoded.png"/>
          <p:cNvPicPr>
            <a:picLocks noChangeAspect="1"/>
          </p:cNvPicPr>
          <p:nvPr/>
        </p:nvPicPr>
        <p:blipFill>
          <a:blip r:embed="rId4"/>
          <a:stretch>
            <a:fillRect/>
          </a:stretch>
        </p:blipFill>
        <p:spPr>
          <a:xfrm>
            <a:off x="6697980" y="1943100"/>
            <a:ext cx="411480" cy="411480"/>
          </a:xfrm>
          <a:prstGeom prst="rect">
            <a:avLst/>
          </a:prstGeom>
        </p:spPr>
      </p:pic>
      <p:sp>
        <p:nvSpPr>
          <p:cNvPr id="11" name="Text 7"/>
          <p:cNvSpPr txBox="1"/>
          <p:nvPr/>
        </p:nvSpPr>
        <p:spPr>
          <a:xfrm>
            <a:off x="6492240" y="2743200"/>
            <a:ext cx="475488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A list = data + choices</a:t>
            </a:r>
            <a:endParaRPr lang="en-US" sz="2400" dirty="0"/>
          </a:p>
        </p:txBody>
      </p:sp>
      <p:sp>
        <p:nvSpPr>
          <p:cNvPr id="12" name="Text 8"/>
          <p:cNvSpPr txBox="1"/>
          <p:nvPr/>
        </p:nvSpPr>
        <p:spPr>
          <a:xfrm>
            <a:off x="6492240" y="3383280"/>
            <a:ext cx="4800600" cy="1828800"/>
          </a:xfrm>
          <a:prstGeom prst="rect">
            <a:avLst/>
          </a:prstGeom>
          <a:noFill/>
          <a:ln/>
        </p:spPr>
        <p:txBody>
          <a:bodyPr wrap="square" lIns="0" tIns="0" rIns="0" bIns="0" rtlCol="0" anchor="t"/>
          <a:lstStyle/>
          <a:p>
            <a:pPr marL="0" indent="0">
              <a:buNone/>
            </a:pPr>
            <a:r>
              <a:rPr lang="en-US" sz="1600" dirty="0">
                <a:solidFill>
                  <a:schemeClr val="bg1"/>
                </a:solidFill>
              </a:rPr>
              <a:t>Re-analysing the same matrix reproduces the published effect sizes closely, but not the same list. Filtering, imputation and thresholds change membership.</a:t>
            </a:r>
            <a:endParaRPr lang="en-US" sz="1600" dirty="0"/>
          </a:p>
        </p:txBody>
      </p:sp>
      <p:sp>
        <p:nvSpPr>
          <p:cNvPr id="13" name="Text 9"/>
          <p:cNvSpPr txBox="1"/>
          <p:nvPr/>
        </p:nvSpPr>
        <p:spPr>
          <a:xfrm>
            <a:off x="2110155" y="5623560"/>
            <a:ext cx="8335108" cy="457200"/>
          </a:xfrm>
          <a:prstGeom prst="rect">
            <a:avLst/>
          </a:prstGeom>
          <a:noFill/>
          <a:ln/>
        </p:spPr>
        <p:txBody>
          <a:bodyPr wrap="square" lIns="0" tIns="0" rIns="0" bIns="0" rtlCol="0" anchor="t"/>
          <a:lstStyle/>
          <a:p>
            <a:pPr marL="0" indent="0">
              <a:buNone/>
            </a:pPr>
            <a:r>
              <a:rPr lang="en-US" i="1" dirty="0">
                <a:solidFill>
                  <a:schemeClr val="accent5"/>
                </a:solidFill>
              </a:rPr>
              <a:t>So the question for integration is not 'do the groups separate?' but 'what structure is shared, and where does mechanism cross layers?'</a:t>
            </a:r>
            <a:endParaRPr lang="en-US"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51760"/>
            <a:ext cx="10515600" cy="109728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4  ·  Integration in </a:t>
            </a:r>
            <a:r>
              <a:rPr lang="en-US" dirty="0"/>
              <a:t>few</a:t>
            </a:r>
            <a:r>
              <a:rPr lang="en-US" sz="4000" b="1" dirty="0">
                <a:solidFill>
                  <a:schemeClr val="bg1"/>
                </a:solidFill>
                <a:latin typeface="Cambria" pitchFamily="34" charset="0"/>
                <a:ea typeface="Cambria" pitchFamily="34" charset="-122"/>
                <a:cs typeface="Cambria" pitchFamily="34" charset="-120"/>
              </a:rPr>
              <a:t> minutes</a:t>
            </a:r>
            <a:endParaRPr lang="en-US" sz="4000" dirty="0"/>
          </a:p>
        </p:txBody>
      </p:sp>
      <p:sp>
        <p:nvSpPr>
          <p:cNvPr id="3" name="Text 0"/>
          <p:cNvSpPr>
            <a:spLocks noGrp="1"/>
          </p:cNvSpPr>
          <p:nvPr>
            <p:ph type="body" idx="101" hasCustomPrompt="1"/>
          </p:nvPr>
        </p:nvSpPr>
        <p:spPr>
          <a:xfrm>
            <a:off x="548640" y="3794760"/>
            <a:ext cx="10058400" cy="914400"/>
          </a:xfrm>
          <a:prstGeom prst="rect">
            <a:avLst/>
          </a:prstGeom>
          <a:noFill/>
          <a:ln/>
        </p:spPr>
        <p:txBody>
          <a:bodyPr wrap="square" rtlCol="0" anchor="t"/>
          <a:lstStyle/>
          <a:p>
            <a:pPr marL="0" indent="0">
              <a:buNone/>
            </a:pPr>
            <a:r>
              <a:rPr lang="en-US" sz="2000" dirty="0">
                <a:solidFill>
                  <a:schemeClr val="accent4">
                    <a:lumMod val="20000"/>
                    <a:lumOff val="80000"/>
                  </a:schemeClr>
                </a:solidFill>
                <a:latin typeface="Calibri" pitchFamily="34" charset="0"/>
                <a:ea typeface="Calibri" pitchFamily="34" charset="-122"/>
                <a:cs typeface="Calibri" pitchFamily="34" charset="-120"/>
              </a:rPr>
              <a:t>Just enough to start the notebooks</a:t>
            </a:r>
            <a:endParaRPr lang="en-US" sz="2000" dirty="0">
              <a:solidFill>
                <a:schemeClr val="accent4">
                  <a:lumMod val="20000"/>
                  <a:lumOff val="80000"/>
                </a:schemeClr>
              </a:solidFill>
            </a:endParaRPr>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pPr algn="l"/>
            <a:r>
              <a:rPr lang="es" b="1"/>
              <a:t>Why is Multi-Omics Integration Key?</a:t>
            </a:r>
            <a:endParaRPr b="1"/>
          </a:p>
        </p:txBody>
      </p:sp>
      <p:sp>
        <p:nvSpPr>
          <p:cNvPr id="76" name="Google Shape;76;p16"/>
          <p:cNvSpPr txBox="1"/>
          <p:nvPr/>
        </p:nvSpPr>
        <p:spPr>
          <a:xfrm>
            <a:off x="550051" y="2646967"/>
            <a:ext cx="3360400" cy="3241200"/>
          </a:xfrm>
          <a:prstGeom prst="rect">
            <a:avLst/>
          </a:prstGeom>
          <a:noFill/>
          <a:ln>
            <a:noFill/>
          </a:ln>
        </p:spPr>
        <p:txBody>
          <a:bodyPr spcFirstLastPara="1" wrap="square" lIns="121900" tIns="121900" rIns="121900" bIns="121900" anchor="t" anchorCtr="0">
            <a:noAutofit/>
          </a:bodyPr>
          <a:lstStyle/>
          <a:p>
            <a:pPr algn="ctr">
              <a:lnSpc>
                <a:spcPct val="115000"/>
              </a:lnSpc>
              <a:buClr>
                <a:schemeClr val="dk1"/>
              </a:buClr>
              <a:buSzPts val="1100"/>
            </a:pPr>
            <a:r>
              <a:rPr lang="es" sz="2400" b="1">
                <a:solidFill>
                  <a:schemeClr val="accent1"/>
                </a:solidFill>
                <a:latin typeface="Merriweather"/>
                <a:ea typeface="Merriweather"/>
                <a:cs typeface="Merriweather"/>
                <a:sym typeface="Merriweather"/>
              </a:rPr>
              <a:t>Discover Mechanisms</a:t>
            </a:r>
            <a:endParaRPr sz="2400" b="1">
              <a:solidFill>
                <a:schemeClr val="accent1"/>
              </a:solidFill>
              <a:latin typeface="Merriweather"/>
              <a:ea typeface="Merriweather"/>
              <a:cs typeface="Merriweather"/>
              <a:sym typeface="Merriweather"/>
            </a:endParaRPr>
          </a:p>
          <a:p>
            <a:pPr algn="ctr">
              <a:lnSpc>
                <a:spcPct val="150000"/>
              </a:lnSpc>
              <a:spcBef>
                <a:spcPts val="1867"/>
              </a:spcBef>
              <a:buClr>
                <a:schemeClr val="dk1"/>
              </a:buClr>
              <a:buSzPts val="1100"/>
            </a:pPr>
            <a:r>
              <a:rPr lang="es">
                <a:solidFill>
                  <a:srgbClr val="1E293B"/>
                </a:solidFill>
              </a:rPr>
              <a:t>Uncover </a:t>
            </a:r>
            <a:r>
              <a:rPr lang="es" b="1">
                <a:solidFill>
                  <a:srgbClr val="1E293B"/>
                </a:solidFill>
              </a:rPr>
              <a:t>complex</a:t>
            </a:r>
            <a:r>
              <a:rPr lang="es">
                <a:solidFill>
                  <a:srgbClr val="1E293B"/>
                </a:solidFill>
              </a:rPr>
              <a:t> </a:t>
            </a:r>
            <a:r>
              <a:rPr lang="es" b="1">
                <a:solidFill>
                  <a:srgbClr val="1E293B"/>
                </a:solidFill>
              </a:rPr>
              <a:t>molecular pathways</a:t>
            </a:r>
            <a:r>
              <a:rPr lang="es">
                <a:solidFill>
                  <a:srgbClr val="1E293B"/>
                </a:solidFill>
              </a:rPr>
              <a:t> and </a:t>
            </a:r>
            <a:r>
              <a:rPr lang="es" b="1">
                <a:solidFill>
                  <a:srgbClr val="1E293B"/>
                </a:solidFill>
              </a:rPr>
              <a:t>regulatory networks</a:t>
            </a:r>
            <a:r>
              <a:rPr lang="es">
                <a:solidFill>
                  <a:srgbClr val="1E293B"/>
                </a:solidFill>
              </a:rPr>
              <a:t> that are hidden to single-omic analysis.</a:t>
            </a:r>
            <a:endParaRPr>
              <a:solidFill>
                <a:srgbClr val="1E293B"/>
              </a:solidFill>
            </a:endParaRPr>
          </a:p>
          <a:p>
            <a:pPr>
              <a:spcBef>
                <a:spcPts val="1867"/>
              </a:spcBef>
            </a:pPr>
            <a:endParaRPr sz="2400">
              <a:solidFill>
                <a:schemeClr val="dk2"/>
              </a:solidFill>
            </a:endParaRPr>
          </a:p>
        </p:txBody>
      </p:sp>
      <p:sp>
        <p:nvSpPr>
          <p:cNvPr id="77" name="Google Shape;77;p16"/>
          <p:cNvSpPr txBox="1"/>
          <p:nvPr/>
        </p:nvSpPr>
        <p:spPr>
          <a:xfrm>
            <a:off x="4371184" y="2646967"/>
            <a:ext cx="3360400" cy="3241200"/>
          </a:xfrm>
          <a:prstGeom prst="rect">
            <a:avLst/>
          </a:prstGeom>
          <a:noFill/>
          <a:ln>
            <a:noFill/>
          </a:ln>
        </p:spPr>
        <p:txBody>
          <a:bodyPr spcFirstLastPara="1" wrap="square" lIns="121900" tIns="121900" rIns="121900" bIns="121900" anchor="t" anchorCtr="0">
            <a:noAutofit/>
          </a:bodyPr>
          <a:lstStyle/>
          <a:p>
            <a:pPr algn="ctr">
              <a:lnSpc>
                <a:spcPct val="115000"/>
              </a:lnSpc>
              <a:buClr>
                <a:schemeClr val="dk1"/>
              </a:buClr>
              <a:buSzPts val="1100"/>
            </a:pPr>
            <a:r>
              <a:rPr lang="es" sz="2400" b="1">
                <a:solidFill>
                  <a:schemeClr val="accent1"/>
                </a:solidFill>
                <a:latin typeface="Merriweather"/>
                <a:ea typeface="Merriweather"/>
                <a:cs typeface="Merriweather"/>
                <a:sym typeface="Merriweather"/>
              </a:rPr>
              <a:t>Refine Phenotypic Subtypes</a:t>
            </a:r>
            <a:endParaRPr sz="2400" b="1">
              <a:solidFill>
                <a:schemeClr val="accent1"/>
              </a:solidFill>
              <a:latin typeface="Merriweather"/>
              <a:ea typeface="Merriweather"/>
              <a:cs typeface="Merriweather"/>
              <a:sym typeface="Merriweather"/>
            </a:endParaRPr>
          </a:p>
          <a:p>
            <a:pPr algn="ctr">
              <a:lnSpc>
                <a:spcPct val="150000"/>
              </a:lnSpc>
              <a:spcBef>
                <a:spcPts val="1867"/>
              </a:spcBef>
              <a:buClr>
                <a:schemeClr val="dk1"/>
              </a:buClr>
              <a:buSzPts val="1100"/>
            </a:pPr>
            <a:r>
              <a:rPr lang="es">
                <a:solidFill>
                  <a:srgbClr val="1E293B"/>
                </a:solidFill>
              </a:rPr>
              <a:t>Identify </a:t>
            </a:r>
            <a:r>
              <a:rPr lang="es" b="1">
                <a:solidFill>
                  <a:srgbClr val="1E293B"/>
                </a:solidFill>
              </a:rPr>
              <a:t>new, more precise subgroups</a:t>
            </a:r>
            <a:r>
              <a:rPr lang="es">
                <a:solidFill>
                  <a:srgbClr val="1E293B"/>
                </a:solidFill>
              </a:rPr>
              <a:t> based on their complete molecular profile, leading to more accurate analyses.</a:t>
            </a:r>
            <a:endParaRPr>
              <a:solidFill>
                <a:srgbClr val="1E293B"/>
              </a:solidFill>
            </a:endParaRPr>
          </a:p>
          <a:p>
            <a:pPr>
              <a:spcBef>
                <a:spcPts val="1867"/>
              </a:spcBef>
            </a:pPr>
            <a:endParaRPr sz="2400">
              <a:solidFill>
                <a:schemeClr val="dk2"/>
              </a:solidFill>
            </a:endParaRPr>
          </a:p>
        </p:txBody>
      </p:sp>
      <p:sp>
        <p:nvSpPr>
          <p:cNvPr id="78" name="Google Shape;78;p16"/>
          <p:cNvSpPr txBox="1"/>
          <p:nvPr/>
        </p:nvSpPr>
        <p:spPr>
          <a:xfrm>
            <a:off x="8281551" y="2646967"/>
            <a:ext cx="3360400" cy="3241200"/>
          </a:xfrm>
          <a:prstGeom prst="rect">
            <a:avLst/>
          </a:prstGeom>
          <a:noFill/>
          <a:ln>
            <a:noFill/>
          </a:ln>
        </p:spPr>
        <p:txBody>
          <a:bodyPr spcFirstLastPara="1" wrap="square" lIns="121900" tIns="121900" rIns="121900" bIns="121900" anchor="t" anchorCtr="0">
            <a:noAutofit/>
          </a:bodyPr>
          <a:lstStyle/>
          <a:p>
            <a:pPr algn="ctr">
              <a:lnSpc>
                <a:spcPct val="115000"/>
              </a:lnSpc>
              <a:buClr>
                <a:schemeClr val="dk1"/>
              </a:buClr>
              <a:buSzPts val="1100"/>
            </a:pPr>
            <a:r>
              <a:rPr lang="es" sz="2400" b="1">
                <a:solidFill>
                  <a:schemeClr val="accent1"/>
                </a:solidFill>
                <a:latin typeface="Merriweather"/>
                <a:ea typeface="Merriweather"/>
                <a:cs typeface="Merriweather"/>
                <a:sym typeface="Merriweather"/>
              </a:rPr>
              <a:t>Find Better Biomarkers</a:t>
            </a:r>
            <a:endParaRPr sz="2400" b="1">
              <a:solidFill>
                <a:schemeClr val="accent1"/>
              </a:solidFill>
              <a:latin typeface="Merriweather"/>
              <a:ea typeface="Merriweather"/>
              <a:cs typeface="Merriweather"/>
              <a:sym typeface="Merriweather"/>
            </a:endParaRPr>
          </a:p>
          <a:p>
            <a:pPr algn="ctr">
              <a:lnSpc>
                <a:spcPct val="150000"/>
              </a:lnSpc>
              <a:spcBef>
                <a:spcPts val="1867"/>
              </a:spcBef>
              <a:spcAft>
                <a:spcPts val="1867"/>
              </a:spcAft>
            </a:pPr>
            <a:r>
              <a:rPr lang="es">
                <a:solidFill>
                  <a:srgbClr val="1E293B"/>
                </a:solidFill>
              </a:rPr>
              <a:t>Discover robust biomarkers for disease diagnosis, prognosis, and prediction of treatment response.</a:t>
            </a:r>
            <a:endParaRPr sz="2400">
              <a:solidFill>
                <a:schemeClr val="dk2"/>
              </a:solidFill>
            </a:endParaRPr>
          </a:p>
        </p:txBody>
      </p:sp>
      <p:pic>
        <p:nvPicPr>
          <p:cNvPr id="79" name="Google Shape;79;p16" descr="Rotating gears line icon, technology concept, Cogwheel gear mechanism sign on white background, two gear wheels icon in outline style for mobile concept and web design. Vector graphics. (Provided by Getty Images)"/>
          <p:cNvPicPr preferRelativeResize="0"/>
          <p:nvPr/>
        </p:nvPicPr>
        <p:blipFill>
          <a:blip r:embed="rId3">
            <a:alphaModFix/>
          </a:blip>
          <a:stretch>
            <a:fillRect/>
          </a:stretch>
        </p:blipFill>
        <p:spPr>
          <a:xfrm>
            <a:off x="1734354" y="1645959"/>
            <a:ext cx="991799" cy="991799"/>
          </a:xfrm>
          <a:prstGeom prst="rect">
            <a:avLst/>
          </a:prstGeom>
          <a:noFill/>
          <a:ln>
            <a:noFill/>
          </a:ln>
        </p:spPr>
      </p:pic>
      <p:pic>
        <p:nvPicPr>
          <p:cNvPr id="80" name="Google Shape;80;p16" descr="Pencil choice icon vector. Isolated contour symbol illustration (Provided by Getty Images)"/>
          <p:cNvPicPr preferRelativeResize="0"/>
          <p:nvPr/>
        </p:nvPicPr>
        <p:blipFill>
          <a:blip r:embed="rId4">
            <a:alphaModFix/>
          </a:blip>
          <a:stretch>
            <a:fillRect/>
          </a:stretch>
        </p:blipFill>
        <p:spPr>
          <a:xfrm>
            <a:off x="5555485" y="1645967"/>
            <a:ext cx="991799" cy="991799"/>
          </a:xfrm>
          <a:prstGeom prst="rect">
            <a:avLst/>
          </a:prstGeom>
          <a:noFill/>
          <a:ln>
            <a:noFill/>
          </a:ln>
        </p:spPr>
      </p:pic>
      <p:pic>
        <p:nvPicPr>
          <p:cNvPr id="81" name="Google Shape;81;p16" descr="Continuous one line drawing light bulb symbol idea and creativity isolated on white background minimalism design. (Provided by Getty Images)"/>
          <p:cNvPicPr preferRelativeResize="0"/>
          <p:nvPr/>
        </p:nvPicPr>
        <p:blipFill>
          <a:blip r:embed="rId5">
            <a:alphaModFix/>
          </a:blip>
          <a:stretch>
            <a:fillRect/>
          </a:stretch>
        </p:blipFill>
        <p:spPr>
          <a:xfrm>
            <a:off x="9465851" y="1645969"/>
            <a:ext cx="991799" cy="9917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603251" y="539751"/>
            <a:ext cx="10985600" cy="716400"/>
          </a:xfrm>
          <a:prstGeom prst="rect">
            <a:avLst/>
          </a:prstGeom>
          <a:noFill/>
          <a:ln>
            <a:noFill/>
          </a:ln>
        </p:spPr>
        <p:txBody>
          <a:bodyPr spcFirstLastPara="1" wrap="square" lIns="25400" tIns="25400" rIns="25400" bIns="25400" anchor="t" anchorCtr="0">
            <a:normAutofit/>
          </a:bodyPr>
          <a:lstStyle/>
          <a:p>
            <a:r>
              <a:rPr lang="es" b="1">
                <a:solidFill>
                  <a:srgbClr val="000000"/>
                </a:solidFill>
              </a:rPr>
              <a:t>Data Integration</a:t>
            </a:r>
            <a:endParaRPr b="1"/>
          </a:p>
        </p:txBody>
      </p:sp>
      <p:grpSp>
        <p:nvGrpSpPr>
          <p:cNvPr id="93" name="Google Shape;93;p18"/>
          <p:cNvGrpSpPr/>
          <p:nvPr/>
        </p:nvGrpSpPr>
        <p:grpSpPr>
          <a:xfrm>
            <a:off x="1183900" y="539767"/>
            <a:ext cx="9824200" cy="6407600"/>
            <a:chOff x="1726425" y="285475"/>
            <a:chExt cx="7368150" cy="4805700"/>
          </a:xfrm>
        </p:grpSpPr>
        <p:sp>
          <p:nvSpPr>
            <p:cNvPr id="94" name="Google Shape;94;p18"/>
            <p:cNvSpPr/>
            <p:nvPr/>
          </p:nvSpPr>
          <p:spPr>
            <a:xfrm>
              <a:off x="2814281" y="1556225"/>
              <a:ext cx="1334700" cy="900600"/>
            </a:xfrm>
            <a:prstGeom prst="rect">
              <a:avLst/>
            </a:prstGeom>
            <a:solidFill>
              <a:srgbClr val="07376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95" name="Google Shape;95;p18"/>
            <p:cNvSpPr/>
            <p:nvPr/>
          </p:nvSpPr>
          <p:spPr>
            <a:xfrm>
              <a:off x="4333456" y="1556225"/>
              <a:ext cx="1334700" cy="900600"/>
            </a:xfrm>
            <a:prstGeom prst="rect">
              <a:avLst/>
            </a:prstGeom>
            <a:solidFill>
              <a:srgbClr val="0B539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96" name="Google Shape;96;p18"/>
            <p:cNvSpPr/>
            <p:nvPr/>
          </p:nvSpPr>
          <p:spPr>
            <a:xfrm>
              <a:off x="5972006" y="1556225"/>
              <a:ext cx="1334700" cy="900600"/>
            </a:xfrm>
            <a:prstGeom prst="rect">
              <a:avLst/>
            </a:prstGeom>
            <a:solidFill>
              <a:srgbClr val="6FA8D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97" name="Google Shape;97;p18"/>
            <p:cNvSpPr/>
            <p:nvPr/>
          </p:nvSpPr>
          <p:spPr>
            <a:xfrm>
              <a:off x="2814281" y="2769325"/>
              <a:ext cx="1334700" cy="900600"/>
            </a:xfrm>
            <a:prstGeom prst="rect">
              <a:avLst/>
            </a:prstGeom>
            <a:solidFill>
              <a:srgbClr val="351C7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98" name="Google Shape;98;p18"/>
            <p:cNvSpPr/>
            <p:nvPr/>
          </p:nvSpPr>
          <p:spPr>
            <a:xfrm>
              <a:off x="4333456" y="2769325"/>
              <a:ext cx="1334700" cy="900600"/>
            </a:xfrm>
            <a:prstGeom prst="rect">
              <a:avLst/>
            </a:prstGeom>
            <a:solidFill>
              <a:srgbClr val="674EA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99" name="Google Shape;99;p18"/>
            <p:cNvSpPr/>
            <p:nvPr/>
          </p:nvSpPr>
          <p:spPr>
            <a:xfrm>
              <a:off x="5972006" y="2769325"/>
              <a:ext cx="1334700" cy="9006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00" name="Google Shape;100;p18"/>
            <p:cNvSpPr/>
            <p:nvPr/>
          </p:nvSpPr>
          <p:spPr>
            <a:xfrm>
              <a:off x="2814281" y="4080075"/>
              <a:ext cx="1334700" cy="900600"/>
            </a:xfrm>
            <a:prstGeom prst="rect">
              <a:avLst/>
            </a:prstGeom>
            <a:solidFill>
              <a:srgbClr val="741B4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01" name="Google Shape;101;p18"/>
            <p:cNvSpPr/>
            <p:nvPr/>
          </p:nvSpPr>
          <p:spPr>
            <a:xfrm>
              <a:off x="4333456" y="4080075"/>
              <a:ext cx="1334700" cy="900600"/>
            </a:xfrm>
            <a:prstGeom prst="rect">
              <a:avLst/>
            </a:prstGeom>
            <a:solidFill>
              <a:srgbClr val="A64D7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02" name="Google Shape;102;p18"/>
            <p:cNvSpPr/>
            <p:nvPr/>
          </p:nvSpPr>
          <p:spPr>
            <a:xfrm>
              <a:off x="5972006" y="4080075"/>
              <a:ext cx="1334700" cy="900600"/>
            </a:xfrm>
            <a:prstGeom prst="rect">
              <a:avLst/>
            </a:prstGeom>
            <a:solidFill>
              <a:srgbClr val="D5A6B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03" name="Google Shape;103;p18"/>
            <p:cNvSpPr txBox="1"/>
            <p:nvPr/>
          </p:nvSpPr>
          <p:spPr>
            <a:xfrm>
              <a:off x="2990625" y="1094513"/>
              <a:ext cx="10200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Study 1</a:t>
              </a:r>
              <a:endParaRPr sz="2267" b="1">
                <a:solidFill>
                  <a:schemeClr val="dk2"/>
                </a:solidFill>
              </a:endParaRPr>
            </a:p>
          </p:txBody>
        </p:sp>
        <p:sp>
          <p:nvSpPr>
            <p:cNvPr id="104" name="Google Shape;104;p18"/>
            <p:cNvSpPr txBox="1"/>
            <p:nvPr/>
          </p:nvSpPr>
          <p:spPr>
            <a:xfrm>
              <a:off x="6148338" y="1094513"/>
              <a:ext cx="10200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Study n</a:t>
              </a:r>
              <a:endParaRPr sz="2267" b="1">
                <a:solidFill>
                  <a:schemeClr val="dk2"/>
                </a:solidFill>
              </a:endParaRPr>
            </a:p>
          </p:txBody>
        </p:sp>
        <p:sp>
          <p:nvSpPr>
            <p:cNvPr id="105" name="Google Shape;105;p18"/>
            <p:cNvSpPr txBox="1"/>
            <p:nvPr/>
          </p:nvSpPr>
          <p:spPr>
            <a:xfrm>
              <a:off x="4471813" y="1094513"/>
              <a:ext cx="10200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Study 2</a:t>
              </a:r>
              <a:endParaRPr sz="2267" b="1">
                <a:solidFill>
                  <a:schemeClr val="dk2"/>
                </a:solidFill>
              </a:endParaRPr>
            </a:p>
          </p:txBody>
        </p:sp>
        <p:sp>
          <p:nvSpPr>
            <p:cNvPr id="106" name="Google Shape;106;p18"/>
            <p:cNvSpPr txBox="1"/>
            <p:nvPr/>
          </p:nvSpPr>
          <p:spPr>
            <a:xfrm>
              <a:off x="1726425" y="1775675"/>
              <a:ext cx="10692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Omics 1</a:t>
              </a:r>
              <a:endParaRPr sz="2267" b="1">
                <a:solidFill>
                  <a:schemeClr val="dk2"/>
                </a:solidFill>
              </a:endParaRPr>
            </a:p>
          </p:txBody>
        </p:sp>
        <p:sp>
          <p:nvSpPr>
            <p:cNvPr id="107" name="Google Shape;107;p18"/>
            <p:cNvSpPr txBox="1"/>
            <p:nvPr/>
          </p:nvSpPr>
          <p:spPr>
            <a:xfrm>
              <a:off x="1726425" y="2956225"/>
              <a:ext cx="10692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Omics 2</a:t>
              </a:r>
              <a:endParaRPr sz="2267" b="1">
                <a:solidFill>
                  <a:schemeClr val="dk2"/>
                </a:solidFill>
              </a:endParaRPr>
            </a:p>
          </p:txBody>
        </p:sp>
        <p:sp>
          <p:nvSpPr>
            <p:cNvPr id="108" name="Google Shape;108;p18"/>
            <p:cNvSpPr txBox="1"/>
            <p:nvPr/>
          </p:nvSpPr>
          <p:spPr>
            <a:xfrm>
              <a:off x="1726475" y="4299525"/>
              <a:ext cx="1069200" cy="446294"/>
            </a:xfrm>
            <a:prstGeom prst="rect">
              <a:avLst/>
            </a:prstGeom>
            <a:noFill/>
            <a:ln>
              <a:noFill/>
            </a:ln>
          </p:spPr>
          <p:txBody>
            <a:bodyPr spcFirstLastPara="1" wrap="square" lIns="121900" tIns="121900" rIns="121900" bIns="121900" anchor="t" anchorCtr="0">
              <a:spAutoFit/>
            </a:bodyPr>
            <a:lstStyle/>
            <a:p>
              <a:r>
                <a:rPr lang="es" sz="2267" b="1">
                  <a:solidFill>
                    <a:schemeClr val="dk2"/>
                  </a:solidFill>
                </a:rPr>
                <a:t>Omics n</a:t>
              </a:r>
              <a:endParaRPr sz="2267" b="1">
                <a:solidFill>
                  <a:schemeClr val="dk2"/>
                </a:solidFill>
              </a:endParaRPr>
            </a:p>
          </p:txBody>
        </p:sp>
        <p:sp>
          <p:nvSpPr>
            <p:cNvPr id="109" name="Google Shape;109;p18"/>
            <p:cNvSpPr/>
            <p:nvPr/>
          </p:nvSpPr>
          <p:spPr>
            <a:xfrm>
              <a:off x="5795725" y="1957625"/>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0" name="Google Shape;110;p18"/>
            <p:cNvSpPr/>
            <p:nvPr/>
          </p:nvSpPr>
          <p:spPr>
            <a:xfrm>
              <a:off x="5757750" y="3170725"/>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1" name="Google Shape;111;p18"/>
            <p:cNvSpPr/>
            <p:nvPr/>
          </p:nvSpPr>
          <p:spPr>
            <a:xfrm>
              <a:off x="5795725" y="4481475"/>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2" name="Google Shape;112;p18"/>
            <p:cNvSpPr/>
            <p:nvPr/>
          </p:nvSpPr>
          <p:spPr>
            <a:xfrm>
              <a:off x="3419300" y="3826100"/>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3" name="Google Shape;113;p18"/>
            <p:cNvSpPr/>
            <p:nvPr/>
          </p:nvSpPr>
          <p:spPr>
            <a:xfrm>
              <a:off x="4938475" y="3858650"/>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4" name="Google Shape;114;p18"/>
            <p:cNvSpPr/>
            <p:nvPr/>
          </p:nvSpPr>
          <p:spPr>
            <a:xfrm>
              <a:off x="6615000" y="3826100"/>
              <a:ext cx="86700" cy="9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15" name="Google Shape;115;p18"/>
            <p:cNvSpPr txBox="1"/>
            <p:nvPr/>
          </p:nvSpPr>
          <p:spPr>
            <a:xfrm>
              <a:off x="6044025" y="285475"/>
              <a:ext cx="1694100" cy="656700"/>
            </a:xfrm>
            <a:prstGeom prst="rect">
              <a:avLst/>
            </a:prstGeom>
            <a:noFill/>
            <a:ln>
              <a:noFill/>
            </a:ln>
          </p:spPr>
          <p:txBody>
            <a:bodyPr spcFirstLastPara="1" wrap="square" lIns="121900" tIns="121900" rIns="121900" bIns="121900" anchor="t" anchorCtr="0">
              <a:noAutofit/>
            </a:bodyPr>
            <a:lstStyle/>
            <a:p>
              <a:r>
                <a:rPr lang="es" sz="2400" b="1">
                  <a:solidFill>
                    <a:schemeClr val="dk2"/>
                  </a:solidFill>
                </a:rPr>
                <a:t>Horizontal Integration</a:t>
              </a:r>
              <a:endParaRPr sz="2400" b="1">
                <a:solidFill>
                  <a:schemeClr val="dk2"/>
                </a:solidFill>
              </a:endParaRPr>
            </a:p>
          </p:txBody>
        </p:sp>
        <p:cxnSp>
          <p:nvCxnSpPr>
            <p:cNvPr id="116" name="Google Shape;116;p18"/>
            <p:cNvCxnSpPr/>
            <p:nvPr/>
          </p:nvCxnSpPr>
          <p:spPr>
            <a:xfrm rot="10800000" flipH="1">
              <a:off x="2800700" y="1066350"/>
              <a:ext cx="4720500" cy="43200"/>
            </a:xfrm>
            <a:prstGeom prst="straightConnector1">
              <a:avLst/>
            </a:prstGeom>
            <a:noFill/>
            <a:ln w="38100" cap="flat" cmpd="sng">
              <a:solidFill>
                <a:srgbClr val="434343"/>
              </a:solidFill>
              <a:prstDash val="solid"/>
              <a:round/>
              <a:headEnd type="none" w="med" len="med"/>
              <a:tailEnd type="triangle" w="med" len="med"/>
            </a:ln>
          </p:spPr>
        </p:cxnSp>
        <p:cxnSp>
          <p:nvCxnSpPr>
            <p:cNvPr id="117" name="Google Shape;117;p18"/>
            <p:cNvCxnSpPr/>
            <p:nvPr/>
          </p:nvCxnSpPr>
          <p:spPr>
            <a:xfrm>
              <a:off x="7529175" y="1348075"/>
              <a:ext cx="32100" cy="3743100"/>
            </a:xfrm>
            <a:prstGeom prst="straightConnector1">
              <a:avLst/>
            </a:prstGeom>
            <a:noFill/>
            <a:ln w="38100" cap="flat" cmpd="sng">
              <a:solidFill>
                <a:srgbClr val="434343"/>
              </a:solidFill>
              <a:prstDash val="solid"/>
              <a:round/>
              <a:headEnd type="none" w="med" len="med"/>
              <a:tailEnd type="triangle" w="med" len="med"/>
            </a:ln>
          </p:spPr>
        </p:cxnSp>
        <p:sp>
          <p:nvSpPr>
            <p:cNvPr id="118" name="Google Shape;118;p18"/>
            <p:cNvSpPr txBox="1"/>
            <p:nvPr/>
          </p:nvSpPr>
          <p:spPr>
            <a:xfrm>
              <a:off x="7605375" y="4185050"/>
              <a:ext cx="1489200" cy="656700"/>
            </a:xfrm>
            <a:prstGeom prst="rect">
              <a:avLst/>
            </a:prstGeom>
            <a:noFill/>
            <a:ln>
              <a:noFill/>
            </a:ln>
          </p:spPr>
          <p:txBody>
            <a:bodyPr spcFirstLastPara="1" wrap="square" lIns="121900" tIns="121900" rIns="121900" bIns="121900" anchor="t" anchorCtr="0">
              <a:noAutofit/>
            </a:bodyPr>
            <a:lstStyle/>
            <a:p>
              <a:r>
                <a:rPr lang="es" sz="2400" b="1">
                  <a:solidFill>
                    <a:schemeClr val="dk2"/>
                  </a:solidFill>
                </a:rPr>
                <a:t>Vertical Integration</a:t>
              </a:r>
              <a:endParaRPr sz="2400" b="1">
                <a:solidFill>
                  <a:schemeClr val="dk2"/>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0381"/>
            <a:ext cx="11094415" cy="777240"/>
          </a:xfrm>
          <a:prstGeom prst="rect">
            <a:avLst/>
          </a:prstGeom>
          <a:noFill/>
          <a:ln/>
        </p:spPr>
        <p:txBody>
          <a:bodyPr wrap="square" lIns="0" tIns="0" rIns="0" bIns="0" rtlCol="0" anchor="ctr"/>
          <a:lstStyle/>
          <a:p>
            <a:r>
              <a:rPr lang="en-US" sz="3200" b="1" dirty="0">
                <a:solidFill>
                  <a:schemeClr val="tx1"/>
                </a:solidFill>
                <a:latin typeface="Cambria" pitchFamily="34" charset="0"/>
                <a:ea typeface="Cambria" pitchFamily="34" charset="-122"/>
                <a:cs typeface="Cambria" pitchFamily="34" charset="-120"/>
              </a:rPr>
              <a:t>Step zero: two physiology views of the same patients</a:t>
            </a:r>
            <a:br>
              <a:rPr lang="en-US" sz="3200" b="1" dirty="0">
                <a:solidFill>
                  <a:schemeClr val="tx1"/>
                </a:solidFill>
                <a:latin typeface="Cambria" pitchFamily="34" charset="0"/>
                <a:ea typeface="Cambria" pitchFamily="34" charset="-122"/>
                <a:cs typeface="Cambria" pitchFamily="34" charset="-120"/>
              </a:rPr>
            </a:br>
            <a:r>
              <a:rPr lang="en-US" dirty="0"/>
              <a:t>The same recipe applied symmetrically to both layers</a:t>
            </a:r>
            <a:endParaRPr lang="en-US" sz="3200" dirty="0"/>
          </a:p>
        </p:txBody>
      </p:sp>
      <p:sp>
        <p:nvSpPr>
          <p:cNvPr id="3" name="prep 1"/>
          <p:cNvSpPr/>
          <p:nvPr/>
        </p:nvSpPr>
        <p:spPr>
          <a:xfrm>
            <a:off x="548640" y="1914859"/>
            <a:ext cx="548640" cy="548640"/>
          </a:xfrm>
          <a:prstGeom prst="roundRect">
            <a:avLst>
              <a:gd name="adj" fmla="val 13333"/>
            </a:avLst>
          </a:prstGeom>
          <a:solidFill>
            <a:schemeClr val="tx1"/>
          </a:solidFill>
          <a:ln/>
        </p:spPr>
        <p:txBody>
          <a:bodyPr/>
          <a:lstStyle/>
          <a:p>
            <a:endParaRPr lang="en-DK"/>
          </a:p>
        </p:txBody>
      </p:sp>
      <p:sp>
        <p:nvSpPr>
          <p:cNvPr id="4" name="Text 2"/>
          <p:cNvSpPr txBox="1"/>
          <p:nvPr/>
        </p:nvSpPr>
        <p:spPr>
          <a:xfrm>
            <a:off x="548640" y="1914859"/>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280160" y="1914859"/>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Intersect IDs</a:t>
            </a:r>
            <a:endParaRPr lang="en-US" sz="1700" dirty="0"/>
          </a:p>
        </p:txBody>
      </p:sp>
      <p:sp>
        <p:nvSpPr>
          <p:cNvPr id="6" name="Text 4"/>
          <p:cNvSpPr txBox="1"/>
          <p:nvPr/>
        </p:nvSpPr>
        <p:spPr>
          <a:xfrm>
            <a:off x="3108960" y="1914859"/>
            <a:ext cx="2743200" cy="548640"/>
          </a:xfrm>
          <a:prstGeom prst="rect">
            <a:avLst/>
          </a:prstGeom>
          <a:noFill/>
          <a:ln/>
        </p:spPr>
        <p:txBody>
          <a:bodyPr wrap="square" lIns="0" tIns="0" rIns="0" bIns="0" rtlCol="0" anchor="ctr"/>
          <a:lstStyle/>
          <a:p>
            <a:pPr marL="0" indent="0">
              <a:buNone/>
            </a:pPr>
            <a:r>
              <a:rPr lang="en-US" sz="1500" dirty="0">
                <a:solidFill>
                  <a:schemeClr val="tx2"/>
                </a:solidFill>
              </a:rPr>
              <a:t>assert 45 shared patients</a:t>
            </a:r>
            <a:endParaRPr lang="en-US" sz="1500" dirty="0"/>
          </a:p>
        </p:txBody>
      </p:sp>
      <p:sp>
        <p:nvSpPr>
          <p:cNvPr id="7" name="prep 2"/>
          <p:cNvSpPr/>
          <p:nvPr/>
        </p:nvSpPr>
        <p:spPr>
          <a:xfrm>
            <a:off x="548640" y="2692099"/>
            <a:ext cx="548640" cy="548640"/>
          </a:xfrm>
          <a:prstGeom prst="roundRect">
            <a:avLst>
              <a:gd name="adj" fmla="val 13333"/>
            </a:avLst>
          </a:prstGeom>
          <a:solidFill>
            <a:schemeClr val="tx1"/>
          </a:solidFill>
          <a:ln/>
        </p:spPr>
        <p:txBody>
          <a:bodyPr/>
          <a:lstStyle/>
          <a:p>
            <a:endParaRPr lang="en-DK"/>
          </a:p>
        </p:txBody>
      </p:sp>
      <p:sp>
        <p:nvSpPr>
          <p:cNvPr id="8" name="Text 6"/>
          <p:cNvSpPr txBox="1"/>
          <p:nvPr/>
        </p:nvSpPr>
        <p:spPr>
          <a:xfrm>
            <a:off x="548640" y="2692099"/>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1280160" y="2692099"/>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log2</a:t>
            </a:r>
            <a:endParaRPr lang="en-US" sz="1700" dirty="0"/>
          </a:p>
        </p:txBody>
      </p:sp>
      <p:sp>
        <p:nvSpPr>
          <p:cNvPr id="10" name="Text 8"/>
          <p:cNvSpPr txBox="1"/>
          <p:nvPr/>
        </p:nvSpPr>
        <p:spPr>
          <a:xfrm>
            <a:off x="3108960" y="2692099"/>
            <a:ext cx="2743200" cy="548640"/>
          </a:xfrm>
          <a:prstGeom prst="rect">
            <a:avLst/>
          </a:prstGeom>
          <a:noFill/>
          <a:ln/>
        </p:spPr>
        <p:txBody>
          <a:bodyPr wrap="square" lIns="0" tIns="0" rIns="0" bIns="0" rtlCol="0" anchor="ctr"/>
          <a:lstStyle/>
          <a:p>
            <a:pPr marL="0" indent="0">
              <a:buNone/>
            </a:pPr>
            <a:r>
              <a:rPr lang="en-US" sz="1500" dirty="0">
                <a:solidFill>
                  <a:schemeClr val="tx2"/>
                </a:solidFill>
              </a:rPr>
              <a:t>both are multiplicative</a:t>
            </a:r>
            <a:endParaRPr lang="en-US" sz="1500" dirty="0"/>
          </a:p>
        </p:txBody>
      </p:sp>
      <p:sp>
        <p:nvSpPr>
          <p:cNvPr id="11" name="prep 3"/>
          <p:cNvSpPr/>
          <p:nvPr/>
        </p:nvSpPr>
        <p:spPr>
          <a:xfrm>
            <a:off x="548640" y="3469339"/>
            <a:ext cx="548640" cy="548640"/>
          </a:xfrm>
          <a:prstGeom prst="roundRect">
            <a:avLst>
              <a:gd name="adj" fmla="val 13333"/>
            </a:avLst>
          </a:prstGeom>
          <a:solidFill>
            <a:schemeClr val="tx1"/>
          </a:solidFill>
          <a:ln/>
        </p:spPr>
        <p:txBody>
          <a:bodyPr/>
          <a:lstStyle/>
          <a:p>
            <a:endParaRPr lang="en-DK"/>
          </a:p>
        </p:txBody>
      </p:sp>
      <p:sp>
        <p:nvSpPr>
          <p:cNvPr id="12" name="Text 10"/>
          <p:cNvSpPr txBox="1"/>
          <p:nvPr/>
        </p:nvSpPr>
        <p:spPr>
          <a:xfrm>
            <a:off x="548640" y="3469339"/>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1280160" y="3469339"/>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Filter</a:t>
            </a:r>
            <a:endParaRPr lang="en-US" sz="1700" dirty="0"/>
          </a:p>
        </p:txBody>
      </p:sp>
      <p:sp>
        <p:nvSpPr>
          <p:cNvPr id="14" name="Text 12"/>
          <p:cNvSpPr txBox="1"/>
          <p:nvPr/>
        </p:nvSpPr>
        <p:spPr>
          <a:xfrm>
            <a:off x="3108960" y="3469339"/>
            <a:ext cx="2743200" cy="548640"/>
          </a:xfrm>
          <a:prstGeom prst="rect">
            <a:avLst/>
          </a:prstGeom>
          <a:noFill/>
          <a:ln/>
        </p:spPr>
        <p:txBody>
          <a:bodyPr wrap="square" lIns="0" tIns="0" rIns="0" bIns="0" rtlCol="0" anchor="ctr"/>
          <a:lstStyle/>
          <a:p>
            <a:pPr marL="0" indent="0">
              <a:buNone/>
            </a:pPr>
            <a:r>
              <a:rPr lang="en-US" sz="1500">
                <a:solidFill>
                  <a:schemeClr val="tx2"/>
                </a:solidFill>
              </a:rPr>
              <a:t>≤ 35 </a:t>
            </a:r>
            <a:r>
              <a:rPr lang="en-US" sz="1500" dirty="0">
                <a:solidFill>
                  <a:schemeClr val="tx2"/>
                </a:solidFill>
              </a:rPr>
              <a:t>% missing</a:t>
            </a:r>
            <a:endParaRPr lang="en-US" sz="1500" dirty="0"/>
          </a:p>
        </p:txBody>
      </p:sp>
      <p:sp>
        <p:nvSpPr>
          <p:cNvPr id="15" name="prep 4"/>
          <p:cNvSpPr/>
          <p:nvPr/>
        </p:nvSpPr>
        <p:spPr>
          <a:xfrm>
            <a:off x="548640" y="4246579"/>
            <a:ext cx="548640" cy="548640"/>
          </a:xfrm>
          <a:prstGeom prst="roundRect">
            <a:avLst>
              <a:gd name="adj" fmla="val 13333"/>
            </a:avLst>
          </a:prstGeom>
          <a:solidFill>
            <a:schemeClr val="tx1"/>
          </a:solidFill>
          <a:ln/>
        </p:spPr>
        <p:txBody>
          <a:bodyPr/>
          <a:lstStyle/>
          <a:p>
            <a:endParaRPr lang="en-DK"/>
          </a:p>
        </p:txBody>
      </p:sp>
      <p:sp>
        <p:nvSpPr>
          <p:cNvPr id="16" name="Text 14"/>
          <p:cNvSpPr txBox="1"/>
          <p:nvPr/>
        </p:nvSpPr>
        <p:spPr>
          <a:xfrm>
            <a:off x="548640" y="4246579"/>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ext 15"/>
          <p:cNvSpPr txBox="1"/>
          <p:nvPr/>
        </p:nvSpPr>
        <p:spPr>
          <a:xfrm>
            <a:off x="1280160" y="4246579"/>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Impute</a:t>
            </a:r>
            <a:endParaRPr lang="en-US" sz="1700" dirty="0"/>
          </a:p>
        </p:txBody>
      </p:sp>
      <p:sp>
        <p:nvSpPr>
          <p:cNvPr id="18" name="Text 16"/>
          <p:cNvSpPr txBox="1"/>
          <p:nvPr/>
        </p:nvSpPr>
        <p:spPr>
          <a:xfrm>
            <a:off x="3108960" y="4246579"/>
            <a:ext cx="2743200" cy="548640"/>
          </a:xfrm>
          <a:prstGeom prst="rect">
            <a:avLst/>
          </a:prstGeom>
          <a:noFill/>
          <a:ln/>
        </p:spPr>
        <p:txBody>
          <a:bodyPr wrap="square" lIns="0" tIns="0" rIns="0" bIns="0" rtlCol="0" anchor="ctr"/>
          <a:lstStyle/>
          <a:p>
            <a:pPr marL="0" indent="0">
              <a:buNone/>
            </a:pPr>
            <a:r>
              <a:rPr lang="en-US" sz="1500" dirty="0">
                <a:solidFill>
                  <a:schemeClr val="tx2"/>
                </a:solidFill>
              </a:rPr>
              <a:t>feature minimum</a:t>
            </a:r>
            <a:endParaRPr lang="en-US" sz="1500" dirty="0"/>
          </a:p>
        </p:txBody>
      </p:sp>
      <p:sp>
        <p:nvSpPr>
          <p:cNvPr id="19" name="prep 5"/>
          <p:cNvSpPr/>
          <p:nvPr/>
        </p:nvSpPr>
        <p:spPr>
          <a:xfrm>
            <a:off x="548640" y="5023819"/>
            <a:ext cx="548640" cy="548640"/>
          </a:xfrm>
          <a:prstGeom prst="roundRect">
            <a:avLst>
              <a:gd name="adj" fmla="val 13333"/>
            </a:avLst>
          </a:prstGeom>
          <a:solidFill>
            <a:schemeClr val="tx1"/>
          </a:solidFill>
          <a:ln/>
        </p:spPr>
        <p:txBody>
          <a:bodyPr/>
          <a:lstStyle/>
          <a:p>
            <a:endParaRPr lang="en-DK"/>
          </a:p>
        </p:txBody>
      </p:sp>
      <p:sp>
        <p:nvSpPr>
          <p:cNvPr id="20" name="Text 18"/>
          <p:cNvSpPr txBox="1"/>
          <p:nvPr/>
        </p:nvSpPr>
        <p:spPr>
          <a:xfrm>
            <a:off x="548640" y="5023819"/>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1" name="Text 19"/>
          <p:cNvSpPr txBox="1"/>
          <p:nvPr/>
        </p:nvSpPr>
        <p:spPr>
          <a:xfrm>
            <a:off x="1280160" y="5023819"/>
            <a:ext cx="1828800" cy="548640"/>
          </a:xfrm>
          <a:prstGeom prst="rect">
            <a:avLst/>
          </a:prstGeom>
          <a:noFill/>
          <a:ln/>
        </p:spPr>
        <p:txBody>
          <a:bodyPr wrap="square" lIns="0" tIns="0" rIns="0" bIns="0" rtlCol="0" anchor="ctr"/>
          <a:lstStyle/>
          <a:p>
            <a:pPr marL="0" indent="0">
              <a:buNone/>
            </a:pPr>
            <a:r>
              <a:rPr lang="en-US" sz="1700" b="1" dirty="0">
                <a:solidFill>
                  <a:schemeClr val="tx1"/>
                </a:solidFill>
              </a:rPr>
              <a:t>z-score normalization</a:t>
            </a:r>
            <a:endParaRPr lang="en-US" sz="1700" dirty="0"/>
          </a:p>
        </p:txBody>
      </p:sp>
      <p:sp>
        <p:nvSpPr>
          <p:cNvPr id="22" name="Text 20"/>
          <p:cNvSpPr txBox="1"/>
          <p:nvPr/>
        </p:nvSpPr>
        <p:spPr>
          <a:xfrm>
            <a:off x="3108960" y="5023819"/>
            <a:ext cx="2743200" cy="548640"/>
          </a:xfrm>
          <a:prstGeom prst="rect">
            <a:avLst/>
          </a:prstGeom>
          <a:noFill/>
          <a:ln/>
        </p:spPr>
        <p:txBody>
          <a:bodyPr wrap="square" lIns="0" tIns="0" rIns="0" bIns="0" rtlCol="0" anchor="ctr"/>
          <a:lstStyle/>
          <a:p>
            <a:pPr marL="0" indent="0">
              <a:buNone/>
            </a:pPr>
            <a:r>
              <a:rPr lang="en-US" sz="1500" dirty="0">
                <a:solidFill>
                  <a:schemeClr val="tx2"/>
                </a:solidFill>
              </a:rPr>
              <a:t>per feature</a:t>
            </a:r>
            <a:endParaRPr lang="en-US" sz="1500" dirty="0"/>
          </a:p>
        </p:txBody>
      </p:sp>
      <p:sp>
        <p:nvSpPr>
          <p:cNvPr id="23" name="assert code"/>
          <p:cNvSpPr/>
          <p:nvPr/>
        </p:nvSpPr>
        <p:spPr>
          <a:xfrm>
            <a:off x="6217920" y="1914859"/>
            <a:ext cx="5425135" cy="1600200"/>
          </a:xfrm>
          <a:prstGeom prst="roundRect">
            <a:avLst>
              <a:gd name="adj" fmla="val 6857"/>
            </a:avLst>
          </a:prstGeom>
          <a:solidFill>
            <a:schemeClr val="tx1"/>
          </a:solidFill>
          <a:ln/>
          <a:effectLst>
            <a:outerShdw blurRad="76200" dist="25400" dir="5400000" algn="bl" rotWithShape="0">
              <a:srgbClr val="8A96A8">
                <a:alpha val="25000"/>
              </a:srgbClr>
            </a:outerShdw>
          </a:effectLst>
        </p:spPr>
        <p:txBody>
          <a:bodyPr/>
          <a:lstStyle/>
          <a:p>
            <a:endParaRPr lang="en-DK"/>
          </a:p>
        </p:txBody>
      </p:sp>
      <p:sp>
        <p:nvSpPr>
          <p:cNvPr id="24" name="Text 22"/>
          <p:cNvSpPr txBox="1"/>
          <p:nvPr/>
        </p:nvSpPr>
        <p:spPr>
          <a:xfrm>
            <a:off x="6446520" y="2097739"/>
            <a:ext cx="5029200" cy="1280160"/>
          </a:xfrm>
          <a:prstGeom prst="rect">
            <a:avLst/>
          </a:prstGeom>
          <a:noFill/>
          <a:ln/>
        </p:spPr>
        <p:txBody>
          <a:bodyPr wrap="square" lIns="0" tIns="0" rIns="0" bIns="0" rtlCol="0" anchor="t"/>
          <a:lstStyle/>
          <a:p>
            <a:pPr marL="0" indent="0">
              <a:buNone/>
            </a:pPr>
            <a:r>
              <a:rPr lang="en-US" sz="1300" dirty="0">
                <a:solidFill>
                  <a:srgbClr val="E6EDF5"/>
                </a:solidFill>
                <a:latin typeface="Courier New" pitchFamily="34" charset="0"/>
                <a:ea typeface="Courier New" pitchFamily="34" charset="-122"/>
                <a:cs typeface="Courier New" pitchFamily="34" charset="-120"/>
              </a:rPr>
              <a:t>shared = [s for s in metadata.index</a:t>
            </a:r>
            <a:endParaRPr lang="en-US" sz="1300" dirty="0"/>
          </a:p>
          <a:p>
            <a:pPr marL="0" indent="0">
              <a:buNone/>
            </a:pPr>
            <a:r>
              <a:rPr lang="en-US" sz="1300" dirty="0">
                <a:solidFill>
                  <a:srgbClr val="E6EDF5"/>
                </a:solidFill>
                <a:latin typeface="Courier New" pitchFamily="34" charset="0"/>
                <a:ea typeface="Courier New" pitchFamily="34" charset="-122"/>
                <a:cs typeface="Courier New" pitchFamily="34" charset="-120"/>
              </a:rPr>
              <a:t>          if s in proteins and s in metabolites]</a:t>
            </a:r>
            <a:endParaRPr lang="en-US" sz="1300" dirty="0"/>
          </a:p>
          <a:p>
            <a:pPr marL="0" indent="0">
              <a:buNone/>
            </a:pPr>
            <a:r>
              <a:rPr lang="en-US" sz="1300" dirty="0">
                <a:solidFill>
                  <a:srgbClr val="E6EDF5"/>
                </a:solidFill>
                <a:latin typeface="Courier New" pitchFamily="34" charset="0"/>
                <a:ea typeface="Courier New" pitchFamily="34" charset="-122"/>
                <a:cs typeface="Courier New" pitchFamily="34" charset="-120"/>
              </a:rPr>
              <a:t>assert len(shared) == 45, \</a:t>
            </a:r>
            <a:endParaRPr lang="en-US" sz="1300" dirty="0"/>
          </a:p>
          <a:p>
            <a:pPr marL="0" indent="0">
              <a:buNone/>
            </a:pPr>
            <a:r>
              <a:rPr lang="en-US" sz="1300" dirty="0">
                <a:solidFill>
                  <a:srgbClr val="E6EDF5"/>
                </a:solidFill>
                <a:latin typeface="Courier New" pitchFamily="34" charset="0"/>
                <a:ea typeface="Courier New" pitchFamily="34" charset="-122"/>
                <a:cs typeface="Courier New" pitchFamily="34" charset="-120"/>
              </a:rPr>
              <a:t>    "layers no longer describe one cohort"</a:t>
            </a:r>
            <a:endParaRPr lang="en-US" sz="1300" dirty="0"/>
          </a:p>
        </p:txBody>
      </p:sp>
      <p:sp>
        <p:nvSpPr>
          <p:cNvPr id="25" name="Text 23"/>
          <p:cNvSpPr txBox="1"/>
          <p:nvPr/>
        </p:nvSpPr>
        <p:spPr>
          <a:xfrm>
            <a:off x="6217920" y="3789379"/>
            <a:ext cx="5425135" cy="1645920"/>
          </a:xfrm>
          <a:prstGeom prst="rect">
            <a:avLst/>
          </a:prstGeom>
          <a:noFill/>
          <a:ln/>
        </p:spPr>
        <p:txBody>
          <a:bodyPr wrap="square" lIns="0" tIns="0" rIns="0" bIns="0" rtlCol="0" anchor="t"/>
          <a:lstStyle/>
          <a:p>
            <a:pPr marL="0" indent="0">
              <a:buNone/>
            </a:pPr>
            <a:r>
              <a:rPr lang="en-US" sz="1500" dirty="0">
                <a:solidFill>
                  <a:schemeClr val="tx2"/>
                </a:solidFill>
              </a:rPr>
              <a:t>Silent sample mismatches are the most common way multi-omics produces confident nonsense: shapes still match, code still runs.</a:t>
            </a:r>
            <a:endParaRPr lang="en-US" sz="1500" dirty="0"/>
          </a:p>
          <a:p>
            <a:pPr marL="0" indent="0">
              <a:buNone/>
            </a:pPr>
            <a:r>
              <a:rPr lang="en-US" sz="600" dirty="0">
                <a:solidFill>
                  <a:schemeClr val="tx2"/>
                </a:solidFill>
              </a:rPr>
              <a:t> </a:t>
            </a:r>
            <a:endParaRPr lang="en-US" sz="1500" dirty="0"/>
          </a:p>
          <a:p>
            <a:pPr marL="0" indent="0">
              <a:buNone/>
            </a:pPr>
            <a:r>
              <a:rPr lang="en-US" sz="1500" dirty="0">
                <a:solidFill>
                  <a:schemeClr val="tx2"/>
                </a:solidFill>
              </a:rPr>
              <a:t>z-scoring stops one feature dominating by units and one layer dominating by dynamic range.</a:t>
            </a:r>
            <a:endParaRPr lang="en-US" sz="1500" dirty="0"/>
          </a:p>
        </p:txBody>
      </p:sp>
      <p:sp>
        <p:nvSpPr>
          <p:cNvPr id="26"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0"/>
          <p:cNvSpPr txBox="1">
            <a:spLocks noGrp="1"/>
          </p:cNvSpPr>
          <p:nvPr>
            <p:ph type="title"/>
          </p:nvPr>
        </p:nvSpPr>
        <p:spPr>
          <a:xfrm>
            <a:off x="415600" y="174590"/>
            <a:ext cx="11360800" cy="763600"/>
          </a:xfrm>
          <a:prstGeom prst="rect">
            <a:avLst/>
          </a:prstGeom>
        </p:spPr>
        <p:txBody>
          <a:bodyPr spcFirstLastPara="1" wrap="square" lIns="121900" tIns="121900" rIns="121900" bIns="121900" anchor="t" anchorCtr="0">
            <a:normAutofit fontScale="90000"/>
          </a:bodyPr>
          <a:lstStyle/>
          <a:p>
            <a:pPr algn="l"/>
            <a:r>
              <a:rPr lang="es" b="1" dirty="0"/>
              <a:t>Method: Similarity Network Fusion (SNF)</a:t>
            </a:r>
            <a:endParaRPr b="1" dirty="0"/>
          </a:p>
        </p:txBody>
      </p:sp>
      <p:sp>
        <p:nvSpPr>
          <p:cNvPr id="263" name="Google Shape;263;p30"/>
          <p:cNvSpPr txBox="1">
            <a:spLocks noGrp="1"/>
          </p:cNvSpPr>
          <p:nvPr>
            <p:ph type="body" idx="1"/>
          </p:nvPr>
        </p:nvSpPr>
        <p:spPr>
          <a:xfrm>
            <a:off x="415600" y="1175186"/>
            <a:ext cx="11242163" cy="2616000"/>
          </a:xfrm>
          <a:prstGeom prst="rect">
            <a:avLst/>
          </a:prstGeom>
        </p:spPr>
        <p:txBody>
          <a:bodyPr spcFirstLastPara="1" wrap="square" lIns="121900" tIns="121900" rIns="121900" bIns="121900" anchor="t" anchorCtr="0">
            <a:normAutofit/>
          </a:bodyPr>
          <a:lstStyle/>
          <a:p>
            <a:pPr marL="0" indent="0">
              <a:buNone/>
            </a:pPr>
            <a:r>
              <a:rPr lang="es" sz="2000" dirty="0"/>
              <a:t>A </a:t>
            </a:r>
            <a:r>
              <a:rPr lang="es" sz="2000" b="1" dirty="0"/>
              <a:t>network-based method</a:t>
            </a:r>
            <a:r>
              <a:rPr lang="es" sz="2000" dirty="0"/>
              <a:t> to find sample subtypes (compares patients, not variables)</a:t>
            </a:r>
            <a:endParaRPr sz="2000" dirty="0"/>
          </a:p>
          <a:p>
            <a:pPr marL="0" indent="0">
              <a:spcBef>
                <a:spcPts val="1600"/>
              </a:spcBef>
              <a:buNone/>
            </a:pPr>
            <a:r>
              <a:rPr lang="es" sz="2000" b="1" dirty="0"/>
              <a:t>Step 1</a:t>
            </a:r>
            <a:r>
              <a:rPr lang="es" sz="2000" dirty="0"/>
              <a:t> Builds a </a:t>
            </a:r>
            <a:r>
              <a:rPr lang="es" sz="2000" b="1" dirty="0"/>
              <a:t>patient similarity network</a:t>
            </a:r>
            <a:r>
              <a:rPr lang="es" sz="2000" dirty="0"/>
              <a:t> for each omic data type (e.g based on gene expression, DNA methylation, proteome and metabolome intensities, etc… ).</a:t>
            </a:r>
            <a:endParaRPr sz="2000" dirty="0"/>
          </a:p>
          <a:p>
            <a:pPr marL="0" indent="0">
              <a:spcBef>
                <a:spcPts val="1600"/>
              </a:spcBef>
              <a:buNone/>
            </a:pPr>
            <a:r>
              <a:rPr lang="es" sz="2000" b="1" dirty="0"/>
              <a:t>Step 2</a:t>
            </a:r>
            <a:r>
              <a:rPr lang="es" sz="2000" dirty="0"/>
              <a:t> Iteratively </a:t>
            </a:r>
            <a:r>
              <a:rPr lang="es" sz="2000" b="1" dirty="0"/>
              <a:t>fuses</a:t>
            </a:r>
            <a:r>
              <a:rPr lang="es" sz="2000" dirty="0"/>
              <a:t> these networks into a </a:t>
            </a:r>
            <a:r>
              <a:rPr lang="es" sz="2000" b="1" dirty="0"/>
              <a:t>single, comprehensive patient network</a:t>
            </a:r>
            <a:r>
              <a:rPr lang="es" sz="2000" dirty="0"/>
              <a:t>.</a:t>
            </a:r>
            <a:endParaRPr sz="2000" dirty="0"/>
          </a:p>
          <a:p>
            <a:pPr marL="0" indent="0">
              <a:spcBef>
                <a:spcPts val="1600"/>
              </a:spcBef>
              <a:spcAft>
                <a:spcPts val="1600"/>
              </a:spcAft>
              <a:buNone/>
            </a:pPr>
            <a:endParaRPr sz="2000" dirty="0"/>
          </a:p>
        </p:txBody>
      </p:sp>
      <p:sp>
        <p:nvSpPr>
          <p:cNvPr id="264" name="Google Shape;264;p30"/>
          <p:cNvSpPr txBox="1"/>
          <p:nvPr/>
        </p:nvSpPr>
        <p:spPr>
          <a:xfrm>
            <a:off x="1019568" y="6113120"/>
            <a:ext cx="6242994" cy="615513"/>
          </a:xfrm>
          <a:prstGeom prst="rect">
            <a:avLst/>
          </a:prstGeom>
          <a:noFill/>
          <a:ln>
            <a:noFill/>
          </a:ln>
        </p:spPr>
        <p:txBody>
          <a:bodyPr spcFirstLastPara="1" wrap="square" lIns="121900" tIns="121900" rIns="121900" bIns="121900" anchor="t" anchorCtr="0">
            <a:spAutoFit/>
          </a:bodyPr>
          <a:lstStyle/>
          <a:p>
            <a:r>
              <a:rPr lang="es" sz="2400" u="sng" dirty="0">
                <a:solidFill>
                  <a:schemeClr val="hlink"/>
                </a:solidFill>
                <a:hlinkClick r:id="rId3"/>
              </a:rPr>
              <a:t>https://www.nature.com/articles/nmeth.2810</a:t>
            </a:r>
            <a:endParaRPr sz="2400" dirty="0"/>
          </a:p>
        </p:txBody>
      </p:sp>
      <p:pic>
        <p:nvPicPr>
          <p:cNvPr id="265" name="Google Shape;265;p30"/>
          <p:cNvPicPr preferRelativeResize="0"/>
          <p:nvPr/>
        </p:nvPicPr>
        <p:blipFill>
          <a:blip r:embed="rId4">
            <a:alphaModFix/>
          </a:blip>
          <a:stretch>
            <a:fillRect/>
          </a:stretch>
        </p:blipFill>
        <p:spPr>
          <a:xfrm>
            <a:off x="547684" y="3313912"/>
            <a:ext cx="7153209" cy="2422690"/>
          </a:xfrm>
          <a:prstGeom prst="rect">
            <a:avLst/>
          </a:prstGeom>
          <a:noFill/>
          <a:ln>
            <a:noFill/>
          </a:ln>
        </p:spPr>
      </p:pic>
      <p:sp>
        <p:nvSpPr>
          <p:cNvPr id="3" name="TextBox 2">
            <a:extLst>
              <a:ext uri="{FF2B5EF4-FFF2-40B4-BE49-F238E27FC236}">
                <a16:creationId xmlns:a16="http://schemas.microsoft.com/office/drawing/2014/main" id="{07EF7C12-F690-7EB3-FE61-DF799E0A80E8}"/>
              </a:ext>
            </a:extLst>
          </p:cNvPr>
          <p:cNvSpPr txBox="1"/>
          <p:nvPr/>
        </p:nvSpPr>
        <p:spPr>
          <a:xfrm>
            <a:off x="7838377" y="3264456"/>
            <a:ext cx="4461200" cy="2759730"/>
          </a:xfrm>
          <a:prstGeom prst="rect">
            <a:avLst/>
          </a:prstGeom>
          <a:noFill/>
        </p:spPr>
        <p:txBody>
          <a:bodyPr wrap="square">
            <a:spAutoFit/>
          </a:bodyPr>
          <a:lstStyle/>
          <a:p>
            <a:pPr marL="0" indent="0">
              <a:buNone/>
            </a:pPr>
            <a:r>
              <a:rPr lang="en-GB" sz="2000" dirty="0"/>
              <a:t>The f</a:t>
            </a:r>
            <a:r>
              <a:rPr lang="en-GB" sz="2000" b="1" dirty="0"/>
              <a:t>usion process</a:t>
            </a:r>
            <a:r>
              <a:rPr lang="en-GB" sz="2000" dirty="0"/>
              <a:t> keeps </a:t>
            </a:r>
            <a:r>
              <a:rPr lang="en-GB" sz="2000" b="1" dirty="0"/>
              <a:t>strong similarities</a:t>
            </a:r>
            <a:r>
              <a:rPr lang="en-GB" sz="2000" dirty="0"/>
              <a:t> found </a:t>
            </a:r>
            <a:r>
              <a:rPr lang="en-GB" sz="2000" b="1" dirty="0"/>
              <a:t>in multiple omics layers</a:t>
            </a:r>
            <a:r>
              <a:rPr lang="en-GB" sz="2000" dirty="0"/>
              <a:t> and filters out weak, "noisy" connections.</a:t>
            </a:r>
          </a:p>
          <a:p>
            <a:pPr marL="0" indent="0">
              <a:spcBef>
                <a:spcPts val="1600"/>
              </a:spcBef>
              <a:buNone/>
            </a:pPr>
            <a:r>
              <a:rPr lang="en-GB" sz="2000" dirty="0"/>
              <a:t>The final </a:t>
            </a:r>
            <a:r>
              <a:rPr lang="en-GB" sz="2000" b="1" dirty="0"/>
              <a:t>fused network</a:t>
            </a:r>
            <a:r>
              <a:rPr lang="en-GB" sz="2000" dirty="0"/>
              <a:t> represents a </a:t>
            </a:r>
            <a:r>
              <a:rPr lang="en-GB" sz="2000" b="1" dirty="0"/>
              <a:t>robust measure of patient similarity</a:t>
            </a:r>
            <a:r>
              <a:rPr lang="en-GB" sz="2000" dirty="0"/>
              <a:t> which is then used for </a:t>
            </a:r>
            <a:r>
              <a:rPr lang="en-GB" sz="2000" b="1" dirty="0"/>
              <a:t>clustering and comparison with clinical groups.</a:t>
            </a:r>
            <a:endParaRPr lang="en-GB"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2"/>
          <p:cNvSpPr txBox="1">
            <a:spLocks noGrp="1"/>
          </p:cNvSpPr>
          <p:nvPr>
            <p:ph type="title"/>
          </p:nvPr>
        </p:nvSpPr>
        <p:spPr>
          <a:xfrm>
            <a:off x="415600" y="278369"/>
            <a:ext cx="11360800" cy="763600"/>
          </a:xfrm>
          <a:prstGeom prst="rect">
            <a:avLst/>
          </a:prstGeom>
        </p:spPr>
        <p:txBody>
          <a:bodyPr spcFirstLastPara="1" wrap="square" lIns="121900" tIns="121900" rIns="121900" bIns="121900" anchor="t" anchorCtr="0">
            <a:normAutofit fontScale="90000"/>
          </a:bodyPr>
          <a:lstStyle/>
          <a:p>
            <a:pPr algn="l"/>
            <a:r>
              <a:rPr lang="es" b="1" dirty="0"/>
              <a:t>Method: Multi-Omics Factor Analysis (MOFA)</a:t>
            </a:r>
            <a:endParaRPr b="1" dirty="0"/>
          </a:p>
        </p:txBody>
      </p:sp>
      <p:sp>
        <p:nvSpPr>
          <p:cNvPr id="277" name="Google Shape;277;p32"/>
          <p:cNvSpPr txBox="1"/>
          <p:nvPr/>
        </p:nvSpPr>
        <p:spPr>
          <a:xfrm>
            <a:off x="2502569" y="6204830"/>
            <a:ext cx="8400958" cy="615513"/>
          </a:xfrm>
          <a:prstGeom prst="rect">
            <a:avLst/>
          </a:prstGeom>
          <a:noFill/>
          <a:ln>
            <a:noFill/>
          </a:ln>
        </p:spPr>
        <p:txBody>
          <a:bodyPr spcFirstLastPara="1" wrap="square" lIns="121900" tIns="121900" rIns="121900" bIns="121900" anchor="t" anchorCtr="0">
            <a:spAutoFit/>
          </a:bodyPr>
          <a:lstStyle/>
          <a:p>
            <a:r>
              <a:rPr lang="es" sz="2400" u="sng" dirty="0">
                <a:solidFill>
                  <a:schemeClr val="hlink"/>
                </a:solidFill>
                <a:hlinkClick r:id="rId3"/>
              </a:rPr>
              <a:t>https://www.embopress.org/doi/full/10.15252/msb.20178124</a:t>
            </a:r>
            <a:endParaRPr sz="2400" dirty="0"/>
          </a:p>
        </p:txBody>
      </p:sp>
      <p:pic>
        <p:nvPicPr>
          <p:cNvPr id="280" name="Google Shape;280;p32" title="Screenshot 2025-11-14 at 06.44.55.png"/>
          <p:cNvPicPr preferRelativeResize="0"/>
          <p:nvPr/>
        </p:nvPicPr>
        <p:blipFill>
          <a:blip r:embed="rId4">
            <a:alphaModFix/>
          </a:blip>
          <a:stretch>
            <a:fillRect/>
          </a:stretch>
        </p:blipFill>
        <p:spPr>
          <a:xfrm>
            <a:off x="10441233" y="1104001"/>
            <a:ext cx="1537200" cy="432633"/>
          </a:xfrm>
          <a:prstGeom prst="rect">
            <a:avLst/>
          </a:prstGeom>
          <a:noFill/>
          <a:ln>
            <a:noFill/>
          </a:ln>
        </p:spPr>
      </p:pic>
      <p:sp>
        <p:nvSpPr>
          <p:cNvPr id="4" name="TextBox 3">
            <a:extLst>
              <a:ext uri="{FF2B5EF4-FFF2-40B4-BE49-F238E27FC236}">
                <a16:creationId xmlns:a16="http://schemas.microsoft.com/office/drawing/2014/main" id="{7642FD3F-9838-3D00-5271-C9865EA63FBF}"/>
              </a:ext>
            </a:extLst>
          </p:cNvPr>
          <p:cNvSpPr txBox="1"/>
          <p:nvPr/>
        </p:nvSpPr>
        <p:spPr>
          <a:xfrm>
            <a:off x="579264" y="1188052"/>
            <a:ext cx="7017290" cy="5632311"/>
          </a:xfrm>
          <a:prstGeom prst="rect">
            <a:avLst/>
          </a:prstGeom>
          <a:noFill/>
        </p:spPr>
        <p:txBody>
          <a:bodyPr wrap="square" rtlCol="0">
            <a:spAutoFit/>
          </a:bodyPr>
          <a:lstStyle/>
          <a:p>
            <a:pPr marL="285750" indent="-285750">
              <a:buFont typeface="Arial" panose="020B0604020202020204" pitchFamily="34" charset="0"/>
              <a:buChar char="•"/>
            </a:pPr>
            <a:r>
              <a:rPr lang="en-GB" sz="2000" b="1" dirty="0"/>
              <a:t>Unsupervised</a:t>
            </a:r>
            <a:r>
              <a:rPr lang="en-GB" sz="2000" dirty="0"/>
              <a:t> integration method</a:t>
            </a:r>
          </a:p>
          <a:p>
            <a:pPr marL="285750" indent="-285750">
              <a:buFont typeface="Arial" panose="020B0604020202020204" pitchFamily="34" charset="0"/>
              <a:buChar char="•"/>
            </a:pPr>
            <a:endParaRPr lang="en-GB" sz="2000" i="1" dirty="0">
              <a:solidFill>
                <a:schemeClr val="accent4"/>
              </a:solidFill>
            </a:endParaRPr>
          </a:p>
          <a:p>
            <a:pPr marL="285750" indent="-285750">
              <a:buFont typeface="Arial" panose="020B0604020202020204" pitchFamily="34" charset="0"/>
              <a:buChar char="•"/>
            </a:pPr>
            <a:r>
              <a:rPr lang="en-US" sz="2000" dirty="0"/>
              <a:t>To find the </a:t>
            </a:r>
            <a:r>
              <a:rPr lang="en-US" sz="2000" b="1" dirty="0"/>
              <a:t>sources of variation</a:t>
            </a:r>
            <a:endParaRPr lang="en-GB" sz="2000" b="1" dirty="0"/>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Generalization of </a:t>
            </a:r>
            <a:r>
              <a:rPr lang="en-GB" sz="2000" b="1" dirty="0"/>
              <a:t>PCA for multi-omics (dimensionality reduction tool)</a:t>
            </a:r>
            <a:endParaRPr lang="en-GB" sz="2000" dirty="0"/>
          </a:p>
          <a:p>
            <a:endParaRPr lang="en-GB" sz="2000" dirty="0"/>
          </a:p>
          <a:p>
            <a:pPr marL="285750" indent="-285750">
              <a:buFont typeface="Arial" panose="020B0604020202020204" pitchFamily="34" charset="0"/>
              <a:buChar char="•"/>
            </a:pPr>
            <a:r>
              <a:rPr lang="en-GB" sz="2000" dirty="0"/>
              <a:t> Main difference integration of </a:t>
            </a:r>
            <a:r>
              <a:rPr lang="en-GB" sz="2000" b="1" dirty="0"/>
              <a:t>probabilistic structure and sparsity priors</a:t>
            </a:r>
            <a:r>
              <a:rPr lang="en-GB" sz="2000" dirty="0"/>
              <a:t>.</a:t>
            </a:r>
          </a:p>
          <a:p>
            <a:endParaRPr lang="en-GB" sz="2000" dirty="0"/>
          </a:p>
          <a:p>
            <a:pPr marL="285750" indent="-285750">
              <a:buFont typeface="Arial" panose="020B0604020202020204" pitchFamily="34" charset="0"/>
              <a:buChar char="•"/>
            </a:pPr>
            <a:r>
              <a:rPr lang="en-GB" sz="2000" dirty="0"/>
              <a:t>It </a:t>
            </a:r>
            <a:r>
              <a:rPr lang="en-GB" sz="2000" b="1" dirty="0"/>
              <a:t>decomposes all omics data </a:t>
            </a:r>
            <a:r>
              <a:rPr lang="en-GB" sz="2000" dirty="0"/>
              <a:t>into a set of hidden factors </a:t>
            </a:r>
          </a:p>
          <a:p>
            <a:endParaRPr lang="en-GB" sz="2000" dirty="0"/>
          </a:p>
          <a:p>
            <a:pPr marL="285750" indent="-285750">
              <a:buFont typeface="Arial" panose="020B0604020202020204" pitchFamily="34" charset="0"/>
              <a:buChar char="•"/>
            </a:pPr>
            <a:r>
              <a:rPr lang="en-GB" sz="2000" dirty="0"/>
              <a:t>which factors are </a:t>
            </a:r>
            <a:r>
              <a:rPr lang="en-GB" sz="2000" b="1" dirty="0"/>
              <a:t>shared</a:t>
            </a:r>
            <a:r>
              <a:rPr lang="en-GB" sz="2000" dirty="0"/>
              <a:t> (capture variance across all omics) and which are </a:t>
            </a:r>
            <a:r>
              <a:rPr lang="en-GB" sz="2000" b="1" dirty="0"/>
              <a:t>specific</a:t>
            </a:r>
            <a:r>
              <a:rPr lang="en-GB" sz="2000" dirty="0"/>
              <a:t> (capture variance in only one omic)</a:t>
            </a:r>
          </a:p>
          <a:p>
            <a:endParaRPr lang="en-GB" sz="2000" dirty="0"/>
          </a:p>
          <a:p>
            <a:pPr marL="285750" indent="-285750">
              <a:buFont typeface="Arial" panose="020B0604020202020204" pitchFamily="34" charset="0"/>
              <a:buChar char="•"/>
            </a:pPr>
            <a:r>
              <a:rPr lang="en-GB" sz="2000" dirty="0"/>
              <a:t>These factors can then be </a:t>
            </a:r>
            <a:r>
              <a:rPr lang="en-GB" sz="2000" b="1" dirty="0"/>
              <a:t>visualized</a:t>
            </a:r>
            <a:r>
              <a:rPr lang="en-GB" sz="2000" dirty="0"/>
              <a:t>, </a:t>
            </a:r>
            <a:r>
              <a:rPr lang="en-GB" sz="2000" b="1" dirty="0"/>
              <a:t>correlated</a:t>
            </a:r>
            <a:r>
              <a:rPr lang="en-GB" sz="2000" dirty="0"/>
              <a:t> with clinical data, or used for </a:t>
            </a:r>
            <a:r>
              <a:rPr lang="en-GB" sz="2000" b="1" dirty="0"/>
              <a:t>clustering</a:t>
            </a:r>
            <a:r>
              <a:rPr lang="en-GB" sz="2000" dirty="0"/>
              <a:t> and </a:t>
            </a:r>
            <a:r>
              <a:rPr lang="en-GB" sz="2000" b="1" dirty="0"/>
              <a:t>imputation</a:t>
            </a:r>
            <a:r>
              <a:rPr lang="en-GB" sz="2000" dirty="0"/>
              <a:t>.</a:t>
            </a:r>
          </a:p>
          <a:p>
            <a:endParaRPr lang="en-DK" sz="2000" dirty="0"/>
          </a:p>
        </p:txBody>
      </p:sp>
      <p:pic>
        <p:nvPicPr>
          <p:cNvPr id="3" name="Picture 2">
            <a:extLst>
              <a:ext uri="{FF2B5EF4-FFF2-40B4-BE49-F238E27FC236}">
                <a16:creationId xmlns:a16="http://schemas.microsoft.com/office/drawing/2014/main" id="{35FA72D6-ACFF-E01C-6F05-E9FF5FAE9E16}"/>
              </a:ext>
            </a:extLst>
          </p:cNvPr>
          <p:cNvPicPr>
            <a:picLocks noChangeAspect="1"/>
          </p:cNvPicPr>
          <p:nvPr/>
        </p:nvPicPr>
        <p:blipFill>
          <a:blip r:embed="rId5"/>
          <a:stretch>
            <a:fillRect/>
          </a:stretch>
        </p:blipFill>
        <p:spPr>
          <a:xfrm>
            <a:off x="7241059" y="2087592"/>
            <a:ext cx="4721507" cy="384738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pPr algn="l">
              <a:buSzPts val="990"/>
            </a:pPr>
            <a:r>
              <a:rPr lang="es" sz="3227" b="1" dirty="0"/>
              <a:t>Network Biology Analysis</a:t>
            </a:r>
            <a:endParaRPr sz="3227" b="1" dirty="0"/>
          </a:p>
        </p:txBody>
      </p:sp>
      <p:sp>
        <p:nvSpPr>
          <p:cNvPr id="286" name="Google Shape;286;p33"/>
          <p:cNvSpPr txBox="1">
            <a:spLocks noGrp="1"/>
          </p:cNvSpPr>
          <p:nvPr>
            <p:ph type="body" idx="1"/>
          </p:nvPr>
        </p:nvSpPr>
        <p:spPr>
          <a:xfrm>
            <a:off x="415566" y="1655001"/>
            <a:ext cx="7701600" cy="4555200"/>
          </a:xfrm>
          <a:prstGeom prst="rect">
            <a:avLst/>
          </a:prstGeom>
        </p:spPr>
        <p:txBody>
          <a:bodyPr spcFirstLastPara="1" wrap="square" lIns="121900" tIns="121900" rIns="121900" bIns="121900" anchor="t" anchorCtr="0">
            <a:normAutofit/>
          </a:bodyPr>
          <a:lstStyle/>
          <a:p>
            <a:pPr marL="0" indent="0">
              <a:buNone/>
            </a:pPr>
            <a:r>
              <a:rPr lang="es" sz="1800" dirty="0"/>
              <a:t>In network biology the primary goal is to find </a:t>
            </a:r>
            <a:r>
              <a:rPr lang="es" sz="1800" b="1" dirty="0"/>
              <a:t>modules</a:t>
            </a:r>
            <a:r>
              <a:rPr lang="es" sz="1800" dirty="0"/>
              <a:t> of </a:t>
            </a:r>
            <a:r>
              <a:rPr lang="es" sz="1800" b="1" dirty="0"/>
              <a:t>highly correlated features</a:t>
            </a:r>
            <a:r>
              <a:rPr lang="es" sz="1800" dirty="0"/>
              <a:t> (e.g., co-expressed genes, correlated proteins and metabolites).</a:t>
            </a:r>
            <a:endParaRPr sz="1800" dirty="0"/>
          </a:p>
          <a:p>
            <a:pPr marL="0" indent="0">
              <a:lnSpc>
                <a:spcPct val="150000"/>
              </a:lnSpc>
              <a:spcBef>
                <a:spcPts val="1867"/>
              </a:spcBef>
              <a:buClr>
                <a:schemeClr val="dk1"/>
              </a:buClr>
              <a:buSzPts val="1100"/>
              <a:buNone/>
            </a:pPr>
            <a:r>
              <a:rPr lang="es" sz="1800" dirty="0">
                <a:solidFill>
                  <a:srgbClr val="1E293B"/>
                </a:solidFill>
              </a:rPr>
              <a:t>We build </a:t>
            </a:r>
            <a:r>
              <a:rPr lang="es" sz="1800" b="1" dirty="0">
                <a:solidFill>
                  <a:srgbClr val="1E293B"/>
                </a:solidFill>
              </a:rPr>
              <a:t>multi-omic correlation networks</a:t>
            </a:r>
            <a:r>
              <a:rPr lang="es" sz="1800" dirty="0">
                <a:solidFill>
                  <a:srgbClr val="1E293B"/>
                </a:solidFill>
              </a:rPr>
              <a:t> to identify for instance </a:t>
            </a:r>
            <a:r>
              <a:rPr lang="es" sz="1800" b="1" dirty="0">
                <a:solidFill>
                  <a:srgbClr val="1E293B"/>
                </a:solidFill>
              </a:rPr>
              <a:t>modules of proteins</a:t>
            </a:r>
            <a:r>
              <a:rPr lang="es" sz="1800" dirty="0">
                <a:solidFill>
                  <a:srgbClr val="1E293B"/>
                </a:solidFill>
              </a:rPr>
              <a:t> (from proteomics) that are highly </a:t>
            </a:r>
            <a:r>
              <a:rPr lang="es" sz="1800" b="1" dirty="0">
                <a:solidFill>
                  <a:srgbClr val="1E293B"/>
                </a:solidFill>
              </a:rPr>
              <a:t>correlated</a:t>
            </a:r>
            <a:r>
              <a:rPr lang="es" sz="1800" dirty="0">
                <a:solidFill>
                  <a:srgbClr val="1E293B"/>
                </a:solidFill>
              </a:rPr>
              <a:t> with </a:t>
            </a:r>
            <a:r>
              <a:rPr lang="es" sz="1800" b="1" dirty="0">
                <a:solidFill>
                  <a:srgbClr val="1E293B"/>
                </a:solidFill>
              </a:rPr>
              <a:t>modules of metabolites</a:t>
            </a:r>
            <a:r>
              <a:rPr lang="es" sz="1800" dirty="0">
                <a:solidFill>
                  <a:srgbClr val="1E293B"/>
                </a:solidFill>
              </a:rPr>
              <a:t> (from metabolomics).</a:t>
            </a:r>
            <a:endParaRPr sz="1800" dirty="0">
              <a:solidFill>
                <a:srgbClr val="1E293B"/>
              </a:solidFill>
            </a:endParaRPr>
          </a:p>
          <a:p>
            <a:pPr marL="0" indent="0">
              <a:lnSpc>
                <a:spcPct val="150000"/>
              </a:lnSpc>
              <a:spcBef>
                <a:spcPts val="1867"/>
              </a:spcBef>
              <a:spcAft>
                <a:spcPts val="1867"/>
              </a:spcAft>
              <a:buNone/>
            </a:pPr>
            <a:r>
              <a:rPr lang="es" sz="1800" dirty="0">
                <a:solidFill>
                  <a:srgbClr val="1E293B"/>
                </a:solidFill>
              </a:rPr>
              <a:t>This allows researchers to find </a:t>
            </a:r>
            <a:r>
              <a:rPr lang="es" sz="1800" b="1" dirty="0">
                <a:solidFill>
                  <a:srgbClr val="1E293B"/>
                </a:solidFill>
              </a:rPr>
              <a:t>key proteins</a:t>
            </a:r>
            <a:r>
              <a:rPr lang="es" sz="1800" dirty="0">
                <a:solidFill>
                  <a:srgbClr val="1E293B"/>
                </a:solidFill>
              </a:rPr>
              <a:t> that may be </a:t>
            </a:r>
            <a:r>
              <a:rPr lang="es" sz="1800" b="1" dirty="0">
                <a:solidFill>
                  <a:srgbClr val="1E293B"/>
                </a:solidFill>
              </a:rPr>
              <a:t>regulators of specific metabolic pathways</a:t>
            </a:r>
            <a:r>
              <a:rPr lang="es" sz="1800" dirty="0">
                <a:solidFill>
                  <a:srgbClr val="1E293B"/>
                </a:solidFill>
              </a:rPr>
              <a:t>.</a:t>
            </a:r>
            <a:endParaRPr sz="1800" dirty="0"/>
          </a:p>
        </p:txBody>
      </p:sp>
      <p:sp>
        <p:nvSpPr>
          <p:cNvPr id="287" name="Google Shape;287;p33"/>
          <p:cNvSpPr txBox="1"/>
          <p:nvPr/>
        </p:nvSpPr>
        <p:spPr>
          <a:xfrm>
            <a:off x="415566" y="5772210"/>
            <a:ext cx="5830127" cy="984845"/>
          </a:xfrm>
          <a:prstGeom prst="rect">
            <a:avLst/>
          </a:prstGeom>
          <a:noFill/>
          <a:ln>
            <a:noFill/>
          </a:ln>
        </p:spPr>
        <p:txBody>
          <a:bodyPr spcFirstLastPara="1" wrap="square" lIns="121900" tIns="121900" rIns="121900" bIns="121900" anchor="t" anchorCtr="0">
            <a:spAutoFit/>
          </a:bodyPr>
          <a:lstStyle/>
          <a:p>
            <a:r>
              <a:rPr lang="es" sz="2400" u="sng" dirty="0">
                <a:solidFill>
                  <a:schemeClr val="hlink"/>
                </a:solidFill>
                <a:hlinkClick r:id="rId3"/>
              </a:rPr>
              <a:t>https://bmcbioinformatics.biomedcentral.com/articles/10.1186/1471-2105-9-559</a:t>
            </a:r>
            <a:endParaRPr sz="2400" dirty="0"/>
          </a:p>
        </p:txBody>
      </p:sp>
      <p:pic>
        <p:nvPicPr>
          <p:cNvPr id="288" name="Google Shape;288;p33"/>
          <p:cNvPicPr preferRelativeResize="0"/>
          <p:nvPr/>
        </p:nvPicPr>
        <p:blipFill>
          <a:blip r:embed="rId4">
            <a:alphaModFix/>
          </a:blip>
          <a:stretch>
            <a:fillRect/>
          </a:stretch>
        </p:blipFill>
        <p:spPr>
          <a:xfrm>
            <a:off x="8117234" y="1239801"/>
            <a:ext cx="3830900" cy="538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Your turn: two notebooks in Google Colab</a:t>
            </a:r>
            <a:endParaRPr lang="en-US" sz="3200" dirty="0"/>
          </a:p>
        </p:txBody>
      </p:sp>
      <p:sp>
        <p:nvSpPr>
          <p:cNvPr id="3" name="notebook 1"/>
          <p:cNvSpPr/>
          <p:nvPr/>
        </p:nvSpPr>
        <p:spPr>
          <a:xfrm>
            <a:off x="548640" y="1371600"/>
            <a:ext cx="5440680" cy="4343400"/>
          </a:xfrm>
          <a:prstGeom prst="roundRect">
            <a:avLst>
              <a:gd name="adj" fmla="val 2526"/>
            </a:avLst>
          </a:prstGeom>
          <a:solidFill>
            <a:schemeClr val="bg1"/>
          </a:solidFill>
          <a:ln/>
          <a:effectLst>
            <a:outerShdw blurRad="76200" dist="25400" dir="5400000" algn="bl" rotWithShape="0">
              <a:srgbClr val="8A96A8">
                <a:alpha val="25000"/>
              </a:srgbClr>
            </a:outerShdw>
          </a:effectLst>
        </p:spPr>
        <p:txBody>
          <a:bodyPr/>
          <a:lstStyle/>
          <a:p>
            <a:endParaRPr lang="en-DK"/>
          </a:p>
        </p:txBody>
      </p:sp>
      <p:sp>
        <p:nvSpPr>
          <p:cNvPr id="4" name="notebook 1 disc"/>
          <p:cNvSpPr/>
          <p:nvPr/>
        </p:nvSpPr>
        <p:spPr>
          <a:xfrm>
            <a:off x="822960" y="1600200"/>
            <a:ext cx="731520" cy="731520"/>
          </a:xfrm>
          <a:prstGeom prst="ellipse">
            <a:avLst/>
          </a:prstGeom>
          <a:solidFill>
            <a:schemeClr val="accent4"/>
          </a:solidFill>
          <a:ln/>
        </p:spPr>
        <p:txBody>
          <a:bodyPr/>
          <a:lstStyle/>
          <a:p>
            <a:endParaRPr lang="en-DK"/>
          </a:p>
        </p:txBody>
      </p:sp>
      <p:pic>
        <p:nvPicPr>
          <p:cNvPr id="5" name="notebook 1 icon" descr="preencoded.png"/>
          <p:cNvPicPr>
            <a:picLocks noChangeAspect="1"/>
          </p:cNvPicPr>
          <p:nvPr/>
        </p:nvPicPr>
        <p:blipFill>
          <a:blip r:embed="rId3"/>
          <a:stretch>
            <a:fillRect/>
          </a:stretch>
        </p:blipFill>
        <p:spPr>
          <a:xfrm>
            <a:off x="1005840" y="1783080"/>
            <a:ext cx="365760" cy="365760"/>
          </a:xfrm>
          <a:prstGeom prst="rect">
            <a:avLst/>
          </a:prstGeom>
        </p:spPr>
      </p:pic>
      <p:sp>
        <p:nvSpPr>
          <p:cNvPr id="6" name="Text 3"/>
          <p:cNvSpPr txBox="1"/>
          <p:nvPr/>
        </p:nvSpPr>
        <p:spPr>
          <a:xfrm>
            <a:off x="1737360" y="1600200"/>
            <a:ext cx="3200400" cy="73152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Multi-omics I — Data layers Integration</a:t>
            </a:r>
            <a:endParaRPr lang="en-US" sz="1800" dirty="0"/>
          </a:p>
        </p:txBody>
      </p:sp>
      <p:sp>
        <p:nvSpPr>
          <p:cNvPr id="7" name="Text 4"/>
          <p:cNvSpPr txBox="1"/>
          <p:nvPr/>
        </p:nvSpPr>
        <p:spPr>
          <a:xfrm>
            <a:off x="4892040" y="1600200"/>
            <a:ext cx="914400" cy="731520"/>
          </a:xfrm>
          <a:prstGeom prst="rect">
            <a:avLst/>
          </a:prstGeom>
          <a:noFill/>
          <a:ln/>
        </p:spPr>
        <p:txBody>
          <a:bodyPr wrap="square" lIns="0" tIns="0" rIns="0" bIns="0" rtlCol="0" anchor="ctr"/>
          <a:lstStyle/>
          <a:p>
            <a:pPr marL="0" indent="0" algn="r">
              <a:buNone/>
            </a:pPr>
            <a:r>
              <a:rPr lang="en-US" sz="1400" b="1" dirty="0">
                <a:solidFill>
                  <a:schemeClr val="accent4"/>
                </a:solidFill>
              </a:rPr>
              <a:t>~35 min</a:t>
            </a:r>
            <a:endParaRPr lang="en-US" sz="1400" dirty="0"/>
          </a:p>
        </p:txBody>
      </p:sp>
      <p:sp>
        <p:nvSpPr>
          <p:cNvPr id="8" name="Text 5"/>
          <p:cNvSpPr txBox="1"/>
          <p:nvPr/>
        </p:nvSpPr>
        <p:spPr>
          <a:xfrm>
            <a:off x="822960" y="2514600"/>
            <a:ext cx="4937760" cy="365760"/>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notebooks/01_multiomics_integration.ipynb</a:t>
            </a:r>
            <a:endParaRPr lang="en-US" sz="1100" dirty="0"/>
          </a:p>
        </p:txBody>
      </p:sp>
      <p:sp>
        <p:nvSpPr>
          <p:cNvPr id="9" name="Text 6"/>
          <p:cNvSpPr txBox="1"/>
          <p:nvPr/>
        </p:nvSpPr>
        <p:spPr>
          <a:xfrm>
            <a:off x="822960" y="2971800"/>
            <a:ext cx="4846320" cy="365760"/>
          </a:xfrm>
          <a:prstGeom prst="rect">
            <a:avLst/>
          </a:prstGeom>
          <a:noFill/>
          <a:ln/>
        </p:spPr>
        <p:txBody>
          <a:bodyPr wrap="square" lIns="0" tIns="0" rIns="0" bIns="0" rtlCol="0" anchor="t"/>
          <a:lstStyle/>
          <a:p>
            <a:pPr marL="0" indent="0">
              <a:buNone/>
            </a:pPr>
            <a:r>
              <a:rPr lang="en-US" sz="1500" b="1" dirty="0">
                <a:solidFill>
                  <a:schemeClr val="tx1"/>
                </a:solidFill>
              </a:rPr>
              <a:t>Questions to answer</a:t>
            </a:r>
            <a:endParaRPr lang="en-US" sz="1500" dirty="0"/>
          </a:p>
        </p:txBody>
      </p:sp>
      <p:sp>
        <p:nvSpPr>
          <p:cNvPr id="10" name="Text 7"/>
          <p:cNvSpPr txBox="1"/>
          <p:nvPr/>
        </p:nvSpPr>
        <p:spPr>
          <a:xfrm>
            <a:off x="822960" y="3383280"/>
            <a:ext cx="48920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Is the Mantel correlation positive? Shared or complementary signal?</a:t>
            </a:r>
            <a:endParaRPr lang="en-US" sz="1500" dirty="0"/>
          </a:p>
          <a:p>
            <a:pPr marL="342900" indent="-342900">
              <a:spcAft>
                <a:spcPts val="800"/>
              </a:spcAft>
              <a:buSzPct val="100000"/>
              <a:buChar char="•"/>
            </a:pPr>
            <a:r>
              <a:rPr lang="en-US" sz="1500" dirty="0">
                <a:solidFill>
                  <a:schemeClr val="tx2"/>
                </a:solidFill>
              </a:rPr>
              <a:t>Do SNF clusters match the groups — or the </a:t>
            </a:r>
            <a:r>
              <a:rPr lang="en-US" sz="1500">
                <a:solidFill>
                  <a:schemeClr val="tx2"/>
                </a:solidFill>
              </a:rPr>
              <a:t>clinical variables?</a:t>
            </a:r>
            <a:endParaRPr lang="en-US" sz="1500" dirty="0"/>
          </a:p>
          <a:p>
            <a:pPr marL="342900" indent="-342900">
              <a:spcAft>
                <a:spcPts val="800"/>
              </a:spcAft>
              <a:buSzPct val="100000"/>
              <a:buChar char="•"/>
            </a:pPr>
            <a:r>
              <a:rPr lang="en-US" sz="1500" dirty="0">
                <a:solidFill>
                  <a:schemeClr val="tx2"/>
                </a:solidFill>
              </a:rPr>
              <a:t>Which MOFA factor tracks group, which tracks CRP / creatinine?</a:t>
            </a:r>
            <a:endParaRPr lang="en-US" sz="1500" dirty="0"/>
          </a:p>
        </p:txBody>
      </p:sp>
      <p:sp>
        <p:nvSpPr>
          <p:cNvPr id="11" name="notebook 2"/>
          <p:cNvSpPr/>
          <p:nvPr/>
        </p:nvSpPr>
        <p:spPr>
          <a:xfrm>
            <a:off x="6172200" y="1371600"/>
            <a:ext cx="5440680" cy="4343400"/>
          </a:xfrm>
          <a:prstGeom prst="roundRect">
            <a:avLst>
              <a:gd name="adj" fmla="val 2526"/>
            </a:avLst>
          </a:prstGeom>
          <a:solidFill>
            <a:schemeClr val="bg1"/>
          </a:solidFill>
          <a:ln/>
          <a:effectLst>
            <a:outerShdw blurRad="76200" dist="25400" dir="5400000" algn="bl" rotWithShape="0">
              <a:srgbClr val="8A96A8">
                <a:alpha val="25000"/>
              </a:srgbClr>
            </a:outerShdw>
          </a:effectLst>
        </p:spPr>
        <p:txBody>
          <a:bodyPr/>
          <a:lstStyle/>
          <a:p>
            <a:endParaRPr lang="en-DK"/>
          </a:p>
        </p:txBody>
      </p:sp>
      <p:sp>
        <p:nvSpPr>
          <p:cNvPr id="12" name="notebook 2 disc"/>
          <p:cNvSpPr/>
          <p:nvPr/>
        </p:nvSpPr>
        <p:spPr>
          <a:xfrm>
            <a:off x="6446520" y="1600200"/>
            <a:ext cx="731520" cy="731520"/>
          </a:xfrm>
          <a:prstGeom prst="ellipse">
            <a:avLst/>
          </a:prstGeom>
          <a:solidFill>
            <a:schemeClr val="accent4"/>
          </a:solidFill>
          <a:ln/>
        </p:spPr>
        <p:txBody>
          <a:bodyPr/>
          <a:lstStyle/>
          <a:p>
            <a:endParaRPr lang="en-DK"/>
          </a:p>
        </p:txBody>
      </p:sp>
      <p:pic>
        <p:nvPicPr>
          <p:cNvPr id="13" name="notebook 2 icon" descr="preencoded.png"/>
          <p:cNvPicPr>
            <a:picLocks noChangeAspect="1"/>
          </p:cNvPicPr>
          <p:nvPr/>
        </p:nvPicPr>
        <p:blipFill>
          <a:blip r:embed="rId4"/>
          <a:stretch>
            <a:fillRect/>
          </a:stretch>
        </p:blipFill>
        <p:spPr>
          <a:xfrm>
            <a:off x="6629400" y="1783080"/>
            <a:ext cx="365760" cy="365760"/>
          </a:xfrm>
          <a:prstGeom prst="rect">
            <a:avLst/>
          </a:prstGeom>
        </p:spPr>
      </p:pic>
      <p:sp>
        <p:nvSpPr>
          <p:cNvPr id="14" name="Text 10"/>
          <p:cNvSpPr txBox="1"/>
          <p:nvPr/>
        </p:nvSpPr>
        <p:spPr>
          <a:xfrm>
            <a:off x="7360920" y="1600200"/>
            <a:ext cx="3200400" cy="73152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Multi-omics II — Networks &amp; pathways</a:t>
            </a:r>
            <a:endParaRPr lang="en-US" sz="1800" dirty="0"/>
          </a:p>
        </p:txBody>
      </p:sp>
      <p:sp>
        <p:nvSpPr>
          <p:cNvPr id="15" name="Text 11"/>
          <p:cNvSpPr txBox="1"/>
          <p:nvPr/>
        </p:nvSpPr>
        <p:spPr>
          <a:xfrm>
            <a:off x="10515600" y="1600200"/>
            <a:ext cx="914400" cy="731520"/>
          </a:xfrm>
          <a:prstGeom prst="rect">
            <a:avLst/>
          </a:prstGeom>
          <a:noFill/>
          <a:ln/>
        </p:spPr>
        <p:txBody>
          <a:bodyPr wrap="square" lIns="0" tIns="0" rIns="0" bIns="0" rtlCol="0" anchor="ctr"/>
          <a:lstStyle/>
          <a:p>
            <a:pPr marL="0" indent="0" algn="r">
              <a:buNone/>
            </a:pPr>
            <a:r>
              <a:rPr lang="en-US" sz="1400" b="1" dirty="0">
                <a:solidFill>
                  <a:schemeClr val="accent4"/>
                </a:solidFill>
              </a:rPr>
              <a:t>~35 min</a:t>
            </a:r>
            <a:endParaRPr lang="en-US" sz="1400" dirty="0"/>
          </a:p>
        </p:txBody>
      </p:sp>
      <p:sp>
        <p:nvSpPr>
          <p:cNvPr id="16" name="Text 12"/>
          <p:cNvSpPr txBox="1"/>
          <p:nvPr/>
        </p:nvSpPr>
        <p:spPr>
          <a:xfrm>
            <a:off x="6446520" y="2514600"/>
            <a:ext cx="4937760" cy="365760"/>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notebooks/02_multiomics_networks(_with_AUC).ipynb</a:t>
            </a:r>
            <a:endParaRPr lang="en-US" sz="1100" dirty="0"/>
          </a:p>
        </p:txBody>
      </p:sp>
      <p:sp>
        <p:nvSpPr>
          <p:cNvPr id="17" name="Text 13"/>
          <p:cNvSpPr txBox="1"/>
          <p:nvPr/>
        </p:nvSpPr>
        <p:spPr>
          <a:xfrm>
            <a:off x="6446520" y="2971800"/>
            <a:ext cx="4846320" cy="365760"/>
          </a:xfrm>
          <a:prstGeom prst="rect">
            <a:avLst/>
          </a:prstGeom>
          <a:noFill/>
          <a:ln/>
        </p:spPr>
        <p:txBody>
          <a:bodyPr wrap="square" lIns="0" tIns="0" rIns="0" bIns="0" rtlCol="0" anchor="t"/>
          <a:lstStyle/>
          <a:p>
            <a:pPr marL="0" indent="0">
              <a:buNone/>
            </a:pPr>
            <a:r>
              <a:rPr lang="en-US" sz="1500" b="1" dirty="0">
                <a:solidFill>
                  <a:schemeClr val="tx1"/>
                </a:solidFill>
              </a:rPr>
              <a:t>Questions to answer</a:t>
            </a:r>
            <a:endParaRPr lang="en-US" sz="1500" dirty="0"/>
          </a:p>
        </p:txBody>
      </p:sp>
      <p:sp>
        <p:nvSpPr>
          <p:cNvPr id="18" name="Text 14"/>
          <p:cNvSpPr txBox="1"/>
          <p:nvPr/>
        </p:nvSpPr>
        <p:spPr>
          <a:xfrm>
            <a:off x="6446520" y="3383280"/>
            <a:ext cx="48920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How many protein–metabolite edges survive FDR 5 % vs 20 %?</a:t>
            </a:r>
            <a:endParaRPr lang="en-US" sz="1500" dirty="0"/>
          </a:p>
          <a:p>
            <a:pPr marL="342900" indent="-342900">
              <a:spcAft>
                <a:spcPts val="800"/>
              </a:spcAft>
              <a:buSzPct val="100000"/>
              <a:buChar char="•"/>
            </a:pPr>
            <a:r>
              <a:rPr lang="en-US" sz="1500" dirty="0">
                <a:solidFill>
                  <a:schemeClr val="tx2"/>
                </a:solidFill>
              </a:rPr>
              <a:t>Who are the hubs — controllers or markers of global state?</a:t>
            </a:r>
            <a:endParaRPr lang="en-US" sz="1500" dirty="0"/>
          </a:p>
          <a:p>
            <a:pPr marL="342900" indent="-342900">
              <a:spcAft>
                <a:spcPts val="800"/>
              </a:spcAft>
              <a:buSzPct val="100000"/>
              <a:buChar char="•"/>
            </a:pPr>
            <a:r>
              <a:rPr lang="en-US" sz="1500" dirty="0">
                <a:solidFill>
                  <a:schemeClr val="tx2"/>
                </a:solidFill>
              </a:rPr>
              <a:t>Does MAT2B correlate with SAM? Would you believe it?</a:t>
            </a:r>
            <a:endParaRPr lang="en-US" sz="1500" dirty="0"/>
          </a:p>
        </p:txBody>
      </p:sp>
      <p:sp>
        <p:nvSpPr>
          <p:cNvPr id="19" name="Text 15"/>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300" dirty="0" err="1">
                <a:solidFill>
                  <a:schemeClr val="accent5"/>
                </a:solidFill>
              </a:rPr>
              <a:t>github.com</a:t>
            </a:r>
            <a:r>
              <a:rPr lang="en-US" sz="1300" dirty="0">
                <a:solidFill>
                  <a:schemeClr val="accent5"/>
                </a:solidFill>
              </a:rPr>
              <a:t>/</a:t>
            </a:r>
            <a:r>
              <a:rPr lang="en-US" sz="1300" dirty="0" err="1">
                <a:solidFill>
                  <a:schemeClr val="accent5"/>
                </a:solidFill>
              </a:rPr>
              <a:t>biosustain</a:t>
            </a:r>
            <a:r>
              <a:rPr lang="en-US" sz="1300" dirty="0">
                <a:solidFill>
                  <a:schemeClr val="accent5"/>
                </a:solidFill>
              </a:rPr>
              <a:t>/</a:t>
            </a:r>
            <a:r>
              <a:rPr lang="en-US" sz="1300" dirty="0" err="1">
                <a:solidFill>
                  <a:schemeClr val="accent5"/>
                </a:solidFill>
              </a:rPr>
              <a:t>dsp_multiomics_workshop</a:t>
            </a:r>
            <a:r>
              <a:rPr lang="en-US" sz="1300" dirty="0">
                <a:solidFill>
                  <a:schemeClr val="accent5"/>
                </a:solidFill>
              </a:rPr>
              <a:t>  ·  open each notebook from the README  ·  Runtime → Run all first</a:t>
            </a:r>
            <a:endParaRPr lang="en-US" sz="13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20" name="Picture 19" descr="url_qrcodecreator.com_15_37_15.png">
            <a:extLst>
              <a:ext uri="{FF2B5EF4-FFF2-40B4-BE49-F238E27FC236}">
                <a16:creationId xmlns:a16="http://schemas.microsoft.com/office/drawing/2014/main" id="{21585506-BD64-ADB2-8943-6D5BCDC3928F}"/>
              </a:ext>
            </a:extLst>
          </p:cNvPr>
          <p:cNvPicPr>
            <a:picLocks noChangeAspect="1"/>
          </p:cNvPicPr>
          <p:nvPr/>
        </p:nvPicPr>
        <p:blipFill>
          <a:blip r:embed="rId5"/>
          <a:stretch>
            <a:fillRect/>
          </a:stretch>
        </p:blipFill>
        <p:spPr>
          <a:xfrm>
            <a:off x="10455214" y="51759"/>
            <a:ext cx="1667774" cy="1667774"/>
          </a:xfrm>
          <a:prstGeom prst="rect">
            <a:avLst/>
          </a:prstGeom>
        </p:spPr>
      </p:pic>
      <p:sp>
        <p:nvSpPr>
          <p:cNvPr id="22" name="TextBox 21">
            <a:extLst>
              <a:ext uri="{FF2B5EF4-FFF2-40B4-BE49-F238E27FC236}">
                <a16:creationId xmlns:a16="http://schemas.microsoft.com/office/drawing/2014/main" id="{1CE5895B-7035-8D66-291A-2252ADBAE26C}"/>
              </a:ext>
            </a:extLst>
          </p:cNvPr>
          <p:cNvSpPr txBox="1"/>
          <p:nvPr/>
        </p:nvSpPr>
        <p:spPr>
          <a:xfrm>
            <a:off x="7172864" y="125885"/>
            <a:ext cx="3109823" cy="369332"/>
          </a:xfrm>
          <a:prstGeom prst="rect">
            <a:avLst/>
          </a:prstGeom>
          <a:noFill/>
        </p:spPr>
        <p:txBody>
          <a:bodyPr wrap="square">
            <a:spAutoFit/>
          </a:bodyPr>
          <a:lstStyle/>
          <a:p>
            <a:r>
              <a:rPr lang="en-US" dirty="0">
                <a:hlinkClick r:id="rId6" tooltip="https://tinyurl.com/bddaap8r"/>
              </a:rPr>
              <a:t>https://tinyurl.com/bddaap8r</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00B0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8686800" cy="1737360"/>
          </a:xfrm>
          <a:prstGeom prst="rect">
            <a:avLst/>
          </a:prstGeom>
          <a:noFill/>
          <a:ln/>
        </p:spPr>
        <p:txBody>
          <a:bodyPr wrap="square"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Take home</a:t>
            </a:r>
            <a:endParaRPr lang="en-US" sz="4400" dirty="0"/>
          </a:p>
        </p:txBody>
      </p:sp>
      <p:sp>
        <p:nvSpPr>
          <p:cNvPr id="3" name="Text 1"/>
          <p:cNvSpPr txBox="1"/>
          <p:nvPr/>
        </p:nvSpPr>
        <p:spPr>
          <a:xfrm>
            <a:off x="548640" y="3749040"/>
            <a:ext cx="10515600" cy="23774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Preprocessing is a chain of decisions — pin pipelines, record metadata, randomise run order</a:t>
            </a:r>
            <a:endParaRPr lang="en-US" sz="1800" dirty="0"/>
          </a:p>
          <a:p>
            <a:pPr marL="342900" indent="-342900">
              <a:spcAft>
                <a:spcPts val="1000"/>
              </a:spcAft>
              <a:buSzPct val="100000"/>
              <a:buChar char="•"/>
            </a:pPr>
            <a:r>
              <a:rPr lang="en-US" sz="1800" dirty="0">
                <a:solidFill>
                  <a:schemeClr val="bg1"/>
                </a:solidFill>
              </a:rPr>
              <a:t>A differential list is the data plus the analyst's choices</a:t>
            </a:r>
            <a:endParaRPr lang="en-US" sz="1800" dirty="0"/>
          </a:p>
          <a:p>
            <a:pPr marL="342900" indent="-342900">
              <a:spcAft>
                <a:spcPts val="1000"/>
              </a:spcAft>
              <a:buSzPct val="100000"/>
              <a:buChar char="•"/>
            </a:pPr>
            <a:r>
              <a:rPr lang="en-US" sz="1800" dirty="0">
                <a:solidFill>
                  <a:schemeClr val="bg1"/>
                </a:solidFill>
              </a:rPr>
              <a:t>Integration pays off where mechanism crosses layers, not where groups separate</a:t>
            </a:r>
            <a:endParaRPr lang="en-US" sz="1800" dirty="0"/>
          </a:p>
          <a:p>
            <a:pPr marL="342900" indent="-342900">
              <a:spcAft>
                <a:spcPts val="1000"/>
              </a:spcAft>
              <a:buSzPct val="100000"/>
              <a:buChar char="•"/>
            </a:pPr>
            <a:r>
              <a:rPr lang="en-US" sz="1800" dirty="0">
                <a:solidFill>
                  <a:schemeClr val="bg1"/>
                </a:solidFill>
              </a:rPr>
              <a:t>Networks generate hypotheses; validation needs another cohort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FD13FD8-48AD-EBE9-1E1A-508CED26BA98}"/>
              </a:ext>
            </a:extLst>
          </p:cNvPr>
          <p:cNvSpPr>
            <a:spLocks noGrp="1"/>
          </p:cNvSpPr>
          <p:nvPr>
            <p:ph type="title" idx="100" hasCustomPrompt="1"/>
          </p:nvPr>
        </p:nvSpPr>
        <p:spPr>
          <a:xfrm>
            <a:off x="548792" y="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Answers to the questions</a:t>
            </a:r>
            <a:endParaRPr lang="en-US" sz="3200" dirty="0"/>
          </a:p>
        </p:txBody>
      </p:sp>
      <p:sp>
        <p:nvSpPr>
          <p:cNvPr id="5" name="TextBox 4">
            <a:extLst>
              <a:ext uri="{FF2B5EF4-FFF2-40B4-BE49-F238E27FC236}">
                <a16:creationId xmlns:a16="http://schemas.microsoft.com/office/drawing/2014/main" id="{BA0496B5-F860-59C3-919B-3C0360C38FC5}"/>
              </a:ext>
            </a:extLst>
          </p:cNvPr>
          <p:cNvSpPr txBox="1"/>
          <p:nvPr/>
        </p:nvSpPr>
        <p:spPr>
          <a:xfrm>
            <a:off x="548792" y="1095522"/>
            <a:ext cx="11302889" cy="5355312"/>
          </a:xfrm>
          <a:prstGeom prst="rect">
            <a:avLst/>
          </a:prstGeom>
          <a:noFill/>
        </p:spPr>
        <p:txBody>
          <a:bodyPr wrap="square" rtlCol="0">
            <a:spAutoFit/>
          </a:bodyPr>
          <a:lstStyle/>
          <a:p>
            <a:r>
              <a:rPr lang="en-DK" b="1" dirty="0"/>
              <a:t>Multi-omics I — Integration</a:t>
            </a:r>
            <a:endParaRPr lang="en-DK" dirty="0"/>
          </a:p>
          <a:p>
            <a:pPr lvl="0"/>
            <a:r>
              <a:rPr lang="en-DK" dirty="0">
                <a:solidFill>
                  <a:srgbClr val="FF0000"/>
                </a:solidFill>
              </a:rPr>
              <a:t>1. Is the Mantel correlation between the two layers positive? Is the signal shared or complementary?</a:t>
            </a:r>
            <a:endParaRPr lang="en-DK" dirty="0"/>
          </a:p>
          <a:p>
            <a:pPr lvl="0"/>
            <a:r>
              <a:rPr lang="en-DK" i="1" dirty="0"/>
              <a:t>The correlation is slightly positive (rho=0.058), but almost zero and statistically non-significant (p = 0.491). This indicates that the global structures of the proteome and the metabolome in this cohort do not strongly mirror each other. Therefore, the signal is highly complementary rather than shared; each layer captures unique biological dimensions of the host response.</a:t>
            </a:r>
          </a:p>
          <a:p>
            <a:pPr lvl="0"/>
            <a:endParaRPr lang="en-DK" i="1" dirty="0"/>
          </a:p>
          <a:p>
            <a:pPr lvl="0"/>
            <a:r>
              <a:rPr lang="en-DK" dirty="0">
                <a:solidFill>
                  <a:srgbClr val="FF0000"/>
                </a:solidFill>
              </a:rPr>
              <a:t>2. Do the SNF clusters match the pathogenicity groups — or the clinical variables?</a:t>
            </a:r>
            <a:endParaRPr lang="en-DK" dirty="0"/>
          </a:p>
          <a:p>
            <a:r>
              <a:rPr lang="en-GB" i="1" dirty="0"/>
              <a:t>The clusters do not match the pathogen resistance groups (CSKP vs. CRKP). Instead, they match clinical variables representing the severity of the inflammatory host response. </a:t>
            </a:r>
            <a:r>
              <a:rPr lang="en-DK" dirty="0"/>
              <a:t>Cluster 1 is characterized by a significantly higher systemic inflammatory profile, while cluster 0 and 2 contain mostly culture negative samples / less severe sepsis.</a:t>
            </a:r>
          </a:p>
          <a:p>
            <a:pPr lvl="0"/>
            <a:endParaRPr lang="en-DK" dirty="0"/>
          </a:p>
          <a:p>
            <a:pPr lvl="0"/>
            <a:r>
              <a:rPr lang="en-DK" dirty="0">
                <a:solidFill>
                  <a:srgbClr val="FF0000"/>
                </a:solidFill>
              </a:rPr>
              <a:t>3. Which MOFA factor tracks group, and which tracks CRP, procalcitonin or creatinine?</a:t>
            </a:r>
            <a:endParaRPr lang="en-DK" dirty="0"/>
          </a:p>
          <a:p>
            <a:r>
              <a:rPr lang="en-DK" i="1" dirty="0"/>
              <a:t>Factor 2 is associated with pathogenicity/clinical groups (Kruskal-Wallis p = 0.0000219) – quite clean signal of the clinical groups.</a:t>
            </a:r>
          </a:p>
          <a:p>
            <a:r>
              <a:rPr lang="en-DK" i="1" dirty="0"/>
              <a:t>Factor 1 has the strongest relationship with systemic inflammatory markers, showing Spearman correlation with Procalcitonin (rho = 0.452) and CRP (rho = 0.26) and creatinine (rho = 0.232 – renal function). We did not choose the factor 4 because it explains ~8% less of the variance.</a:t>
            </a:r>
            <a:br>
              <a:rPr lang="en-DK" i="1" dirty="0"/>
            </a:br>
            <a:endParaRPr lang="en-DK" i="1" dirty="0"/>
          </a:p>
        </p:txBody>
      </p:sp>
    </p:spTree>
    <p:extLst>
      <p:ext uri="{BB962C8B-B14F-4D97-AF65-F5344CB8AC3E}">
        <p14:creationId xmlns:p14="http://schemas.microsoft.com/office/powerpoint/2010/main" val="1311280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85AB1E-EDF2-615A-E6E0-9DBBD8916E6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46BCEF21-86F2-2595-397F-A7B379631568}"/>
              </a:ext>
            </a:extLst>
          </p:cNvPr>
          <p:cNvSpPr>
            <a:spLocks noGrp="1"/>
          </p:cNvSpPr>
          <p:nvPr>
            <p:ph type="title" idx="100" hasCustomPrompt="1"/>
          </p:nvPr>
        </p:nvSpPr>
        <p:spPr>
          <a:xfrm>
            <a:off x="548792" y="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Answers to the questions</a:t>
            </a:r>
            <a:endParaRPr lang="en-US" sz="3200" dirty="0"/>
          </a:p>
        </p:txBody>
      </p:sp>
      <p:sp>
        <p:nvSpPr>
          <p:cNvPr id="5" name="TextBox 4">
            <a:extLst>
              <a:ext uri="{FF2B5EF4-FFF2-40B4-BE49-F238E27FC236}">
                <a16:creationId xmlns:a16="http://schemas.microsoft.com/office/drawing/2014/main" id="{09C64D23-481C-8F8B-6136-C896829ACC5E}"/>
              </a:ext>
            </a:extLst>
          </p:cNvPr>
          <p:cNvSpPr txBox="1"/>
          <p:nvPr/>
        </p:nvSpPr>
        <p:spPr>
          <a:xfrm>
            <a:off x="548792" y="671691"/>
            <a:ext cx="11094415" cy="5909310"/>
          </a:xfrm>
          <a:prstGeom prst="rect">
            <a:avLst/>
          </a:prstGeom>
          <a:noFill/>
        </p:spPr>
        <p:txBody>
          <a:bodyPr wrap="square" rtlCol="0">
            <a:spAutoFit/>
          </a:bodyPr>
          <a:lstStyle/>
          <a:p>
            <a:r>
              <a:rPr lang="en-DK" b="1" dirty="0"/>
              <a:t>Multi-omics II — Networks and pathways</a:t>
            </a:r>
            <a:endParaRPr lang="en-DK" dirty="0"/>
          </a:p>
          <a:p>
            <a:pPr lvl="0"/>
            <a:r>
              <a:rPr lang="en-DK" dirty="0">
                <a:solidFill>
                  <a:srgbClr val="FF0000"/>
                </a:solidFill>
              </a:rPr>
              <a:t>1. How many protein–metabolite edges survive FDR 5 %, and how many FDR 20 %?</a:t>
            </a:r>
          </a:p>
          <a:p>
            <a:pPr lvl="0"/>
            <a:r>
              <a:rPr lang="en-DK" i="1" dirty="0"/>
              <a:t>At FDR 5% only 8 edges survive (with a Spearman rho &gt; 0.45.</a:t>
            </a:r>
          </a:p>
          <a:p>
            <a:pPr lvl="0"/>
            <a:r>
              <a:rPr lang="en-DK" i="1" dirty="0"/>
              <a:t>At FDR 20% 492 edges survive (331 positive, 161 negative). This gives us enough network structure to map out metabolic communities, but with the warning that about 1 in 5 edges (around 98 of them) are expected to be false positives.</a:t>
            </a:r>
          </a:p>
          <a:p>
            <a:pPr lvl="0"/>
            <a:endParaRPr lang="en-DK" dirty="0"/>
          </a:p>
          <a:p>
            <a:pPr lvl="0"/>
            <a:r>
              <a:rPr lang="en-DK" dirty="0">
                <a:solidFill>
                  <a:srgbClr val="FF0000"/>
                </a:solidFill>
              </a:rPr>
              <a:t>2. Who are the hubs — metabolic controllers, or markers of a global state?</a:t>
            </a:r>
          </a:p>
          <a:p>
            <a:r>
              <a:rPr lang="en-GB" i="1" dirty="0"/>
              <a:t>Mostly markers of a global state. </a:t>
            </a:r>
            <a:r>
              <a:rPr lang="en-DK" i="1" dirty="0"/>
              <a:t>For example, the top protein hub F7 (Coagulation Factor VII) and immunoglobulins like IGKV2-29 (which has 31 partners) correlate with many metabolites because they all independently track the systemic collapse, vascular damage, and immune exhaustion of severe CRKP sepsis.</a:t>
            </a:r>
            <a:endParaRPr lang="en-GB" dirty="0"/>
          </a:p>
          <a:p>
            <a:pPr lvl="0"/>
            <a:endParaRPr lang="en-DK" dirty="0"/>
          </a:p>
          <a:p>
            <a:pPr lvl="0"/>
            <a:r>
              <a:rPr lang="en-DK" dirty="0">
                <a:solidFill>
                  <a:srgbClr val="FF0000"/>
                </a:solidFill>
              </a:rPr>
              <a:t>3. Does MAT2B correlate with S-adenosylmethionine (SAM)? Would you believe it?</a:t>
            </a:r>
          </a:p>
          <a:p>
            <a:r>
              <a:rPr lang="en-DK" dirty="0"/>
              <a:t>Yes, they correlate: rho = 0.38; p = 0.0358</a:t>
            </a:r>
          </a:p>
          <a:p>
            <a:pPr lvl="0"/>
            <a:r>
              <a:rPr lang="en-DK" dirty="0"/>
              <a:t>I would believe it with strong skepticism. Why?</a:t>
            </a:r>
            <a:br>
              <a:rPr lang="en-DK" dirty="0"/>
            </a:br>
            <a:r>
              <a:rPr lang="en-DK" dirty="0"/>
              <a:t>	- Very Small Sample Size: MAT2B is only measured in 30 out of 45 patients. </a:t>
            </a:r>
          </a:p>
          <a:p>
            <a:pPr lvl="0"/>
            <a:r>
              <a:rPr lang="en-DK" dirty="0"/>
              <a:t>	- Leakage vs. Activity: MAT2B is an </a:t>
            </a:r>
            <a:r>
              <a:rPr lang="en-DK" i="1" dirty="0"/>
              <a:t>intracellular</a:t>
            </a:r>
            <a:r>
              <a:rPr lang="en-DK" dirty="0"/>
              <a:t> enzyme. Finding it in the </a:t>
            </a:r>
            <a:r>
              <a:rPr lang="en-DK" i="1" dirty="0"/>
              <a:t>serum</a:t>
            </a:r>
            <a:r>
              <a:rPr lang="en-DK" dirty="0"/>
              <a:t> likely means cell death and tissue damage rather than active serum enzyme kinetics.</a:t>
            </a:r>
          </a:p>
          <a:p>
            <a:pPr lvl="0"/>
            <a:r>
              <a:rPr lang="en-DK" dirty="0"/>
              <a:t>	- Circular Reasoning: We specifically zoomed in on the methionine cycle because the paper's pathway analysis (with FDR = 0.57) pointed us there. Finding a correlation here is a coherence check, not independent biological confirmation.</a:t>
            </a:r>
          </a:p>
        </p:txBody>
      </p:sp>
    </p:spTree>
    <p:extLst>
      <p:ext uri="{BB962C8B-B14F-4D97-AF65-F5344CB8AC3E}">
        <p14:creationId xmlns:p14="http://schemas.microsoft.com/office/powerpoint/2010/main" val="1045307646"/>
      </p:ext>
    </p:extLst>
  </p:cSld>
  <p:clrMapOvr>
    <a:masterClrMapping/>
  </p:clrMapOvr>
</p:sld>
</file>

<file path=ppt/theme/theme1.xml><?xml version="1.0" encoding="utf-8"?>
<a:theme xmlns:a="http://schemas.openxmlformats.org/drawingml/2006/main" name="Multiomics DBC">
  <a:themeElements>
    <a:clrScheme name="Multiomics DBC">
      <a:dk1>
        <a:srgbClr val="15233B"/>
      </a:dk1>
      <a:lt1>
        <a:srgbClr val="FFFFFF"/>
      </a:lt1>
      <a:dk2>
        <a:srgbClr val="2B3B57"/>
      </a:dk2>
      <a:lt2>
        <a:srgbClr val="EEF2F7"/>
      </a:lt2>
      <a:accent1>
        <a:srgbClr val="4C72B0"/>
      </a:accent1>
      <a:accent2>
        <a:srgbClr val="DD8452"/>
      </a:accent2>
      <a:accent3>
        <a:srgbClr val="C44E52"/>
      </a:accent3>
      <a:accent4>
        <a:srgbClr val="2A9D8F"/>
      </a:accent4>
      <a:accent5>
        <a:srgbClr val="5B6573"/>
      </a:accent5>
      <a:accent6>
        <a:srgbClr val="C9D1DC"/>
      </a:accent6>
      <a:hlink>
        <a:srgbClr val="4C72B0"/>
      </a:hlink>
      <a:folHlink>
        <a:srgbClr val="5B6573"/>
      </a:folHlink>
    </a:clrScheme>
    <a:fontScheme name="Multiomics DB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5302</TotalTime>
  <Words>5288</Words>
  <Application>Microsoft Macintosh PowerPoint</Application>
  <PresentationFormat>Widescreen</PresentationFormat>
  <Paragraphs>551</Paragraphs>
  <Slides>30</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Cambria</vt:lpstr>
      <vt:lpstr>Courier New</vt:lpstr>
      <vt:lpstr>Helvetica Neue</vt:lpstr>
      <vt:lpstr>Merriweather</vt:lpstr>
      <vt:lpstr>Multiomics DBC</vt:lpstr>
      <vt:lpstr>Biological Complexity: Network-Based Approaches for Multi-Omics Integration</vt:lpstr>
      <vt:lpstr>The next two hours</vt:lpstr>
      <vt:lpstr>1  ·  One cohort, data from two instruments</vt:lpstr>
      <vt:lpstr>The clinical question: can serum profiles tell a resistant from a susceptible Klebsiella pneumoniae  infection on day 0 (time of sepsis diagnosis)?</vt:lpstr>
      <vt:lpstr>45 septic patients, three groups of 15</vt:lpstr>
      <vt:lpstr>The same 45 samples, measured twice</vt:lpstr>
      <vt:lpstr>2  ·  From raw files to feature intensity matrices</vt:lpstr>
      <vt:lpstr>Why a pipeline, not a dozen tools by hand</vt:lpstr>
      <vt:lpstr>Nextflow’s core features</vt:lpstr>
      <vt:lpstr>Proteomics: bigbio/quantmsdiann (DIA-NN)</vt:lpstr>
      <vt:lpstr>Metabolomics: nf-core/metaboigniter (OpenMS)</vt:lpstr>
      <vt:lpstr>Metabolomics: nf-core/metaboigniter (OpenMS) To keep in mind if you run the original course another day</vt:lpstr>
      <vt:lpstr>Traps that come with real public data</vt:lpstr>
      <vt:lpstr>3  ·  What each layer says on its own</vt:lpstr>
      <vt:lpstr>Proteomics: six decisions from matrix to list</vt:lpstr>
      <vt:lpstr>Proteomics: antigen presentation and a 4-protein panel</vt:lpstr>
      <vt:lpstr>Metabolomics: the QC samples become the ruler</vt:lpstr>
      <vt:lpstr>Metabolomics: lipid fuel and amino-acid metabolism</vt:lpstr>
      <vt:lpstr>Two lessons before we integrate</vt:lpstr>
      <vt:lpstr>4  ·  Integration in few minutes</vt:lpstr>
      <vt:lpstr>Why is Multi-Omics Integration Key?</vt:lpstr>
      <vt:lpstr>Data Integration</vt:lpstr>
      <vt:lpstr>Step zero: two physiology views of the same patients The same recipe applied symmetrically to both layers</vt:lpstr>
      <vt:lpstr>Method: Similarity Network Fusion (SNF)</vt:lpstr>
      <vt:lpstr>Method: Multi-Omics Factor Analysis (MOFA)</vt:lpstr>
      <vt:lpstr>Network Biology Analysis</vt:lpstr>
      <vt:lpstr>Your turn: two notebooks in Google Colab</vt:lpstr>
      <vt:lpstr>Take home</vt:lpstr>
      <vt:lpstr>Answers to the questions</vt:lpstr>
      <vt:lpstr>Answers to the 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Multi-omics analysis — DBC 2026 workshop</dc:title>
  <dc:subject>PptxGenJS Presentation</dc:subject>
  <dc:creator>Multiomics Analytics Group, DTU Biosustain</dc:creator>
  <cp:lastModifiedBy>Henry Webel</cp:lastModifiedBy>
  <cp:revision>40</cp:revision>
  <dcterms:created xsi:type="dcterms:W3CDTF">2026-10-19T16:46:14Z</dcterms:created>
  <dcterms:modified xsi:type="dcterms:W3CDTF">2026-10-27T16:07:31Z</dcterms:modified>
</cp:coreProperties>
</file>